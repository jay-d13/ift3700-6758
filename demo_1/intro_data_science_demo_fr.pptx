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dc1895604149bd" /><Relationship Type="http://schemas.openxmlformats.org/officeDocument/2006/relationships/extended-properties" Target="/docProps/app.xml" Id="Reb138745936a4eab" /><Relationship Type="http://schemas.openxmlformats.org/officeDocument/2006/relationships/officeDocument" Target="/ppt/presentation.xml" Id="Rfbcde25ca1054399" /></Relationships>
</file>

<file path=ppt/presentation.xml><?xml version="1.0" encoding="utf-8"?>
<p:presentation xmlns:p="http://schemas.openxmlformats.org/presentationml/2006/main">
  <p:sldMasterIdLst>
    <p:sldMasterId xmlns:r="http://schemas.openxmlformats.org/officeDocument/2006/relationships" id="2147483648" r:id="R1a7ee8145dea4b51"/>
  </p:sldMasterIdLst>
  <p:notesMasterIdLst>
    <p:notesMasterId xmlns:r="http://schemas.openxmlformats.org/officeDocument/2006/relationships" r:id="R47c649131e104b66"/>
  </p:notesMasterIdLst>
  <p:sldIdLst>
    <p:sldId xmlns:r="http://schemas.openxmlformats.org/officeDocument/2006/relationships" id="256" r:id="Rdc085da1470941c0"/>
    <p:sldId xmlns:r="http://schemas.openxmlformats.org/officeDocument/2006/relationships" id="257" r:id="Rfc27027b3aef4dd2"/>
    <p:sldId xmlns:r="http://schemas.openxmlformats.org/officeDocument/2006/relationships" id="258" r:id="R2064feb179cc45f0"/>
    <p:sldId xmlns:r="http://schemas.openxmlformats.org/officeDocument/2006/relationships" id="259" r:id="R2edbbaef0be8411c"/>
    <p:sldId xmlns:r="http://schemas.openxmlformats.org/officeDocument/2006/relationships" id="260" r:id="R2562c3e03ed54125"/>
    <p:sldId xmlns:r="http://schemas.openxmlformats.org/officeDocument/2006/relationships" id="261" r:id="R99bbdb4a9e004f38"/>
    <p:sldId xmlns:r="http://schemas.openxmlformats.org/officeDocument/2006/relationships" id="262" r:id="Rc316fe0da54b4f56"/>
    <p:sldId xmlns:r="http://schemas.openxmlformats.org/officeDocument/2006/relationships" id="263" r:id="R1db2d0d20c144449"/>
    <p:sldId xmlns:r="http://schemas.openxmlformats.org/officeDocument/2006/relationships" id="264" r:id="R63ccdc04095547fa"/>
    <p:sldId xmlns:r="http://schemas.openxmlformats.org/officeDocument/2006/relationships" id="265" r:id="R716783f724dc4ab8"/>
    <p:sldId xmlns:r="http://schemas.openxmlformats.org/officeDocument/2006/relationships" id="266" r:id="R9dced7e5e8924d09"/>
    <p:sldId xmlns:r="http://schemas.openxmlformats.org/officeDocument/2006/relationships" id="267" r:id="Rf163943917304a04"/>
    <p:sldId xmlns:r="http://schemas.openxmlformats.org/officeDocument/2006/relationships" id="268" r:id="Rddf4bacc5c204e45"/>
    <p:sldId xmlns:r="http://schemas.openxmlformats.org/officeDocument/2006/relationships" id="269" r:id="Rc71e6998a93a422e"/>
    <p:sldId xmlns:r="http://schemas.openxmlformats.org/officeDocument/2006/relationships" id="270" r:id="Rf2048d381e534b3f"/>
    <p:sldId xmlns:r="http://schemas.openxmlformats.org/officeDocument/2006/relationships" id="271" r:id="Rf37b416278c64c78"/>
    <p:sldId xmlns:r="http://schemas.openxmlformats.org/officeDocument/2006/relationships" id="272" r:id="Rb41ec14b962c4e7d"/>
    <p:sldId xmlns:r="http://schemas.openxmlformats.org/officeDocument/2006/relationships" id="273" r:id="Rdf172d8f122d49ef"/>
    <p:sldId xmlns:r="http://schemas.openxmlformats.org/officeDocument/2006/relationships" id="274" r:id="R4b4f32e8a2df48b4"/>
    <p:sldId xmlns:r="http://schemas.openxmlformats.org/officeDocument/2006/relationships" id="275" r:id="R8866950b1eb249cc"/>
    <p:sldId xmlns:r="http://schemas.openxmlformats.org/officeDocument/2006/relationships" id="276" r:id="Rddd93a5bef9b4d61"/>
    <p:sldId xmlns:r="http://schemas.openxmlformats.org/officeDocument/2006/relationships" id="277" r:id="R478b7a3302ad45bd"/>
    <p:sldId xmlns:r="http://schemas.openxmlformats.org/officeDocument/2006/relationships" id="278" r:id="Rdbf60e848d0f416b"/>
    <p:sldId xmlns:r="http://schemas.openxmlformats.org/officeDocument/2006/relationships" id="279" r:id="R473178e9b566449c"/>
    <p:sldId xmlns:r="http://schemas.openxmlformats.org/officeDocument/2006/relationships" id="280" r:id="Rfe9021cd039d406f"/>
    <p:sldId xmlns:r="http://schemas.openxmlformats.org/officeDocument/2006/relationships" id="281" r:id="R9e4f77b1cf024410"/>
    <p:sldId xmlns:r="http://schemas.openxmlformats.org/officeDocument/2006/relationships" id="282" r:id="Rc474a77777f243c3"/>
    <p:sldId xmlns:r="http://schemas.openxmlformats.org/officeDocument/2006/relationships" id="283" r:id="R8c4537a6a7da481b"/>
    <p:sldId xmlns:r="http://schemas.openxmlformats.org/officeDocument/2006/relationships" id="284" r:id="Rc4827e0183bf4003"/>
    <p:sldId xmlns:r="http://schemas.openxmlformats.org/officeDocument/2006/relationships" id="285" r:id="R70d0cf0db85c4a0d"/>
    <p:sldId xmlns:r="http://schemas.openxmlformats.org/officeDocument/2006/relationships" id="286" r:id="Ra98090a336a74c9b"/>
    <p:sldId xmlns:r="http://schemas.openxmlformats.org/officeDocument/2006/relationships" id="287" r:id="R6600b5a6be8f458f"/>
    <p:sldId xmlns:r="http://schemas.openxmlformats.org/officeDocument/2006/relationships" id="288" r:id="Rebac1553088d4efe"/>
    <p:sldId xmlns:r="http://schemas.openxmlformats.org/officeDocument/2006/relationships" id="289" r:id="R0d70055f135a4138"/>
    <p:sldId xmlns:r="http://schemas.openxmlformats.org/officeDocument/2006/relationships" id="290" r:id="R2d0cf4769ec44c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793eba67644252" /><Relationship Type="http://schemas.openxmlformats.org/officeDocument/2006/relationships/slideMaster" Target="/ppt/slideMasters/slideMaster1.xml" Id="R1a7ee8145dea4b51" /><Relationship Type="http://schemas.openxmlformats.org/officeDocument/2006/relationships/notesMaster" Target="/ppt/notesMasters/notesMaster1.xml" Id="R47c649131e104b66" /><Relationship Type="http://schemas.openxmlformats.org/officeDocument/2006/relationships/presProps" Target="/ppt/presProps.xml" Id="R8cfe357644c6490d" /><Relationship Type="http://schemas.openxmlformats.org/officeDocument/2006/relationships/tableStyles" Target="/ppt/tableStyles.xml" Id="R8ac5f3f368ff4add" /><Relationship Type="http://schemas.openxmlformats.org/officeDocument/2006/relationships/slide" Target="/ppt/slides/slide1.xml" Id="Rdc085da1470941c0" /><Relationship Type="http://schemas.openxmlformats.org/officeDocument/2006/relationships/slide" Target="/ppt/slides/slide2.xml" Id="Rfc27027b3aef4dd2" /><Relationship Type="http://schemas.openxmlformats.org/officeDocument/2006/relationships/slide" Target="/ppt/slides/slide3.xml" Id="R2064feb179cc45f0" /><Relationship Type="http://schemas.openxmlformats.org/officeDocument/2006/relationships/slide" Target="/ppt/slides/slide4.xml" Id="R2edbbaef0be8411c" /><Relationship Type="http://schemas.openxmlformats.org/officeDocument/2006/relationships/slide" Target="/ppt/slides/slide5.xml" Id="R2562c3e03ed54125" /><Relationship Type="http://schemas.openxmlformats.org/officeDocument/2006/relationships/slide" Target="/ppt/slides/slide6.xml" Id="R99bbdb4a9e004f38" /><Relationship Type="http://schemas.openxmlformats.org/officeDocument/2006/relationships/slide" Target="/ppt/slides/slide7.xml" Id="Rc316fe0da54b4f56" /><Relationship Type="http://schemas.openxmlformats.org/officeDocument/2006/relationships/slide" Target="/ppt/slides/slide8.xml" Id="R1db2d0d20c144449" /><Relationship Type="http://schemas.openxmlformats.org/officeDocument/2006/relationships/slide" Target="/ppt/slides/slide9.xml" Id="R63ccdc04095547fa" /><Relationship Type="http://schemas.openxmlformats.org/officeDocument/2006/relationships/slide" Target="/ppt/slides/slide10.xml" Id="R716783f724dc4ab8" /><Relationship Type="http://schemas.openxmlformats.org/officeDocument/2006/relationships/slide" Target="/ppt/slides/slide11.xml" Id="R9dced7e5e8924d09" /><Relationship Type="http://schemas.openxmlformats.org/officeDocument/2006/relationships/slide" Target="/ppt/slides/slide12.xml" Id="Rf163943917304a04" /><Relationship Type="http://schemas.openxmlformats.org/officeDocument/2006/relationships/slide" Target="/ppt/slides/slide13.xml" Id="Rddf4bacc5c204e45" /><Relationship Type="http://schemas.openxmlformats.org/officeDocument/2006/relationships/slide" Target="/ppt/slides/slide14.xml" Id="Rc71e6998a93a422e" /><Relationship Type="http://schemas.openxmlformats.org/officeDocument/2006/relationships/slide" Target="/ppt/slides/slide15.xml" Id="Rf2048d381e534b3f" /><Relationship Type="http://schemas.openxmlformats.org/officeDocument/2006/relationships/slide" Target="/ppt/slides/slide16.xml" Id="Rf37b416278c64c78" /><Relationship Type="http://schemas.openxmlformats.org/officeDocument/2006/relationships/slide" Target="/ppt/slides/slide17.xml" Id="Rb41ec14b962c4e7d" /><Relationship Type="http://schemas.openxmlformats.org/officeDocument/2006/relationships/slide" Target="/ppt/slides/slide18.xml" Id="Rdf172d8f122d49ef" /><Relationship Type="http://schemas.openxmlformats.org/officeDocument/2006/relationships/slide" Target="/ppt/slides/slide19.xml" Id="R4b4f32e8a2df48b4" /><Relationship Type="http://schemas.openxmlformats.org/officeDocument/2006/relationships/slide" Target="/ppt/slides/slide20.xml" Id="R8866950b1eb249cc" /><Relationship Type="http://schemas.openxmlformats.org/officeDocument/2006/relationships/slide" Target="/ppt/slides/slide21.xml" Id="Rddd93a5bef9b4d61" /><Relationship Type="http://schemas.openxmlformats.org/officeDocument/2006/relationships/slide" Target="/ppt/slides/slide22.xml" Id="R478b7a3302ad45bd" /><Relationship Type="http://schemas.openxmlformats.org/officeDocument/2006/relationships/slide" Target="/ppt/slides/slide23.xml" Id="Rdbf60e848d0f416b" /><Relationship Type="http://schemas.openxmlformats.org/officeDocument/2006/relationships/slide" Target="/ppt/slides/slide24.xml" Id="R473178e9b566449c" /><Relationship Type="http://schemas.openxmlformats.org/officeDocument/2006/relationships/slide" Target="/ppt/slides/slide25.xml" Id="Rfe9021cd039d406f" /><Relationship Type="http://schemas.openxmlformats.org/officeDocument/2006/relationships/slide" Target="/ppt/slides/slide26.xml" Id="R9e4f77b1cf024410" /><Relationship Type="http://schemas.openxmlformats.org/officeDocument/2006/relationships/slide" Target="/ppt/slides/slide27.xml" Id="Rc474a77777f243c3" /><Relationship Type="http://schemas.openxmlformats.org/officeDocument/2006/relationships/slide" Target="/ppt/slides/slide28.xml" Id="R8c4537a6a7da481b" /><Relationship Type="http://schemas.openxmlformats.org/officeDocument/2006/relationships/slide" Target="/ppt/slides/slide29.xml" Id="Rc4827e0183bf4003" /><Relationship Type="http://schemas.openxmlformats.org/officeDocument/2006/relationships/slide" Target="/ppt/slides/slide30.xml" Id="R70d0cf0db85c4a0d" /><Relationship Type="http://schemas.openxmlformats.org/officeDocument/2006/relationships/slide" Target="/ppt/slides/slide31.xml" Id="Ra98090a336a74c9b" /><Relationship Type="http://schemas.openxmlformats.org/officeDocument/2006/relationships/slide" Target="/ppt/slides/slide32.xml" Id="R6600b5a6be8f458f" /><Relationship Type="http://schemas.openxmlformats.org/officeDocument/2006/relationships/slide" Target="/ppt/slides/slide33.xml" Id="Rebac1553088d4efe" /><Relationship Type="http://schemas.openxmlformats.org/officeDocument/2006/relationships/slide" Target="/ppt/slides/slide34.xml" Id="R0d70055f135a4138" /><Relationship Type="http://schemas.openxmlformats.org/officeDocument/2006/relationships/slide" Target="/ppt/slides/slide35.xml" Id="R2d0cf4769ec44c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6acd60804f49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f9a40625cd4da7" /><Relationship Type="http://schemas.openxmlformats.org/officeDocument/2006/relationships/notesMaster" Target="/ppt/notesMasters/notesMaster1.xml" Id="Rdf95b580adae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dfb46cdb71450e" /><Relationship Type="http://schemas.openxmlformats.org/officeDocument/2006/relationships/notesMaster" Target="/ppt/notesMasters/notesMaster1.xml" Id="R11571e9a27404d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02050879ae4322" /><Relationship Type="http://schemas.openxmlformats.org/officeDocument/2006/relationships/notesMaster" Target="/ppt/notesMasters/notesMaster1.xml" Id="Raaca1da8d2b44b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106be5adb843c0" /><Relationship Type="http://schemas.openxmlformats.org/officeDocument/2006/relationships/notesMaster" Target="/ppt/notesMasters/notesMaster1.xml" Id="R152f210455dd4c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f32ef3698d497e" /><Relationship Type="http://schemas.openxmlformats.org/officeDocument/2006/relationships/notesMaster" Target="/ppt/notesMasters/notesMaster1.xml" Id="R67ad7ff108e34c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959d41a0a43ee" /><Relationship Type="http://schemas.openxmlformats.org/officeDocument/2006/relationships/notesMaster" Target="/ppt/notesMasters/notesMaster1.xml" Id="R7a32893c846642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8907aff0664b62" /><Relationship Type="http://schemas.openxmlformats.org/officeDocument/2006/relationships/notesMaster" Target="/ppt/notesMasters/notesMaster1.xml" Id="R33187b184eac4f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737f616c364252" /><Relationship Type="http://schemas.openxmlformats.org/officeDocument/2006/relationships/notesMaster" Target="/ppt/notesMasters/notesMaster1.xml" Id="Ra56fed187db149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38ee54cf8b4cad" /><Relationship Type="http://schemas.openxmlformats.org/officeDocument/2006/relationships/notesMaster" Target="/ppt/notesMasters/notesMaster1.xml" Id="Reaa454923a4942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e3a64698eb4cc0" /><Relationship Type="http://schemas.openxmlformats.org/officeDocument/2006/relationships/notesMaster" Target="/ppt/notesMasters/notesMaster1.xml" Id="Rd9398a12a3674c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a5ce777f394969" /><Relationship Type="http://schemas.openxmlformats.org/officeDocument/2006/relationships/notesMaster" Target="/ppt/notesMasters/notesMaster1.xml" Id="R21c2066d33794b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3a1f7bb15c4ee8" /><Relationship Type="http://schemas.openxmlformats.org/officeDocument/2006/relationships/notesMaster" Target="/ppt/notesMasters/notesMaster1.xml" Id="Ra2af668bbed045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ec1c445bb846a1" /><Relationship Type="http://schemas.openxmlformats.org/officeDocument/2006/relationships/notesMaster" Target="/ppt/notesMasters/notesMaster1.xml" Id="R66a8dd81be3945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57b98c6d474177" /><Relationship Type="http://schemas.openxmlformats.org/officeDocument/2006/relationships/notesMaster" Target="/ppt/notesMasters/notesMaster1.xml" Id="Rb1a5e7799a7745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48f2a927b44f9a" /><Relationship Type="http://schemas.openxmlformats.org/officeDocument/2006/relationships/notesMaster" Target="/ppt/notesMasters/notesMaster1.xml" Id="R5be254c0e3a948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3d8d82ea65464f" /><Relationship Type="http://schemas.openxmlformats.org/officeDocument/2006/relationships/notesMaster" Target="/ppt/notesMasters/notesMaster1.xml" Id="R9946962c4f2d43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8e0b96b4cf4b11" /><Relationship Type="http://schemas.openxmlformats.org/officeDocument/2006/relationships/notesMaster" Target="/ppt/notesMasters/notesMaster1.xml" Id="Rde2fd02253834a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970810f4e848d1" /><Relationship Type="http://schemas.openxmlformats.org/officeDocument/2006/relationships/notesMaster" Target="/ppt/notesMasters/notesMaster1.xml" Id="Rac8911af093546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725f76a2eb4981" /><Relationship Type="http://schemas.openxmlformats.org/officeDocument/2006/relationships/notesMaster" Target="/ppt/notesMasters/notesMaster1.xml" Id="Rd4a702e5984b4e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0e34166ee34074" /><Relationship Type="http://schemas.openxmlformats.org/officeDocument/2006/relationships/notesMaster" Target="/ppt/notesMasters/notesMaster1.xml" Id="Rb22e74c66bfe45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54f55297dd43ca" /><Relationship Type="http://schemas.openxmlformats.org/officeDocument/2006/relationships/notesMaster" Target="/ppt/notesMasters/notesMaster1.xml" Id="R5e190d4e00cf44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d2eb07d4bf4b3e" /><Relationship Type="http://schemas.openxmlformats.org/officeDocument/2006/relationships/notesMaster" Target="/ppt/notesMasters/notesMaster1.xml" Id="Rd2de686a6aa548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c2809a6c5a4391" /><Relationship Type="http://schemas.openxmlformats.org/officeDocument/2006/relationships/notesMaster" Target="/ppt/notesMasters/notesMaster1.xml" Id="R72a9a651ac0345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dcacaae7cf49ac" /><Relationship Type="http://schemas.openxmlformats.org/officeDocument/2006/relationships/notesMaster" Target="/ppt/notesMasters/notesMaster1.xml" Id="R558b0f5791b84a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6a8d8764dc4895" /><Relationship Type="http://schemas.openxmlformats.org/officeDocument/2006/relationships/notesMaster" Target="/ppt/notesMasters/notesMaster1.xml" Id="R8c5e7e93abec438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1f897603584b17" /><Relationship Type="http://schemas.openxmlformats.org/officeDocument/2006/relationships/notesMaster" Target="/ppt/notesMasters/notesMaster1.xml" Id="R61265aaa0cd145d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63a3abf9b14df9" /><Relationship Type="http://schemas.openxmlformats.org/officeDocument/2006/relationships/notesMaster" Target="/ppt/notesMasters/notesMaster1.xml" Id="Rc8474c71e72f4d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64e14377134e28" /><Relationship Type="http://schemas.openxmlformats.org/officeDocument/2006/relationships/notesMaster" Target="/ppt/notesMasters/notesMaster1.xml" Id="Rb9a20344521a4d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57c24b6119243a4" /><Relationship Type="http://schemas.openxmlformats.org/officeDocument/2006/relationships/notesMaster" Target="/ppt/notesMasters/notesMaster1.xml" Id="Rf1f9222ef31f4b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1f02d23f7d4dba" /><Relationship Type="http://schemas.openxmlformats.org/officeDocument/2006/relationships/notesMaster" Target="/ppt/notesMasters/notesMaster1.xml" Id="Ra5d92a12b58547e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be669fb31a4836" /><Relationship Type="http://schemas.openxmlformats.org/officeDocument/2006/relationships/notesMaster" Target="/ppt/notesMasters/notesMaster1.xml" Id="R79aa61de0c7e49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6f096376974b81" /><Relationship Type="http://schemas.openxmlformats.org/officeDocument/2006/relationships/notesMaster" Target="/ppt/notesMasters/notesMaster1.xml" Id="Rac7e50d748eb47a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d2b390f47f4eae" /><Relationship Type="http://schemas.openxmlformats.org/officeDocument/2006/relationships/notesMaster" Target="/ppt/notesMasters/notesMaster1.xml" Id="R311649c3d73e4f0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ae73710cf07431b" /><Relationship Type="http://schemas.openxmlformats.org/officeDocument/2006/relationships/notesMaster" Target="/ppt/notesMasters/notesMaster1.xml" Id="R4ceccd543703442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cab69768e04de7" /><Relationship Type="http://schemas.openxmlformats.org/officeDocument/2006/relationships/notesMaster" Target="/ppt/notesMasters/notesMaster1.xml" Id="Rd636903a2aeb42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séance commence par la configuration locale du projet, puis passe aux notebooks en français. Les commandes de configuration se trouvent dans python/README.md. La démonstration manuelle avec venv et pip sert à comprendre le mécanisme; on conserve ensuite le projet uv pour le travail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Avant la séance : installer Python 3, uv et les extensions Python et Jupyter de VS Code. Ouvrir le dossier demo_1 et exécuter les commandes de configuration depuis cette racine. Le terminal lance les commandes, l’éditeur modifie les fichiers, Python exécute le code. Une .venv isole les paquets; ce n’est pas une machine virtuelle ni un mécanisme de sécurité. Le noyau conserve l’état d’exécution du notebook.</a:t>
            </a:r>
          </a:p>
          <a:p xmlns:a="http://schemas.openxmlformats.org/drawingml/2006/main">
            <a:r>
              <a:t/>
            </a:r>
          </a:p>
          <a:p xmlns:a="http://schemas.openxmlformats.org/drawingml/2006/main">
            <a:r>
              <a:t>Sources : https://docs.python.org/3/library/venv.html ; https://docs.astral.sh/uv/pip/environments/ ; https://docs.astral.sh/uv/guides/integration/jupyter/ ; https://code.visualstudio.com/docs/datascience/jupyter-notebooks ; https://code.visualstudio.com/docs/python/environments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Vérifier python3 --version sur macOS/Linux ou py -3 --version sur Windows. La commande crée l’environnement sans l’activer. Montrer pyvenv.cfg, le dossier des exécutables et celui des paquets. Tout se fait depuis demo_1. Le Python de base existe déjà comme prérequis de cette première phase.</a:t>
            </a:r>
          </a:p>
          <a:p xmlns:a="http://schemas.openxmlformats.org/drawingml/2006/main">
            <a:r>
              <a:t/>
            </a:r>
          </a:p>
          <a:p xmlns:a="http://schemas.openxmlformats.org/drawingml/2006/main">
            <a:r>
              <a:t>Sources : https://docs.python.org/3/library/venv.html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L’activation agit sur ce terminal et modifie la résolution des commandes. Elle ne sélectionne pas automatiquement le noyau d’un notebook. Si PowerShell bloque l’activation, utiliser l’invite de commandes avec .venv\Scripts\activate.bat ou appeler directement .\.venv\Scripts\python.exe. Sur macOS/Linux, l’exécutable direct est .venv/bin/python. deactivate quitte l’environnement activé.</a:t>
            </a:r>
          </a:p>
          <a:p xmlns:a="http://schemas.openxmlformats.org/drawingml/2006/main">
            <a:r>
              <a:t/>
            </a:r>
          </a:p>
          <a:p xmlns:a="http://schemas.openxmlformats.org/drawingml/2006/main">
            <a:r>
              <a:t>Sources : https://docs.python.org/3/library/venv.html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-m pip utilise l’interpréteur nommé python. Le premier python de la commande suivante est le programme; python/check_environment.py est le chemin du fichier depuis demo_1. Le script refuse un interpréteur global ou l’environnement d’un autre projet, même si les imports fonctionnent. Il vérifie l’exercice local et ne constitue pas un test de disponibilité pour Colab ou conda.</a:t>
            </a:r>
          </a:p>
          <a:p xmlns:a="http://schemas.openxmlformats.org/drawingml/2006/main">
            <a:r>
              <a:t/>
            </a:r>
          </a:p>
          <a:p xmlns:a="http://schemas.openxmlformats.org/drawingml/2006/main">
            <a:r>
              <a:t>Sources : https://docs.python.org/3/library/venv.html ; https://pip.pypa.io/en/stable/user_guide/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Exécuter la commande dans l’environnement manuel activé. La redirection écrit requirements-venv.txt dans demo_1. Le fichier contient aussi les dépendances transitives. Pour réinstaller ce relevé dans une .venv compatible, on peut utiliser python -m pip install -r requirements-venv.txt. Le conserver pour comparaison; après le passage à uv, pyproject.toml et uv.lock deviennent les références du projet.</a:t>
            </a:r>
          </a:p>
          <a:p xmlns:a="http://schemas.openxmlformats.org/drawingml/2006/main">
            <a:r>
              <a:t/>
            </a:r>
          </a:p>
          <a:p xmlns:a="http://schemas.openxmlformats.org/drawingml/2006/main">
            <a:r>
              <a:t>Sources : https://pip.pypa.io/en/stable/cli/pip_freeze/ ; https://docs.python.org/3/library/venv.html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Fermer les processus qui utilisent l’environnement. Exécuter deactivate uniquement si l’activation a été utilisée. Lancer python/reset_environment.py depuis demo_1 avec le Python de base, jamais avec uv run ou le Python de .venv. Le script vise demo_1/.venv, vérifie pyvenv.cfg, refuse les liens symboliques et jonctions, et refuse une exécution dans un environnement virtuel actif. Le code, le relevé de versions, le Python de base et les caches partagés restent présents.</a:t>
            </a:r>
          </a:p>
          <a:p xmlns:a="http://schemas.openxmlformats.org/drawingml/2006/main">
            <a:r>
              <a:t/>
            </a:r>
          </a:p>
          <a:p xmlns:a="http://schemas.openxmlformats.org/drawingml/2006/main">
            <a:r>
              <a:t>Sources : demo_1/.venv ; https://docs.python.org/3/library/venv.html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 peut être installé avant la séance, indépendamment du dossier de projet. La commande uv python install 3 rend un interpréteur de cette série disponible. La suppression de .venv n’a supprimé ni uv ni le Python de base. Les caches peuvent accélérer la reconstruction : on ne compare donc pas les temps de téléchargement à cache froid.</a:t>
            </a:r>
          </a:p>
          <a:p xmlns:a="http://schemas.openxmlformats.org/drawingml/2006/main">
            <a:r>
              <a:t/>
            </a:r>
          </a:p>
          <a:p xmlns:a="http://schemas.openxmlformats.org/drawingml/2006/main">
            <a:r>
              <a:t>Sources : https://docs.astral.sh/uv/getting-started/installation/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Après la remise à zéro, initialiser le même dossier demo_1. --bare évite de générer une arborescence de paquet superflue. Le nom affiché est celui de cet exemple. requires-python est une contrainte de compatibilité, pas un verrou sur une version exacte. Ne pas relancer uv init dans un dépôt qui fournit déjà pyproject.toml : la diapositive sur le dépôt cloné décrit ce cas.</a:t>
            </a:r>
          </a:p>
          <a:p xmlns:a="http://schemas.openxmlformats.org/drawingml/2006/main">
            <a:r>
              <a:t/>
            </a:r>
          </a:p>
          <a:p xmlns:a="http://schemas.openxmlformats.org/drawingml/2006/main">
            <a:r>
              <a:t>Sources : https://docs.astral.sh/uv/concepts/projects/init/ ; https://docs.astral.sh/uv/guides/projects/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 python pin 3 exprime une préférence pour la série 3. uv add enregistre les dépendances directes et résout leurs versions. La reconstruction ne réimporte pas le relevé pip sauvegardé : les versions peuvent différer. Les chemins semblent identiques parce que la nouvelle .venv occupe le même emplacement.</a:t>
            </a:r>
          </a:p>
          <a:p xmlns:a="http://schemas.openxmlformats.org/drawingml/2006/main">
            <a:r>
              <a:t/>
            </a:r>
          </a:p>
          <a:p xmlns:a="http://schemas.openxmlformats.org/drawingml/2006/main">
            <a:r>
              <a:t>Sources : https://docs.astral.sh/uv/concepts/projects/init/ ; https://docs.astral.sh/uv/guides/projects/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uv.lock conserve les versions résolues et les informations nécessaires à leur sélection selon la plateforme. Le versionner avec pyproject.toml. .venv contient le résultat installé localement et se recrée sur chaque machine. uv sync --locked refuse de continuer si le verrou manque ou nécessite une mise à jour. Il faut alors vérifier la cohérence du dépôt plutôt que modifier discrètement le verrou.</a:t>
            </a:r>
          </a:p>
          <a:p xmlns:a="http://schemas.openxmlformats.org/drawingml/2006/main">
            <a:r>
              <a:t/>
            </a:r>
          </a:p>
          <a:p xmlns:a="http://schemas.openxmlformats.org/drawingml/2006/main">
            <a:r>
              <a:t>Sources : https://docs.astral.sh/uv/concepts/projects/init/ ; https://docs.astral.sh/uv/guides/projects/ ; https://docs.python.org/3/library/venv.html ; https://docs.astral.sh/uv/pip/environments/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chemin de .venv reste le même, mais son contenu a été reconstruit. uv run utilise et peut synchroniser l’environnement du projet. Un appel direct de Python ou une activation ne synchronise pas le verrou. Depuis demo_1, l’appel direct sur Windows est .\.venv\Scripts\python.exe python/check_environment.py. Le script est identique dans les deux phases et doit afficher PASS.</a:t>
            </a:r>
          </a:p>
          <a:p xmlns:a="http://schemas.openxmlformats.org/drawingml/2006/main">
            <a:r>
              <a:t/>
            </a:r>
          </a:p>
          <a:p xmlns:a="http://schemas.openxmlformats.org/drawingml/2006/main">
            <a:r>
              <a:t>Sources : https://docs.astral.sh/uv/concepts/projects/init/ ; https://docs.astral.sh/uv/guides/projects/ ; https://docs.python.org/3/library/venv.html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Ajouter les outils de notebook après le passage à uv. Le groupe de développement est installé par défaut avec uv sync. VS Code utilise les extensions Python et Jupyter et un noyau ipykernel; il n’impose pas de lancer un serveur JupyterLab. uv run jupyter lab est l’alternative dans le navigateur. Matplotlib et scikit-learn servent aux notebooks suivants. Le choix du noyau doit pointer vers la .venv du projet.</a:t>
            </a:r>
          </a:p>
          <a:p xmlns:a="http://schemas.openxmlformats.org/drawingml/2006/main">
            <a:r>
              <a:t/>
            </a:r>
          </a:p>
          <a:p xmlns:a="http://schemas.openxmlformats.org/drawingml/2006/main">
            <a:r>
              <a:t>Sources : https://docs.astral.sh/uv/guides/integration/jupyter/ ; https://code.visualstudio.com/docs/datascience/jupyter-notebooks ; https://code.visualstudio.com/docs/python/environments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classe conserve le workflow de projet uv : uv add, uv run et uv sync --locked. uv venv et uv pip constituent une autre approche; les essayer dans une copie séparée, sans les mélanger au projet principal. Ils ne maintiennent pas pyproject.toml et uv.lock. Colab utilise son propre runtime; le script de vérification locale n’est pas destiné à Colab.</a:t>
            </a:r>
          </a:p>
          <a:p xmlns:a="http://schemas.openxmlformats.org/drawingml/2006/main">
            <a:r>
              <a:t/>
            </a:r>
          </a:p>
          <a:p xmlns:a="http://schemas.openxmlformats.org/drawingml/2006/main">
            <a:r>
              <a:t>Sources : https://docs.astral.sh/uv/concepts/projects/init/ ; https://docs.astral.sh/uv/guides/projects/ ; https://docs.python.org/3/library/venv.html ; https://research.google.com/colaboratory/faq.html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procédure concerne un dépôt qui fournit déjà pyproject.toml et uv.lock. Cloner le dépôt, puis se placer dans le dossier qui contient ces fichiers; dans un dépôt de cours, ce dossier peut être un sous-dossier comme demo_1. URL_DU_DEPOT est un texte à remplacer avant d’exécuter la commande, pas une URL réelle. uv sync crée ou synchronise .venv et installe les dépendances du projet. --locked impose un verrou présent et à jour; si la commande échoue, vérifier la version du dépôt et ses instructions avant de régénérer le verrou. uv run lance une commande dans cet environnement sans activation manuelle. JupyterLab ne peut être lancé ainsi que s’il fait partie des dépendances installées. Après un git pull réussi, relancer uv sync --locked pour prendre en compte les dépendances du dépôt. Le clonage ne nécessite ni uv init ni une nouvelle liste de uv add. Suivre aussi le README pour les éventuels groupes de dépendances, extras et fichiers de données.</a:t>
            </a:r>
          </a:p>
          <a:p xmlns:a="http://schemas.openxmlformats.org/drawingml/2006/main">
            <a:r>
              <a:t/>
            </a:r>
          </a:p>
          <a:p xmlns:a="http://schemas.openxmlformats.org/drawingml/2006/main">
            <a:r>
              <a:t>Sources : https://docs.astral.sh/uv/guides/projects/ ; https://docs.astral.sh/uv/concepts/projects/sync/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après la configuration. Les diapositives donnent les motivations et les clés d’interprétation. Les notebooks contiennent la syntaxe, les exemples exécutables et les exercices. Utiliser la séquence 00 à 03 dans notebooks/fr/. Les versions anglaises suivent la même progression. Les exercices personnels restent dans les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verrou des dépendances aide à recréer l’environnement logiciel. Il ne conserve ni les données d’entrée, ni l’historique d’exécution du noyau, ni toutes les sources d’aléatoire. La reconstruction de .venv rend cette distinction visible. Pour la démonstration ML, noter la source Iris, les variables choisies, les classes, le découpage et les paramètres du pipeline.</a:t>
            </a:r>
          </a:p>
          <a:p xmlns:a="http://schemas.openxmlformats.org/drawingml/2006/main">
            <a:r>
              <a:t/>
            </a:r>
          </a:p>
          <a:p xmlns:a="http://schemas.openxmlformats.org/drawingml/2006/main">
            <a:r>
              <a:t>Sources : demo_1/python/README.md ; demo_1/notebooks/fr/03_ml_bridge.ipynb ; https://docs.astral.sh/uv/guides/projects/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Rappel de la structure après la configuration. Les scripts sont dans python/, mais utilisent le dossier demo_1/.venv à la racine. Les dossiers de langue ne possèdent pas chacun leur environnement. Sur Colab, utiliser l’environnement hébergé : on ne recrée pas cette .venv locale dans Colab. Le script de remise à zéro vise uniquement demo_1/.venv.</a:t>
            </a:r>
          </a:p>
          <a:p xmlns:a="http://schemas.openxmlformats.org/drawingml/2006/main">
            <a:r>
              <a:t/>
            </a:r>
          </a:p>
          <a:p xmlns:a="http://schemas.openxmlformats.org/drawingml/2006/main">
            <a:r>
              <a:t>Sources : demo_1/.venv ; demo_1/.venv ; demo_1/python/README.md ; demo_1/python/check_environment.py ; demo_1/python/reset_environment.py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Modifier le texte d’une cellule n’exécute pas le code. La sortie affichée et les variables actives peuvent donc correspondre à une version précédente. Demander pourquoi un résultat reste inchangé après une modification. Redémarrer le noyau puis tout exécuter permet de vérifier la séquence. Effacer les sorties ne redémarre pas Python. Sur Colab, les fichiers temporaires du runtime peuvent disparaître; sauvegarder le notebook ne sauvegarde pas tout le runtime.</a:t>
            </a:r>
          </a:p>
          <a:p xmlns:a="http://schemas.openxmlformats.org/drawingml/2006/main">
            <a:r>
              <a:t/>
            </a:r>
          </a:p>
          <a:p xmlns:a="http://schemas.openxmlformats.org/drawingml/2006/main">
            <a:r>
              <a:t>Sources : demo_1/notebooks/fr/00_setup_git_python.ipynb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rôles se complètent. pandas prépare les tables et rassemble les résultats; NumPy effectue les calculs numériques; Matplotlib représente les données; scikit-learn fournit des modèles et pipelines. De nombreux modèles acceptent directement un DataFrame. La conversion en tableau NumPy n’est donc pas obligatoire; elle est explicite dans la démonstration pour montrer les dimensions.</a:t>
            </a:r>
          </a:p>
          <a:p xmlns:a="http://schemas.openxmlformats.org/drawingml/2006/main">
            <a:r>
              <a:t/>
            </a:r>
          </a:p>
          <a:p xmlns:a="http://schemas.openxmlformats.org/drawingml/2006/main">
            <a:r>
              <a:t>Sources : demo_1/notebooks/fr/01_numpy.ipynb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NumPy sert notamment aux statistiques, à l’algèbre linéaire et aux simulations. Un ndarray numérique ordinaire partage un type de données et expose ses dimensions. Les listes Python restent utiles comme conteneurs généraux. Les quatre fleurs sont les données fictives du notebook : elles ne permettent pas de généraliser à une population. Seules les deux colonnes de mesures forment X; la position de la ligne n’est pas une variable explicative. La virgule décimale est utilisée ici pour la lecture; le code Python conserve le point.</a:t>
            </a:r>
          </a:p>
          <a:p xmlns:a="http://schemas.openxmlformats.org/drawingml/2006/main">
            <a:r>
              <a:t/>
            </a:r>
          </a:p>
          <a:p xmlns:a="http://schemas.openxmlformats.org/drawingml/2006/main">
            <a:r>
              <a:t>Sources : demo_1/notebooks/fr/01_numpy.ipynb ; https://numpy.org/doc/stable/user/whatisnumpy.html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L’exemple suppose un tableau float64 contigu en ordre C, de dimensions (4, 2). Chaque valeur occupe 8 octets : avancer d’une ligne représente 16 octets et d’une colonne 8 octets. Ces déplacements sont les strides. Les huit valeurs occupent 64 octets, hors métadonnées. Les opérations numériques usuelles choisissent des boucles compilées adaptées au type. La vectorisation ne supprime pas les boucles et ne garantit pas le parallélisme. La taille, les types et les allocations influencent le gain : le notebook le mesure. Une vue peut partager les données; certains changements de forme nécessitent une copie. Le broadcasting évite de matérialiser les répétitions des entrées, mais le résultat peut encore nécessiter de la mémoire.</a:t>
            </a:r>
          </a:p>
          <a:p xmlns:a="http://schemas.openxmlformats.org/drawingml/2006/main">
            <a:r>
              <a:t/>
            </a:r>
          </a:p>
          <a:p xmlns:a="http://schemas.openxmlformats.org/drawingml/2006/main">
            <a:r>
              <a:t>Sources : demo_1/notebooks/fr/01_numpy.ipynb ; https://numpy.org/doc/stable/dev/internals.html ; https://numpy.org/doc/stable/user/whatisnumpy.html ; https://numpy.org/doc/stable/user/basics.broadcasting.html ; https://numpy.org/doc/stable/user/basics.copies.html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première ligne calcule une moyenne entre observations pour chaque variable, et non une moyenne entre différentes variables. Faire prédire les dimensions avant l’exécution. La moyenne de la longueur et de la largeur d’une même fleur n’a pas automatiquement de sens scientifique. Le broadcasting compare les dimensions en partant de la droite, sans connaître le nom des variables. Il faut préserver l’ordre des colonnes. Les poids de l’exemple de score dans Notebook 01 sont arbitraires, pas appris.</a:t>
            </a:r>
          </a:p>
          <a:p xmlns:a="http://schemas.openxmlformats.org/drawingml/2006/main">
            <a:r>
              <a:t/>
            </a:r>
          </a:p>
          <a:p xmlns:a="http://schemas.openxmlformats.org/drawingml/2006/main">
            <a:r>
              <a:t>Sources : demo_1/notebooks/fr/01_numpy.ipynb ; https://numpy.org/doc/stable/user/basics.broadcasting.html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DataFrame est une table étiquetée; chaque colonne possède son type. Pays, produit et quantité ont des rôles différents. Un numéro de commande est un identifiant, pas une quantité à moyenner. La table reprend les trois premières commandes fictives de l’exercice de ventes : Notebook devient Cahier et Pen devient Stylo uniquement dans l’affichage français de cette diapositive. Les valeurs sources restent inchangées dans le notebook. pandas aide à inspecter, nettoyer, joindre et résumer les tables, puis à examiner les prédictions. La mémoire disponible limite la taille pratique de nombreux traitements.</a:t>
            </a:r>
          </a:p>
          <a:p xmlns:a="http://schemas.openxmlformats.org/drawingml/2006/main">
            <a:r>
              <a:t/>
            </a:r>
          </a:p>
          <a:p xmlns:a="http://schemas.openxmlformats.org/drawingml/2006/main">
            <a:r>
              <a:t>Sources : demo_1/notebooks/fr/02_pandas.ipynb ; https://pandas.pydata.org/docs/user_guide/dsintro.html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Faire prédire A + B. Malgré l’ordre inversé, a combine 10 et 1, tandis que b combine 20 et 2. Une addition par position donnerait 12 et 21. Des étiquettes sans correspondance peuvent produire des valeurs manquantes. Selon le type, le stockage utilise des tableaux NumPy ou des tableaux d’extension. Il s’agit d’une représentation logique, pas d’une garantie d’allocation distincte par colonne. Convertir en tableau NumPy retire les étiquettes et peut copier ou convertir les valeurs. Préserver l’ordre des variables explicatives.</a:t>
            </a:r>
          </a:p>
          <a:p xmlns:a="http://schemas.openxmlformats.org/drawingml/2006/main">
            <a:r>
              <a:t/>
            </a:r>
          </a:p>
          <a:p xmlns:a="http://schemas.openxmlformats.org/drawingml/2006/main">
            <a:r>
              <a:t>Sources : demo_1/notebooks/fr/02_pandas.ipynb ; https://pandas.pydata.org/docs/user_guide/dsintro.html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Dans le notebook, on insère volontairement une valeur manquante dans une copie d’Iris. La supprimer sert l’exercice; en pratique, il faut comprendre l’absence avant de supprimer ou remplir. Les moyennes numériques ignorent généralement les valeurs manquantes : le dénominateur compte donc les valeurs observées. La ligne de vente copiée répète le même identifiant de commande. Deux commandes distinctes peuvent toutefois avoir les mêmes mesures. Conserver les données originales et expliquer les corrections. En ML, une imputation apprise doit utiliser les données d’entraînement.</a:t>
            </a:r>
          </a:p>
          <a:p xmlns:a="http://schemas.openxmlformats.org/drawingml/2006/main">
            <a:r>
              <a:t/>
            </a:r>
          </a:p>
          <a:p xmlns:a="http://schemas.openxmlformats.org/drawingml/2006/main">
            <a:r>
              <a:t>Sources : demo_1/notebooks/fr/02_pandas.ipynb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 groupes sont fictifs. Chacun totalise 20 cm pour quatre mesures, donc une moyenne de 5 cm. Le groupe B est beaucoup plus dispersé. Un graphique limité aux moyennes masquerait cette différence. Demander ce que représente une ligne avant et après un groupement. Dans Iris, une ligne brute représente une fleur, une ligne du résumé représente une espèce. Le nuage de points montre la variation et le chevauchement. L’histogramme regroupe les mesures en intervalles. Une association visible ne démontre ni causalité ni performance prédictive future.</a:t>
            </a:r>
          </a:p>
          <a:p xmlns:a="http://schemas.openxmlformats.org/drawingml/2006/main">
            <a:r>
              <a:t/>
            </a:r>
          </a:p>
          <a:p xmlns:a="http://schemas.openxmlformats.org/drawingml/2006/main">
            <a:r>
              <a:t>Sources : demo_1/notebooks/fr/02_pandas.ipynb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L’apprentissage supervisé apprend une règle de prédiction à partir d’exemples étiquetés. L’entraînement ajuste les paramètres; la validation aide à comparer les choix. On peut revenir de la validation aux choix de variables ou de modèle. Un jeu consulté à répétition ne constitue plus un test final intact. Notebook 03 s’arrête à la validation; il ne présente pas le déploiement ni le suivi en production. Une application réelle exige des données représentatives, un test approprié et des vérifications après la mise en service.</a:t>
            </a:r>
          </a:p>
          <a:p xmlns:a="http://schemas.openxmlformats.org/drawingml/2006/main">
            <a:r>
              <a:t/>
            </a:r>
          </a:p>
          <a:p xmlns:a="http://schemas.openxmlformats.org/drawingml/2006/main">
            <a:r>
              <a:t>Sources : demo_1/notebooks/fr/03_ml_bridge.ipynb ; lectures/lec02-MLforDS.pdf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notebook conserve les espèces versicolor et virginica d’Iris, soit 100 fleurs. Les deux variables sont la longueur et la largeur du pétale. La cible vaut 1 pour virginica et 0 pour versicolor. Les variables sont choisies à l’avance. L’exploration de toutes les données dans Notebook 02 est un exercice distinct; ici, réserver la validation avant tout ajustement appris. Le notebook recharge lui-même ses données.</a:t>
            </a:r>
          </a:p>
          <a:p xmlns:a="http://schemas.openxmlformats.org/drawingml/2006/main">
            <a:r>
              <a:t/>
            </a:r>
          </a:p>
          <a:p xmlns:a="http://schemas.openxmlformats.org/drawingml/2006/main">
            <a:r>
              <a:t>Sources : lectures/lec01-WhatIsDataScience.pdf ; https://scikit-learn.org/stable/modules/generated/sklearn.datasets.load_iris.html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séparation est stratifiée, avec 25 % en validation et random_state=42. La référence majoritaire, le StandardScaler et la régression logistique apprennent uniquement sur l’entraînement. La validation réutilise ces transformations. La stratification conserve approximativement les proportions des classes. Une graine permet de répéter le découpage, sans garantir sa représentativité. Une séparation aléatoire par ligne convient à cet exemple; les données temporelles ou regroupées par personne exigent une séparation qui respecte leur structure.</a:t>
            </a:r>
          </a:p>
          <a:p xmlns:a="http://schemas.openxmlformats.org/drawingml/2006/main">
            <a:r>
              <a:t/>
            </a:r>
          </a:p>
          <a:p xmlns:a="http://schemas.openxmlformats.org/drawingml/2006/main">
            <a:r>
              <a:t>Sources : demo_1/notebooks/fr/03_ml_bridge.ipynb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premier choix laisse les variables des observations réservées influencer le prétraitement, même sans consulter leurs étiquettes. Ajuster le pipeline sur X_train maintient cet apprentissage dans l’entraînement. Le principe s’applique aussi à l’imputation et à la sélection de variables. Le StandardScaler apprend une moyenne et une échelle par variable. La standardisation rend les échelles comparables pour la régression logistique régularisée. Dans Notebook 01, le centrage soustrait seulement la moyenne.</a:t>
            </a:r>
          </a:p>
          <a:p xmlns:a="http://schemas.openxmlformats.org/drawingml/2006/main">
            <a:r>
              <a:t/>
            </a:r>
          </a:p>
          <a:p xmlns:a="http://schemas.openxmlformats.org/drawingml/2006/main">
            <a:r>
              <a:t>Sources : demo_1/notebooks/fr/03_ml_bridge.ipynb ;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probabilités sont fictives, pas des sorties mesurées du modèle. La régression logistique transforme un score linéaire en probabilité. Ici, le seuil de comparaison vaut 0,5; aucun exemple ne tombe exactement sur l’égalité. Une forte probabilité ne prouve ni la justesse ni la calibration. L’accuracy est le taux de bonnes classifications. La log loss moyenne pénalise davantage les erreurs confiantes. Le notebook montre le calcul NumPy derrière ces probabilités.</a:t>
            </a:r>
          </a:p>
          <a:p xmlns:a="http://schemas.openxmlformats.org/drawingml/2006/main">
            <a:r>
              <a:t/>
            </a:r>
          </a:p>
          <a:p xmlns:a="http://schemas.openxmlformats.org/drawingml/2006/main">
            <a:r>
              <a:t>Sources : demo_1/notebooks/fr/03_ml_bridge.ipynb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L’exemple 95/100 est fictif : il ne décrit pas l’équilibre des classes dans Iris. Les deux espèces du notebook contiennent chacune 50 fleurs. La référence choisit la classe majoritaire de l’entraînement. Comparer référence et modèle sur les mêmes lignes de validation. Le pas de 4 points est le calcul 100/25; ce n’est pas un intervalle de confiance. Une bonne performance sur 25 fleurs reste une preuve limitée pour une autre population.</a:t>
            </a:r>
          </a:p>
          <a:p xmlns:a="http://schemas.openxmlformats.org/drawingml/2006/main">
            <a:r>
              <a:t/>
            </a:r>
          </a:p>
          <a:p xmlns:a="http://schemas.openxmlformats.org/drawingml/2006/main">
            <a:r>
              <a:t>Sources : demo_1/notebooks/fr/03_ml_bridge.ipynb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Utiliser la table produite dans Notebook 03. Le nombre de bonnes prédictions divisé par 25 doit correspondre à l’accuracy. Les explications possibles restent des hypothèses à vérifier. L’inspection peut suggérer une vérification de mesure, une nouvelle variable ou un autre modèle. Si ces erreurs servent à améliorer les choix, le jeu de validation participe à la sélection. Il faut un autre jeu de test pour une évaluation finale intacte.</a:t>
            </a:r>
          </a:p>
          <a:p xmlns:a="http://schemas.openxmlformats.org/drawingml/2006/main">
            <a:r>
              <a:t/>
            </a:r>
          </a:p>
          <a:p xmlns:a="http://schemas.openxmlformats.org/drawingml/2006/main">
            <a:r>
              <a:t>Sources : demo_1/notebooks/fr/03_ml_bridge.ipynb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Alternative facultative à essayer dans une copie séparée. uv venv et uv pip gèrent l’environnement sans tenir à jour une déclaration de projet uv ni son verrou. Pour la séance, on conserve uv add, uv run et uv sync --locked. Ce rappel ne remplace pas la procédure de démarrage d’un dépôt uv déjà configuré.</a:t>
            </a:r>
          </a:p>
          <a:p xmlns:a="http://schemas.openxmlformats.org/drawingml/2006/main">
            <a:r>
              <a:t/>
            </a:r>
          </a:p>
          <a:p xmlns:a="http://schemas.openxmlformats.org/drawingml/2006/main">
            <a:r>
              <a:t>Sources : https://docs.astral.sh/uv/guides/projects/ ; https://docs.astral.sh/uv/pip/environments/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12c053146847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7b971f02dc44ad" /><Relationship Type="http://schemas.openxmlformats.org/officeDocument/2006/relationships/slideLayout" Target="/ppt/slideLayouts/slideLayout1.xml" Id="Rc52e92efd54b49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2e92efd54b49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15c5eae81046d6" /><Relationship Type="http://schemas.openxmlformats.org/officeDocument/2006/relationships/notesSlide" Target="/ppt/notesSlides/notesSlide1.xml" Id="Rf4125323510a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fd12d4742c470d" /><Relationship Type="http://schemas.openxmlformats.org/officeDocument/2006/relationships/notesSlide" Target="/ppt/notesSlides/notesSlide2.xml" Id="Re93200f0a5f7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842390aa0840d4" /><Relationship Type="http://schemas.openxmlformats.org/officeDocument/2006/relationships/notesSlide" Target="/ppt/notesSlides/notesSlide3.xml" Id="R016a83a5466144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0d100c3f4348ed" /><Relationship Type="http://schemas.openxmlformats.org/officeDocument/2006/relationships/notesSlide" Target="/ppt/notesSlides/notesSlide4.xml" Id="Rbde0e02cf4ad48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a6983a7ac840b2" /><Relationship Type="http://schemas.openxmlformats.org/officeDocument/2006/relationships/notesSlide" Target="/ppt/notesSlides/notesSlide5.xml" Id="R458f0e15895841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f1ed71c105446d" /><Relationship Type="http://schemas.openxmlformats.org/officeDocument/2006/relationships/notesSlide" Target="/ppt/notesSlides/notesSlide6.xml" Id="R5fd79217afe745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32e315019a424e" /><Relationship Type="http://schemas.openxmlformats.org/officeDocument/2006/relationships/notesSlide" Target="/ppt/notesSlides/notesSlide7.xml" Id="R52c91ba4558c4d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ca6265952b41fc" /><Relationship Type="http://schemas.openxmlformats.org/officeDocument/2006/relationships/notesSlide" Target="/ppt/notesSlides/notesSlide8.xml" Id="R42540809f50e46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b5ee66f49a4bf6" /><Relationship Type="http://schemas.openxmlformats.org/officeDocument/2006/relationships/notesSlide" Target="/ppt/notesSlides/notesSlide9.xml" Id="R26b0495b849646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e3061fdbf14706" /><Relationship Type="http://schemas.openxmlformats.org/officeDocument/2006/relationships/notesSlide" Target="/ppt/notesSlides/notesSlide10.xml" Id="R7bfc879c976446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20218f53584f6d" /><Relationship Type="http://schemas.openxmlformats.org/officeDocument/2006/relationships/notesSlide" Target="/ppt/notesSlides/notesSlide11.xml" Id="Ra89a2029361347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cbd6d5e37f422a" /><Relationship Type="http://schemas.openxmlformats.org/officeDocument/2006/relationships/notesSlide" Target="/ppt/notesSlides/notesSlide12.xml" Id="Reccbb80f8c2b40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c21d0eb73b48c9" /><Relationship Type="http://schemas.openxmlformats.org/officeDocument/2006/relationships/notesSlide" Target="/ppt/notesSlides/notesSlide13.xml" Id="Rbe30a062b09449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897cc3029f4302" /><Relationship Type="http://schemas.openxmlformats.org/officeDocument/2006/relationships/notesSlide" Target="/ppt/notesSlides/notesSlide14.xml" Id="R20303dfda2fe4b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d1b17d2a1640c7" /><Relationship Type="http://schemas.openxmlformats.org/officeDocument/2006/relationships/notesSlide" Target="/ppt/notesSlides/notesSlide15.xml" Id="Re2d63cd2e09040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5b8349ab0144948" /><Relationship Type="http://schemas.openxmlformats.org/officeDocument/2006/relationships/notesSlide" Target="/ppt/notesSlides/notesSlide16.xml" Id="R8f16964ad8a248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6adb4fda9843b2" /><Relationship Type="http://schemas.openxmlformats.org/officeDocument/2006/relationships/notesSlide" Target="/ppt/notesSlides/notesSlide17.xml" Id="R93eea5385a3842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88ddfdbac24fc5" /><Relationship Type="http://schemas.openxmlformats.org/officeDocument/2006/relationships/notesSlide" Target="/ppt/notesSlides/notesSlide18.xml" Id="R2717c6e7e71442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dd8eeecf8c445dc" /><Relationship Type="http://schemas.openxmlformats.org/officeDocument/2006/relationships/notesSlide" Target="/ppt/notesSlides/notesSlide19.xml" Id="R2164169b6bbe4b3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d01265c55684d33" /><Relationship Type="http://schemas.openxmlformats.org/officeDocument/2006/relationships/notesSlide" Target="/ppt/notesSlides/notesSlide20.xml" Id="R668e03a4a4bf4b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f045a25aa734792" /><Relationship Type="http://schemas.openxmlformats.org/officeDocument/2006/relationships/notesSlide" Target="/ppt/notesSlides/notesSlide21.xml" Id="R73b26e02e02f47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6f5c2e0f80c463d" /><Relationship Type="http://schemas.openxmlformats.org/officeDocument/2006/relationships/notesSlide" Target="/ppt/notesSlides/notesSlide22.xml" Id="R2a690729e09e4b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9f6a8cff8ca4ef9" /><Relationship Type="http://schemas.openxmlformats.org/officeDocument/2006/relationships/notesSlide" Target="/ppt/notesSlides/notesSlide23.xml" Id="Rbac3227623814a6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994376ab9e94c97" /><Relationship Type="http://schemas.openxmlformats.org/officeDocument/2006/relationships/notesSlide" Target="/ppt/notesSlides/notesSlide24.xml" Id="R12a429e9c91d415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4a9086ebb14c8e" /><Relationship Type="http://schemas.openxmlformats.org/officeDocument/2006/relationships/notesSlide" Target="/ppt/notesSlides/notesSlide25.xml" Id="R8c0bf3fa14294ff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8f41bb22b245e8" /><Relationship Type="http://schemas.openxmlformats.org/officeDocument/2006/relationships/notesSlide" Target="/ppt/notesSlides/notesSlide26.xml" Id="Rfb42e7b737fd4d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8f33f265e4c4926" /><Relationship Type="http://schemas.openxmlformats.org/officeDocument/2006/relationships/notesSlide" Target="/ppt/notesSlides/notesSlide27.xml" Id="R2ba59cd160b74c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dc185e843414c49" /><Relationship Type="http://schemas.openxmlformats.org/officeDocument/2006/relationships/notesSlide" Target="/ppt/notesSlides/notesSlide28.xml" Id="R966a71d07c52410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a5d2dc70d3e40ae" /><Relationship Type="http://schemas.openxmlformats.org/officeDocument/2006/relationships/notesSlide" Target="/ppt/notesSlides/notesSlide29.xml" Id="R9ba06163018a4d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08e828c81e46fc" /><Relationship Type="http://schemas.openxmlformats.org/officeDocument/2006/relationships/notesSlide" Target="/ppt/notesSlides/notesSlide30.xml" Id="R5a155960a96d4d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ecc3175f0db4cb7" /><Relationship Type="http://schemas.openxmlformats.org/officeDocument/2006/relationships/notesSlide" Target="/ppt/notesSlides/notesSlide31.xml" Id="Rb1b2b0be0041476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697e9f0b1c24c60" /><Relationship Type="http://schemas.openxmlformats.org/officeDocument/2006/relationships/notesSlide" Target="/ppt/notesSlides/notesSlide32.xml" Id="R1cbd8b1c745b403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cd92e3ef2744a6c" /><Relationship Type="http://schemas.openxmlformats.org/officeDocument/2006/relationships/notesSlide" Target="/ppt/notesSlides/notesSlide33.xml" Id="Ra5cdfeb0ef8040e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a04bb8dcc4b47f9" /><Relationship Type="http://schemas.openxmlformats.org/officeDocument/2006/relationships/notesSlide" Target="/ppt/notesSlides/notesSlide34.xml" Id="R702782fafa33402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66374fecf3c42cd" /><Relationship Type="http://schemas.openxmlformats.org/officeDocument/2006/relationships/notesSlide" Target="/ppt/notesSlides/notesSlide35.xml" Id="Rb105242dd7ef43b0" /></Relationships>
</file>

<file path=ppt/slides/slide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B44CF4-9A3F-422F-A2E4-59EB54E7CA47}"/>
              </a:ext>
            </a:extLst>
          </p:cNvPr>
          <p:cNvSpPr>
            <a:spLocks xmlns:a="http://schemas.openxmlformats.org/drawingml/2006/main" noGrp="1"/>
          </p:cNvSpPr>
          <p:nvPr/>
        </p:nvSpPr>
        <p:spPr>
          <a:xfrm xmlns:a="http://schemas.openxmlformats.org/drawingml/2006/main">
            <a:off x="685800" y="1304925"/>
            <a:ext cx="10668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163238"/>
                </a:solidFill>
                <a:latin typeface="Helvetica Neue"/>
                <a:ea typeface="Helvetica Neue"/>
                <a:cs typeface="Helvetica Neue"/>
              </a:defRPr>
            </a:pPr>
            <a:r>
              <a:rPr sz="5700" b="1">
                <a:solidFill>
                  <a:srgbClr val="163238"/>
                </a:solidFill>
                <a:latin typeface="Helvetica Neue"/>
                <a:ea typeface="Helvetica Neue"/>
                <a:cs typeface="Helvetica Neue"/>
              </a:rPr>
              <a:t>Science des données</a:t>
            </a:r>
          </a:p>
          <a:p xmlns:a="http://schemas.openxmlformats.org/drawingml/2006/main">
            <a:pPr>
              <a:buNone/>
              <a:defRPr sz="5700" b="1">
                <a:solidFill>
                  <a:srgbClr val="163238"/>
                </a:solidFill>
                <a:latin typeface="Helvetica Neue"/>
                <a:ea typeface="Helvetica Neue"/>
                <a:cs typeface="Helvetica Neue"/>
              </a:defRPr>
            </a:pPr>
            <a:r>
              <a:rPr sz="5700" b="1">
                <a:solidFill>
                  <a:srgbClr val="163238"/>
                </a:solidFill>
                <a:latin typeface="Helvetica Neue"/>
                <a:ea typeface="Helvetica Neue"/>
                <a:cs typeface="Helvetica Neue"/>
              </a:rPr>
              <a:t>Fondements pratiques</a:t>
            </a:r>
          </a:p>
        </p:txBody>
      </p:sp>
      <p:sp>
        <p:nvSpPr>
          <p:cNvPr id="2" name="">
            <a:extLst xmlns:a="http://schemas.openxmlformats.org/drawingml/2006/main">
              <a:ext uri="{FF2B5EF4-FFF2-40B4-BE49-F238E27FC236}">
                <a16:creationId xmlns:a16="http://schemas.microsoft.com/office/drawing/2014/main" id="{1AE263D6-678B-4F56-ACE9-D3C31CB922B6}"/>
              </a:ext>
            </a:extLst>
          </p:cNvPr>
          <p:cNvSpPr>
            <a:spLocks xmlns:a="http://schemas.openxmlformats.org/drawingml/2006/main" noGrp="1"/>
          </p:cNvSpPr>
          <p:nvPr/>
        </p:nvSpPr>
        <p:spPr>
          <a:xfrm xmlns:a="http://schemas.openxmlformats.org/drawingml/2006/main">
            <a:off x="733425" y="383857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536568"/>
                </a:solidFill>
                <a:latin typeface="Helvetica Neue"/>
                <a:ea typeface="Helvetica Neue"/>
                <a:cs typeface="Helvetica Neue"/>
              </a:defRPr>
            </a:pPr>
            <a:r>
              <a:rPr sz="2400" b="0">
                <a:solidFill>
                  <a:srgbClr val="536568"/>
                </a:solidFill>
                <a:latin typeface="Helvetica Neue"/>
                <a:ea typeface="Helvetica Neue"/>
                <a:cs typeface="Helvetica Neue"/>
              </a:rPr>
              <a:t>Environnements Python, NumPy et pandas</a:t>
            </a:r>
          </a:p>
          <a:p xmlns:a="http://schemas.openxmlformats.org/drawingml/2006/main">
            <a:pPr>
              <a:buNone/>
              <a:defRPr sz="2400" b="0">
                <a:solidFill>
                  <a:srgbClr val="536568"/>
                </a:solidFill>
                <a:latin typeface="Helvetica Neue"/>
                <a:ea typeface="Helvetica Neue"/>
                <a:cs typeface="Helvetica Neue"/>
              </a:defRPr>
            </a:pPr>
            <a:r>
              <a:rPr sz="2400" b="0">
                <a:solidFill>
                  <a:srgbClr val="536568"/>
                </a:solidFill>
                <a:latin typeface="Helvetica Neue"/>
                <a:ea typeface="Helvetica Neue"/>
                <a:cs typeface="Helvetica Neue"/>
              </a:rPr>
              <a:t>Premiers pas en apprentissage automatique</a:t>
            </a:r>
          </a:p>
        </p:txBody>
      </p:sp>
      <p:sp>
        <p:nvSpPr>
          <p:cNvPr id="3" name="">
            <a:extLst xmlns:a="http://schemas.openxmlformats.org/drawingml/2006/main">
              <a:ext uri="{FF2B5EF4-FFF2-40B4-BE49-F238E27FC236}">
                <a16:creationId xmlns:a16="http://schemas.microsoft.com/office/drawing/2014/main" id="{B084BA1E-5F0A-4682-BBFC-780EA6D7EBE0}"/>
              </a:ext>
            </a:extLst>
          </p:cNvPr>
          <p:cNvSpPr>
            <a:spLocks xmlns:a="http://schemas.openxmlformats.org/drawingml/2006/main" noGrp="1"/>
          </p:cNvSpPr>
          <p:nvPr/>
        </p:nvSpPr>
        <p:spPr>
          <a:xfrm xmlns:a="http://schemas.openxmlformats.org/drawingml/2006/main">
            <a:off x="733425" y="58007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7C72"/>
                </a:solidFill>
                <a:latin typeface="Helvetica Neue"/>
                <a:ea typeface="Helvetica Neue"/>
                <a:cs typeface="Helvetica Neue"/>
              </a:defRPr>
            </a:pPr>
            <a:r>
              <a:rPr sz="1875" b="0">
                <a:solidFill>
                  <a:srgbClr val="147C72"/>
                </a:solidFill>
                <a:latin typeface="Helvetica Neue"/>
                <a:ea typeface="Helvetica Neue"/>
                <a:cs typeface="Helvetica Neue"/>
              </a:rPr>
              <a:t>IFT6758   /   Démonstration guidée</a:t>
            </a:r>
          </a:p>
        </p:txBody>
      </p:sp>
    </p:spTree>
    <p:extLst>
      <p:ext uri="{BB962C8B-B14F-4D97-AF65-F5344CB8AC3E}">
        <p14:creationId xmlns:p14="http://schemas.microsoft.com/office/powerpoint/2010/main" val="690781288"/>
      </p:ext>
    </p:extLst>
  </p:cSld>
</p:sld>
</file>

<file path=ppt/slides/slide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12BF40-3C02-47AB-94D9-3B6AF833DDAE}"/>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Les outils ont des rôles différents</a:t>
            </a:r>
          </a:p>
        </p:txBody>
      </p:sp>
      <p:sp>
        <p:nvSpPr>
          <p:cNvPr id="2" name="">
            <a:extLst xmlns:a="http://schemas.openxmlformats.org/drawingml/2006/main">
              <a:ext uri="{FF2B5EF4-FFF2-40B4-BE49-F238E27FC236}">
                <a16:creationId xmlns:a16="http://schemas.microsoft.com/office/drawing/2014/main" id="{017AFE9B-5217-42D9-BE8C-D44BEFDB0FD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268FE5BD-ED3C-4878-ADAD-54A693C096CD}"/>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Commandes de configuration depuis demo_1</a:t>
            </a:r>
          </a:p>
        </p:txBody>
      </p:sp>
      <p:graphicFrame>
        <p:nvGraphicFramePr>
          <p:cNvPr id="10" name=""/>
          <p:cNvGraphicFramePr/>
          <p:nvPr/>
        </p:nvGraphicFramePr>
        <p:xfrm>
          <a:off xmlns:a="http://schemas.openxmlformats.org/drawingml/2006/main" x="685800" y="1676400"/>
          <a:ext xmlns:a="http://schemas.openxmlformats.org/drawingml/2006/main" cx="10820400" cy="4038600"/>
        </p:xfrm>
        <a:graphic xmlns:a="http://schemas.openxmlformats.org/drawingml/2006/main">
          <a:graphicData uri="http://schemas.openxmlformats.org/drawingml/2006/table">
            <a:tbl>
              <a:tblPr/>
              <a:tblGrid>
                <a:gridCol w="3371850"/>
                <a:gridCol w="7448550"/>
              </a:tblGrid>
              <a:tr h="576943">
                <a:tc>
                  <a:txBody>
                    <a:bodyPr>
                      <a:noAutofit/>
                    </a:bodyPr>
                    <a:lstStyle/>
                    <a:p>
                      <a:r>
                        <a:rPr sz="1800" b="1">
                          <a:solidFill>
                            <a:srgbClr val="163238"/>
                          </a:solidFill>
                          <a:latin typeface="Helvetica Neue"/>
                          <a:ea typeface="Helvetica Neue"/>
                          <a:cs typeface="Helvetica Neue"/>
                        </a:rPr>
                        <a:t>Outil</a:t>
                      </a:r>
                    </a:p>
                  </a:txBody>
                  <a:tcPr marL="114300" marR="114300" marT="85725" marB="76200">
                    <a:solidFill>
                      <a:srgbClr val="E1EEE8"/>
                    </a:solidFill>
                  </a:tcPr>
                </a:tc>
                <a:tc>
                  <a:txBody>
                    <a:bodyPr>
                      <a:noAutofit/>
                    </a:bodyPr>
                    <a:lstStyle/>
                    <a:p>
                      <a:r>
                        <a:rPr sz="1800" b="1">
                          <a:solidFill>
                            <a:srgbClr val="163238"/>
                          </a:solidFill>
                          <a:latin typeface="Helvetica Neue"/>
                          <a:ea typeface="Helvetica Neue"/>
                          <a:cs typeface="Helvetica Neue"/>
                        </a:rPr>
                        <a:t>Rôle</a:t>
                      </a:r>
                    </a:p>
                  </a:txBody>
                  <a:tcPr marL="114300" marR="114300" marT="85725" marB="76200">
                    <a:solidFill>
                      <a:srgbClr val="E1EEE8"/>
                    </a:solidFill>
                  </a:tcPr>
                </a:tc>
              </a:tr>
              <a:tr h="576943">
                <a:tc>
                  <a:txBody>
                    <a:bodyPr>
                      <a:noAutofit/>
                    </a:bodyPr>
                    <a:lstStyle/>
                    <a:p>
                      <a:r>
                        <a:rPr sz="1800" b="0">
                          <a:solidFill>
                            <a:srgbClr val="163238"/>
                          </a:solidFill>
                          <a:latin typeface="Helvetica Neue"/>
                          <a:ea typeface="Helvetica Neue"/>
                          <a:cs typeface="Helvetica Neue"/>
                        </a:rPr>
                        <a:t>Terminal / shell</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Reçoit les commandes et lance les programmes</a:t>
                      </a:r>
                    </a:p>
                  </a:txBody>
                  <a:tcPr marL="114300" marR="114300" marT="85725" marB="76200">
                    <a:solidFill>
                      <a:srgbClr val="FAFCFA"/>
                    </a:solidFill>
                  </a:tcPr>
                </a:tc>
              </a:tr>
              <a:tr h="576943">
                <a:tc>
                  <a:txBody>
                    <a:bodyPr>
                      <a:noAutofit/>
                    </a:bodyPr>
                    <a:lstStyle/>
                    <a:p>
                      <a:r>
                        <a:rPr sz="1800" b="0">
                          <a:solidFill>
                            <a:srgbClr val="163238"/>
                          </a:solidFill>
                          <a:latin typeface="Helvetica Neue"/>
                          <a:ea typeface="Helvetica Neue"/>
                          <a:cs typeface="Helvetica Neue"/>
                        </a:rPr>
                        <a:t>Interpréteur Python</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Exécute le code Python</a:t>
                      </a:r>
                    </a:p>
                  </a:txBody>
                  <a:tcPr marL="114300" marR="114300" marT="85725" marB="76200">
                    <a:solidFill>
                      <a:srgbClr val="FAFCFA"/>
                    </a:solidFill>
                  </a:tcPr>
                </a:tc>
              </a:tr>
              <a:tr h="576943">
                <a:tc>
                  <a:txBody>
                    <a:bodyPr>
                      <a:noAutofit/>
                    </a:bodyPr>
                    <a:lstStyle/>
                    <a:p>
                      <a:r>
                        <a:rPr sz="1800" b="0">
                          <a:solidFill>
                            <a:srgbClr val="163238"/>
                          </a:solidFill>
                          <a:latin typeface="Helvetica Neue"/>
                          <a:ea typeface="Helvetica Neue"/>
                          <a:cs typeface="Helvetica Neue"/>
                        </a:rPr>
                        <a:t>Environnement virtuel</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Isole les paquets Python du projet</a:t>
                      </a:r>
                    </a:p>
                  </a:txBody>
                  <a:tcPr marL="114300" marR="114300" marT="85725" marB="76200">
                    <a:solidFill>
                      <a:srgbClr val="FAFCFA"/>
                    </a:solidFill>
                  </a:tcPr>
                </a:tc>
              </a:tr>
              <a:tr h="576943">
                <a:tc>
                  <a:txBody>
                    <a:bodyPr>
                      <a:noAutofit/>
                    </a:bodyPr>
                    <a:lstStyle/>
                    <a:p>
                      <a:r>
                        <a:rPr sz="1800" b="0">
                          <a:solidFill>
                            <a:srgbClr val="163238"/>
                          </a:solidFill>
                          <a:latin typeface="Helvetica Neue"/>
                          <a:ea typeface="Helvetica Neue"/>
                          <a:cs typeface="Helvetica Neue"/>
                        </a:rPr>
                        <a:t>uv</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Gère Python, les dépendances et les exécutions</a:t>
                      </a:r>
                    </a:p>
                  </a:txBody>
                  <a:tcPr marL="114300" marR="114300" marT="85725" marB="76200">
                    <a:solidFill>
                      <a:srgbClr val="FAFCFA"/>
                    </a:solidFill>
                  </a:tcPr>
                </a:tc>
              </a:tr>
              <a:tr h="576943">
                <a:tc>
                  <a:txBody>
                    <a:bodyPr>
                      <a:noAutofit/>
                    </a:bodyPr>
                    <a:lstStyle/>
                    <a:p>
                      <a:r>
                        <a:rPr sz="1800" b="0">
                          <a:solidFill>
                            <a:srgbClr val="163238"/>
                          </a:solidFill>
                          <a:latin typeface="Helvetica Neue"/>
                          <a:ea typeface="Helvetica Neue"/>
                          <a:cs typeface="Helvetica Neue"/>
                        </a:rPr>
                        <a:t>Éditeur / IDE</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Modifie les fichiers et lance l’interpréteur choisi</a:t>
                      </a:r>
                    </a:p>
                  </a:txBody>
                  <a:tcPr marL="114300" marR="114300" marT="85725" marB="76200">
                    <a:solidFill>
                      <a:srgbClr val="FAFCFA"/>
                    </a:solidFill>
                  </a:tcPr>
                </a:tc>
              </a:tr>
              <a:tr h="576943">
                <a:tc>
                  <a:txBody>
                    <a:bodyPr>
                      <a:noAutofit/>
                    </a:bodyPr>
                    <a:lstStyle/>
                    <a:p>
                      <a:r>
                        <a:rPr sz="1800" b="0">
                          <a:solidFill>
                            <a:srgbClr val="163238"/>
                          </a:solidFill>
                          <a:latin typeface="Helvetica Neue"/>
                          <a:ea typeface="Helvetica Neue"/>
                          <a:cs typeface="Helvetica Neue"/>
                        </a:rPr>
                        <a:t>Noyau du notebook</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Processus actif qui exécute les cellules</a:t>
                      </a:r>
                    </a:p>
                  </a:txBody>
                  <a:tcPr marL="114300" marR="114300" marT="85725" marB="76200">
                    <a:solidFill>
                      <a:srgbClr val="FAFCFA"/>
                    </a:solidFill>
                  </a:tcPr>
                </a:tc>
              </a:tr>
            </a:tbl>
          </a:graphicData>
        </a:graphic>
      </p:graphicFrame>
    </p:spTree>
    <p:extLst>
      <p:ext uri="{BB962C8B-B14F-4D97-AF65-F5344CB8AC3E}">
        <p14:creationId xmlns:p14="http://schemas.microsoft.com/office/powerpoint/2010/main" val="669723388"/>
      </p:ext>
    </p:extLst>
  </p:cSld>
</p:sld>
</file>

<file path=ppt/slides/slide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4043B5-05FE-4F98-8FE7-57F964EB1E1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Créer un environnement virtuel</a:t>
            </a:r>
          </a:p>
        </p:txBody>
      </p:sp>
      <p:sp>
        <p:nvSpPr>
          <p:cNvPr id="2" name="">
            <a:extLst xmlns:a="http://schemas.openxmlformats.org/drawingml/2006/main">
              <a:ext uri="{FF2B5EF4-FFF2-40B4-BE49-F238E27FC236}">
                <a16:creationId xmlns:a16="http://schemas.microsoft.com/office/drawing/2014/main" id="{B2F2922F-4847-4537-896A-BA17D143CD21}"/>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BD5807B0-1CDF-413D-A664-C754C42283C9}"/>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1</a:t>
            </a:r>
          </a:p>
        </p:txBody>
      </p:sp>
      <p:sp>
        <p:nvSpPr>
          <p:cNvPr id="4" name="">
            <a:extLst xmlns:a="http://schemas.openxmlformats.org/drawingml/2006/main">
              <a:ext uri="{FF2B5EF4-FFF2-40B4-BE49-F238E27FC236}">
                <a16:creationId xmlns:a16="http://schemas.microsoft.com/office/drawing/2014/main" id="{52648438-D9D7-4FBF-8B89-735AB462CDAC}"/>
              </a:ext>
            </a:extLst>
          </p:cNvPr>
          <p:cNvSpPr>
            <a:spLocks xmlns:a="http://schemas.openxmlformats.org/drawingml/2006/main" noGrp="1"/>
          </p:cNvSpPr>
          <p:nvPr/>
        </p:nvSpPr>
        <p:spPr>
          <a:xfrm xmlns:a="http://schemas.openxmlformats.org/drawingml/2006/main">
            <a:off x="685800" y="17430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63238"/>
                </a:solidFill>
                <a:latin typeface="Menlo"/>
                <a:ea typeface="Menlo"/>
                <a:cs typeface="Menlo"/>
              </a:defRPr>
            </a:pPr>
            <a:r>
              <a:rPr sz="2400" b="0">
                <a:solidFill>
                  <a:srgbClr val="163238"/>
                </a:solidFill>
                <a:latin typeface="Menlo"/>
                <a:ea typeface="Menlo"/>
                <a:cs typeface="Menlo"/>
              </a:rPr>
              <a:t>python3 -m venv .venv</a:t>
            </a:r>
          </a:p>
        </p:txBody>
      </p:sp>
      <p:sp>
        <p:nvSpPr>
          <p:cNvPr id="5" name="">
            <a:extLst xmlns:a="http://schemas.openxmlformats.org/drawingml/2006/main">
              <a:ext uri="{FF2B5EF4-FFF2-40B4-BE49-F238E27FC236}">
                <a16:creationId xmlns:a16="http://schemas.microsoft.com/office/drawing/2014/main" id="{D5327543-5D79-4095-9A38-EEAD81902198}"/>
              </a:ext>
            </a:extLst>
          </p:cNvPr>
          <p:cNvSpPr>
            <a:spLocks xmlns:a="http://schemas.openxmlformats.org/drawingml/2006/main" noGrp="1"/>
          </p:cNvSpPr>
          <p:nvPr/>
        </p:nvSpPr>
        <p:spPr>
          <a:xfrm xmlns:a="http://schemas.openxmlformats.org/drawingml/2006/main">
            <a:off x="685800" y="26098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36568"/>
                </a:solidFill>
                <a:latin typeface="Helvetica Neue"/>
                <a:ea typeface="Helvetica Neue"/>
                <a:cs typeface="Helvetica Neue"/>
              </a:defRPr>
            </a:pPr>
            <a:r>
              <a:rPr sz="2100" b="0">
                <a:solidFill>
                  <a:srgbClr val="536568"/>
                </a:solidFill>
                <a:latin typeface="Helvetica Neue"/>
                <a:ea typeface="Helvetica Neue"/>
                <a:cs typeface="Helvetica Neue"/>
              </a:rPr>
              <a:t>Windows : py -3 -m venv .venv</a:t>
            </a:r>
          </a:p>
        </p:txBody>
      </p:sp>
      <p:sp>
        <p:nvSpPr>
          <p:cNvPr id="6" name="">
            <a:extLst xmlns:a="http://schemas.openxmlformats.org/drawingml/2006/main">
              <a:ext uri="{FF2B5EF4-FFF2-40B4-BE49-F238E27FC236}">
                <a16:creationId xmlns:a16="http://schemas.microsoft.com/office/drawing/2014/main" id="{6CEDDBA8-8E74-48D2-8F45-48D536148A46}"/>
              </a:ext>
            </a:extLst>
          </p:cNvPr>
          <p:cNvSpPr>
            <a:spLocks xmlns:a="http://schemas.openxmlformats.org/drawingml/2006/main" noGrp="1"/>
          </p:cNvSpPr>
          <p:nvPr/>
        </p:nvSpPr>
        <p:spPr>
          <a:xfrm xmlns:a="http://schemas.openxmlformats.org/drawingml/2006/main">
            <a:off x="685800" y="34480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python3 choisit l’interpréteur Python 3.</a:t>
            </a:r>
          </a:p>
        </p:txBody>
      </p:sp>
      <p:sp>
        <p:nvSpPr>
          <p:cNvPr id="7" name="">
            <a:extLst xmlns:a="http://schemas.openxmlformats.org/drawingml/2006/main">
              <a:ext uri="{FF2B5EF4-FFF2-40B4-BE49-F238E27FC236}">
                <a16:creationId xmlns:a16="http://schemas.microsoft.com/office/drawing/2014/main" id="{A32DCA26-C7B0-423F-8372-5C568FA9D7E7}"/>
              </a:ext>
            </a:extLst>
          </p:cNvPr>
          <p:cNvSpPr>
            <a:spLocks xmlns:a="http://schemas.openxmlformats.org/drawingml/2006/main" noGrp="1"/>
          </p:cNvSpPr>
          <p:nvPr/>
        </p:nvSpPr>
        <p:spPr>
          <a:xfrm xmlns:a="http://schemas.openxmlformats.org/drawingml/2006/main">
            <a:off x="685800" y="42291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-m venv exécute le module de création d’environnement.</a:t>
            </a:r>
          </a:p>
        </p:txBody>
      </p:sp>
      <p:sp>
        <p:nvSpPr>
          <p:cNvPr id="8" name="">
            <a:extLst xmlns:a="http://schemas.openxmlformats.org/drawingml/2006/main">
              <a:ext uri="{FF2B5EF4-FFF2-40B4-BE49-F238E27FC236}">
                <a16:creationId xmlns:a16="http://schemas.microsoft.com/office/drawing/2014/main" id="{16376DBF-8A95-40D8-B62A-14955B9932BD}"/>
              </a:ext>
            </a:extLst>
          </p:cNvPr>
          <p:cNvSpPr>
            <a:spLocks xmlns:a="http://schemas.openxmlformats.org/drawingml/2006/main" noGrp="1"/>
          </p:cNvSpPr>
          <p:nvPr/>
        </p:nvSpPr>
        <p:spPr>
          <a:xfrm xmlns:a="http://schemas.openxmlformats.org/drawingml/2006/main">
            <a:off x="685800" y="5010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.venv est le dossier des paquets installés pour ce projet.</a:t>
            </a:r>
          </a:p>
        </p:txBody>
      </p:sp>
      <p:sp>
        <p:nvSpPr>
          <p:cNvPr id="9" name="">
            <a:extLst xmlns:a="http://schemas.openxmlformats.org/drawingml/2006/main">
              <a:ext uri="{FF2B5EF4-FFF2-40B4-BE49-F238E27FC236}">
                <a16:creationId xmlns:a16="http://schemas.microsoft.com/office/drawing/2014/main" id="{7A3B219C-9ED8-4E53-803A-E157A75E1726}"/>
              </a:ext>
            </a:extLst>
          </p:cNvPr>
          <p:cNvSpPr>
            <a:spLocks xmlns:a="http://schemas.openxmlformats.org/drawingml/2006/main" noGrp="1"/>
          </p:cNvSpPr>
          <p:nvPr/>
        </p:nvSpPr>
        <p:spPr>
          <a:xfrm xmlns:a="http://schemas.openxmlformats.org/drawingml/2006/main">
            <a:off x="685800" y="5667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7C72"/>
                </a:solidFill>
                <a:latin typeface="Helvetica Neue"/>
                <a:ea typeface="Helvetica Neue"/>
                <a:cs typeface="Helvetica Neue"/>
              </a:defRPr>
            </a:pPr>
            <a:r>
              <a:rPr sz="2025" b="1">
                <a:solidFill>
                  <a:srgbClr val="147C72"/>
                </a:solidFill>
                <a:latin typeface="Helvetica Neue"/>
                <a:ea typeface="Helvetica Neue"/>
                <a:cs typeface="Helvetica Neue"/>
              </a:rPr>
              <a:t>.venv est créé; NumPy et pandas ne sont pas encore installés.</a:t>
            </a:r>
          </a:p>
        </p:txBody>
      </p:sp>
    </p:spTree>
    <p:extLst>
      <p:ext uri="{BB962C8B-B14F-4D97-AF65-F5344CB8AC3E}">
        <p14:creationId xmlns:p14="http://schemas.microsoft.com/office/powerpoint/2010/main" val="1412681244"/>
      </p:ext>
    </p:extLst>
  </p:cSld>
</p:sld>
</file>

<file path=ppt/slides/slide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36EF14-BE83-4238-BA11-AA533DEDF99E}"/>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L’activation choisit Python pour ce terminal</a:t>
            </a:r>
          </a:p>
        </p:txBody>
      </p:sp>
      <p:sp>
        <p:nvSpPr>
          <p:cNvPr id="2" name="">
            <a:extLst xmlns:a="http://schemas.openxmlformats.org/drawingml/2006/main">
              <a:ext uri="{FF2B5EF4-FFF2-40B4-BE49-F238E27FC236}">
                <a16:creationId xmlns:a16="http://schemas.microsoft.com/office/drawing/2014/main" id="{A9CFFAF8-AC5C-42BD-B072-F466EE9D438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10FE17E-9E4F-4840-9328-EC43BF1BD4A2}"/>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2</a:t>
            </a:r>
          </a:p>
        </p:txBody>
      </p:sp>
      <p:sp>
        <p:nvSpPr>
          <p:cNvPr id="4" name="">
            <a:extLst xmlns:a="http://schemas.openxmlformats.org/drawingml/2006/main">
              <a:ext uri="{FF2B5EF4-FFF2-40B4-BE49-F238E27FC236}">
                <a16:creationId xmlns:a16="http://schemas.microsoft.com/office/drawing/2014/main" id="{5B93CFF7-1FE0-4625-84E3-EDEB5C18ED15}"/>
              </a:ext>
            </a:extLst>
          </p:cNvPr>
          <p:cNvSpPr>
            <a:spLocks xmlns:a="http://schemas.openxmlformats.org/drawingml/2006/main" noGrp="1"/>
          </p:cNvSpPr>
          <p:nvPr/>
        </p:nvSpPr>
        <p:spPr>
          <a:xfrm xmlns:a="http://schemas.openxmlformats.org/drawingml/2006/main">
            <a:off x="685800" y="17145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7C72"/>
                </a:solidFill>
                <a:latin typeface="Helvetica Neue"/>
                <a:ea typeface="Helvetica Neue"/>
                <a:cs typeface="Helvetica Neue"/>
              </a:defRPr>
            </a:pPr>
            <a:r>
              <a:rPr sz="2250" b="1">
                <a:solidFill>
                  <a:srgbClr val="147C72"/>
                </a:solidFill>
                <a:latin typeface="Helvetica Neue"/>
                <a:ea typeface="Helvetica Neue"/>
                <a:cs typeface="Helvetica Neue"/>
              </a:rPr>
              <a:t>macOS / Linux</a:t>
            </a:r>
          </a:p>
        </p:txBody>
      </p:sp>
      <p:sp>
        <p:nvSpPr>
          <p:cNvPr id="5" name="">
            <a:extLst xmlns:a="http://schemas.openxmlformats.org/drawingml/2006/main">
              <a:ext uri="{FF2B5EF4-FFF2-40B4-BE49-F238E27FC236}">
                <a16:creationId xmlns:a16="http://schemas.microsoft.com/office/drawing/2014/main" id="{1427D7BE-84DE-449E-A820-0EDE212BB0B8}"/>
              </a:ext>
            </a:extLst>
          </p:cNvPr>
          <p:cNvSpPr>
            <a:spLocks xmlns:a="http://schemas.openxmlformats.org/drawingml/2006/main" noGrp="1"/>
          </p:cNvSpPr>
          <p:nvPr/>
        </p:nvSpPr>
        <p:spPr>
          <a:xfrm xmlns:a="http://schemas.openxmlformats.org/drawingml/2006/main">
            <a:off x="685800" y="2457450"/>
            <a:ext cx="5181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238"/>
                </a:solidFill>
                <a:latin typeface="Menlo"/>
                <a:ea typeface="Menlo"/>
                <a:cs typeface="Menlo"/>
              </a:defRPr>
            </a:pPr>
            <a:r>
              <a:rPr sz="1875" b="0">
                <a:solidFill>
                  <a:srgbClr val="163238"/>
                </a:solidFill>
                <a:latin typeface="Menlo"/>
                <a:ea typeface="Menlo"/>
                <a:cs typeface="Menlo"/>
              </a:rPr>
              <a:t>source .venv/bin/activate</a:t>
            </a:r>
          </a:p>
        </p:txBody>
      </p:sp>
      <p:sp>
        <p:nvSpPr>
          <p:cNvPr id="6" name="">
            <a:extLst xmlns:a="http://schemas.openxmlformats.org/drawingml/2006/main">
              <a:ext uri="{FF2B5EF4-FFF2-40B4-BE49-F238E27FC236}">
                <a16:creationId xmlns:a16="http://schemas.microsoft.com/office/drawing/2014/main" id="{8D80A547-B6DC-4AAF-9F87-FD701414B7CC}"/>
              </a:ext>
            </a:extLst>
          </p:cNvPr>
          <p:cNvSpPr>
            <a:spLocks xmlns:a="http://schemas.openxmlformats.org/drawingml/2006/main" noGrp="1"/>
          </p:cNvSpPr>
          <p:nvPr/>
        </p:nvSpPr>
        <p:spPr>
          <a:xfrm xmlns:a="http://schemas.openxmlformats.org/drawingml/2006/main">
            <a:off x="6381750" y="17145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7C72"/>
                </a:solidFill>
                <a:latin typeface="Helvetica Neue"/>
                <a:ea typeface="Helvetica Neue"/>
                <a:cs typeface="Helvetica Neue"/>
              </a:defRPr>
            </a:pPr>
            <a:r>
              <a:rPr sz="2250" b="1">
                <a:solidFill>
                  <a:srgbClr val="147C72"/>
                </a:solidFill>
                <a:latin typeface="Helvetica Neue"/>
                <a:ea typeface="Helvetica Neue"/>
                <a:cs typeface="Helvetica Neue"/>
              </a:rPr>
              <a:t>Windows PowerShell</a:t>
            </a:r>
          </a:p>
        </p:txBody>
      </p:sp>
      <p:sp>
        <p:nvSpPr>
          <p:cNvPr id="7" name="">
            <a:extLst xmlns:a="http://schemas.openxmlformats.org/drawingml/2006/main">
              <a:ext uri="{FF2B5EF4-FFF2-40B4-BE49-F238E27FC236}">
                <a16:creationId xmlns:a16="http://schemas.microsoft.com/office/drawing/2014/main" id="{CA9EF46F-48D0-428A-B845-1247C0973B6B}"/>
              </a:ext>
            </a:extLst>
          </p:cNvPr>
          <p:cNvSpPr>
            <a:spLocks xmlns:a="http://schemas.openxmlformats.org/drawingml/2006/main" noGrp="1"/>
          </p:cNvSpPr>
          <p:nvPr/>
        </p:nvSpPr>
        <p:spPr>
          <a:xfrm xmlns:a="http://schemas.openxmlformats.org/drawingml/2006/main">
            <a:off x="6381750" y="24574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63238"/>
                </a:solidFill>
                <a:latin typeface="Menlo"/>
                <a:ea typeface="Menlo"/>
                <a:cs typeface="Menlo"/>
              </a:defRPr>
            </a:pPr>
            <a:r>
              <a:rPr sz="1875" b="0">
                <a:solidFill>
                  <a:srgbClr val="163238"/>
                </a:solidFill>
                <a:latin typeface="Menlo"/>
                <a:ea typeface="Menlo"/>
                <a:cs typeface="Menlo"/>
              </a:rPr>
              <a:t>.\.venv\Scripts\Activate.ps1</a:t>
            </a:r>
          </a:p>
        </p:txBody>
      </p:sp>
      <p:sp>
        <p:nvSpPr>
          <p:cNvPr id="8" name="">
            <a:extLst xmlns:a="http://schemas.openxmlformats.org/drawingml/2006/main">
              <a:ext uri="{FF2B5EF4-FFF2-40B4-BE49-F238E27FC236}">
                <a16:creationId xmlns:a16="http://schemas.microsoft.com/office/drawing/2014/main" id="{E5D91501-1CD5-42CE-80E6-938BFA449C6E}"/>
              </a:ext>
            </a:extLst>
          </p:cNvPr>
          <p:cNvSpPr>
            <a:spLocks xmlns:a="http://schemas.openxmlformats.org/drawingml/2006/main" noGrp="1"/>
          </p:cNvSpPr>
          <p:nvPr/>
        </p:nvSpPr>
        <p:spPr>
          <a:xfrm xmlns:a="http://schemas.openxmlformats.org/drawingml/2006/main">
            <a:off x="685800" y="38195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238"/>
                </a:solidFill>
                <a:latin typeface="Menlo"/>
                <a:ea typeface="Menlo"/>
                <a:cs typeface="Menlo"/>
              </a:defRPr>
            </a:pPr>
            <a:r>
              <a:rPr sz="2175" b="0">
                <a:solidFill>
                  <a:srgbClr val="163238"/>
                </a:solidFill>
                <a:latin typeface="Menlo"/>
                <a:ea typeface="Menlo"/>
                <a:cs typeface="Menlo"/>
              </a:rPr>
              <a:t>python -c "import sys; print(sys.executable)"</a:t>
            </a:r>
          </a:p>
        </p:txBody>
      </p:sp>
      <p:sp>
        <p:nvSpPr>
          <p:cNvPr id="9" name="">
            <a:extLst xmlns:a="http://schemas.openxmlformats.org/drawingml/2006/main">
              <a:ext uri="{FF2B5EF4-FFF2-40B4-BE49-F238E27FC236}">
                <a16:creationId xmlns:a16="http://schemas.microsoft.com/office/drawing/2014/main" id="{3078C4CA-D5FE-44AB-87C5-FA0E92027BDE}"/>
              </a:ext>
            </a:extLst>
          </p:cNvPr>
          <p:cNvSpPr>
            <a:spLocks xmlns:a="http://schemas.openxmlformats.org/drawingml/2006/main" noGrp="1"/>
          </p:cNvSpPr>
          <p:nvPr/>
        </p:nvSpPr>
        <p:spPr>
          <a:xfrm xmlns:a="http://schemas.openxmlformats.org/drawingml/2006/main">
            <a:off x="685800" y="52197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7C72"/>
                </a:solidFill>
                <a:latin typeface="Helvetica Neue"/>
                <a:ea typeface="Helvetica Neue"/>
                <a:cs typeface="Helvetica Neue"/>
              </a:defRPr>
            </a:pPr>
            <a:r>
              <a:rPr sz="2325" b="1">
                <a:solidFill>
                  <a:srgbClr val="147C72"/>
                </a:solidFill>
                <a:latin typeface="Helvetica Neue"/>
                <a:ea typeface="Helvetica Neue"/>
                <a:cs typeface="Helvetica Neue"/>
              </a:rPr>
              <a:t>Le chemin affiché doit se trouver dans la .venv de ce projet.</a:t>
            </a:r>
          </a:p>
        </p:txBody>
      </p:sp>
    </p:spTree>
    <p:extLst>
      <p:ext uri="{BB962C8B-B14F-4D97-AF65-F5344CB8AC3E}">
        <p14:creationId xmlns:p14="http://schemas.microsoft.com/office/powerpoint/2010/main" val="766388836"/>
      </p:ext>
    </p:extLst>
  </p:cSld>
</p:sld>
</file>

<file path=ppt/slides/slide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8E3040-0419-4824-9C09-59E2469A4D36}"/>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Installer les paquets et exécuter le script</a:t>
            </a:r>
          </a:p>
        </p:txBody>
      </p:sp>
      <p:sp>
        <p:nvSpPr>
          <p:cNvPr id="2" name="">
            <a:extLst xmlns:a="http://schemas.openxmlformats.org/drawingml/2006/main">
              <a:ext uri="{FF2B5EF4-FFF2-40B4-BE49-F238E27FC236}">
                <a16:creationId xmlns:a16="http://schemas.microsoft.com/office/drawing/2014/main" id="{7ED0E1FD-F673-4D7D-9B83-08385D9D9D39}"/>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FB65284-A52E-4E72-85F3-A6311D4E9B04}"/>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3</a:t>
            </a:r>
          </a:p>
        </p:txBody>
      </p:sp>
      <p:sp>
        <p:nvSpPr>
          <p:cNvPr id="4" name="">
            <a:extLst xmlns:a="http://schemas.openxmlformats.org/drawingml/2006/main">
              <a:ext uri="{FF2B5EF4-FFF2-40B4-BE49-F238E27FC236}">
                <a16:creationId xmlns:a16="http://schemas.microsoft.com/office/drawing/2014/main" id="{B7ABF020-30AC-422A-9273-2D2CAC075903}"/>
              </a:ext>
            </a:extLst>
          </p:cNvPr>
          <p:cNvSpPr>
            <a:spLocks xmlns:a="http://schemas.openxmlformats.org/drawingml/2006/main" noGrp="1"/>
          </p:cNvSpPr>
          <p:nvPr/>
        </p:nvSpPr>
        <p:spPr>
          <a:xfrm xmlns:a="http://schemas.openxmlformats.org/drawingml/2006/main">
            <a:off x="685800" y="176212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python -m pip install numpy pandas</a:t>
            </a:r>
          </a:p>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python python/check_environment.py</a:t>
            </a:r>
          </a:p>
        </p:txBody>
      </p:sp>
      <p:sp>
        <p:nvSpPr>
          <p:cNvPr id="5" name="">
            <a:extLst xmlns:a="http://schemas.openxmlformats.org/drawingml/2006/main">
              <a:ext uri="{FF2B5EF4-FFF2-40B4-BE49-F238E27FC236}">
                <a16:creationId xmlns:a16="http://schemas.microsoft.com/office/drawing/2014/main" id="{7895DF42-5328-4605-A871-61FBEE80875E}"/>
              </a:ext>
            </a:extLst>
          </p:cNvPr>
          <p:cNvSpPr>
            <a:spLocks xmlns:a="http://schemas.openxmlformats.org/drawingml/2006/main" noGrp="1"/>
          </p:cNvSpPr>
          <p:nvPr/>
        </p:nvSpPr>
        <p:spPr>
          <a:xfrm xmlns:a="http://schemas.openxmlformats.org/drawingml/2006/main">
            <a:off x="685800" y="35623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pip installe dans l’environnement du Python sélectionné.</a:t>
            </a:r>
          </a:p>
        </p:txBody>
      </p:sp>
      <p:sp>
        <p:nvSpPr>
          <p:cNvPr id="6" name="">
            <a:extLst xmlns:a="http://schemas.openxmlformats.org/drawingml/2006/main">
              <a:ext uri="{FF2B5EF4-FFF2-40B4-BE49-F238E27FC236}">
                <a16:creationId xmlns:a16="http://schemas.microsoft.com/office/drawing/2014/main" id="{728E94FC-1507-4F5D-89C5-A85375EBF783}"/>
              </a:ext>
            </a:extLst>
          </p:cNvPr>
          <p:cNvSpPr>
            <a:spLocks xmlns:a="http://schemas.openxmlformats.org/drawingml/2006/main" noGrp="1"/>
          </p:cNvSpPr>
          <p:nvPr/>
        </p:nvSpPr>
        <p:spPr>
          <a:xfrm xmlns:a="http://schemas.openxmlformats.org/drawingml/2006/main">
            <a:off x="685800" y="44672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Le script affiche son interpréteur et vérifie les imports.</a:t>
            </a:r>
          </a:p>
        </p:txBody>
      </p:sp>
      <p:sp>
        <p:nvSpPr>
          <p:cNvPr id="7" name="">
            <a:extLst xmlns:a="http://schemas.openxmlformats.org/drawingml/2006/main">
              <a:ext uri="{FF2B5EF4-FFF2-40B4-BE49-F238E27FC236}">
                <a16:creationId xmlns:a16="http://schemas.microsoft.com/office/drawing/2014/main" id="{21CDF699-633D-4285-8571-BFC359A5178A}"/>
              </a:ext>
            </a:extLst>
          </p:cNvPr>
          <p:cNvSpPr>
            <a:spLocks xmlns:a="http://schemas.openxmlformats.org/drawingml/2006/main" noGrp="1"/>
          </p:cNvSpPr>
          <p:nvPr/>
        </p:nvSpPr>
        <p:spPr>
          <a:xfrm xmlns:a="http://schemas.openxmlformats.org/drawingml/2006/main">
            <a:off x="685800" y="56388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Résultat attendu : PASS, moyenne 2,0 et somme 6.</a:t>
            </a:r>
          </a:p>
        </p:txBody>
      </p:sp>
    </p:spTree>
    <p:extLst>
      <p:ext uri="{BB962C8B-B14F-4D97-AF65-F5344CB8AC3E}">
        <p14:creationId xmlns:p14="http://schemas.microsoft.com/office/powerpoint/2010/main" val="1076340594"/>
      </p:ext>
    </p:extLst>
  </p:cSld>
</p:sld>
</file>

<file path=ppt/slides/slide6.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492A3E-852B-418C-BB6E-DB4EDF966265}"/>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Conserver les versions installées</a:t>
            </a:r>
          </a:p>
        </p:txBody>
      </p:sp>
      <p:sp>
        <p:nvSpPr>
          <p:cNvPr id="2" name="">
            <a:extLst xmlns:a="http://schemas.openxmlformats.org/drawingml/2006/main">
              <a:ext uri="{FF2B5EF4-FFF2-40B4-BE49-F238E27FC236}">
                <a16:creationId xmlns:a16="http://schemas.microsoft.com/office/drawing/2014/main" id="{24844786-243B-4837-B979-89AF0873BCD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5BB780AF-5E05-45B5-81FD-3C4325957686}"/>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4</a:t>
            </a:r>
          </a:p>
        </p:txBody>
      </p:sp>
      <p:sp>
        <p:nvSpPr>
          <p:cNvPr id="4" name="">
            <a:extLst xmlns:a="http://schemas.openxmlformats.org/drawingml/2006/main">
              <a:ext uri="{FF2B5EF4-FFF2-40B4-BE49-F238E27FC236}">
                <a16:creationId xmlns:a16="http://schemas.microsoft.com/office/drawing/2014/main" id="{B78EA8BA-4610-438C-9E7F-5D146B21A166}"/>
              </a:ext>
            </a:extLst>
          </p:cNvPr>
          <p:cNvSpPr>
            <a:spLocks xmlns:a="http://schemas.openxmlformats.org/drawingml/2006/main" noGrp="1"/>
          </p:cNvSpPr>
          <p:nvPr/>
        </p:nvSpPr>
        <p:spPr>
          <a:xfrm xmlns:a="http://schemas.openxmlformats.org/drawingml/2006/main">
            <a:off x="685800" y="1905000"/>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238"/>
                </a:solidFill>
                <a:latin typeface="Menlo"/>
                <a:ea typeface="Menlo"/>
                <a:cs typeface="Menlo"/>
              </a:defRPr>
            </a:pPr>
            <a:r>
              <a:rPr sz="2175" b="0">
                <a:solidFill>
                  <a:srgbClr val="163238"/>
                </a:solidFill>
                <a:latin typeface="Menlo"/>
                <a:ea typeface="Menlo"/>
                <a:cs typeface="Menlo"/>
              </a:rPr>
              <a:t>python -m pip freeze &gt; requirements-venv.txt</a:t>
            </a:r>
          </a:p>
        </p:txBody>
      </p:sp>
      <p:sp>
        <p:nvSpPr>
          <p:cNvPr id="5" name="">
            <a:extLst xmlns:a="http://schemas.openxmlformats.org/drawingml/2006/main">
              <a:ext uri="{FF2B5EF4-FFF2-40B4-BE49-F238E27FC236}">
                <a16:creationId xmlns:a16="http://schemas.microsoft.com/office/drawing/2014/main" id="{8F89913F-A959-4363-B57B-2127C3278F81}"/>
              </a:ext>
            </a:extLst>
          </p:cNvPr>
          <p:cNvSpPr>
            <a:spLocks xmlns:a="http://schemas.openxmlformats.org/drawingml/2006/main" noGrp="1"/>
          </p:cNvSpPr>
          <p:nvPr/>
        </p:nvSpPr>
        <p:spPr>
          <a:xfrm xmlns:a="http://schemas.openxmlformats.org/drawingml/2006/main">
            <a:off x="685800" y="3267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Ce fichier texte enregistre les versions des paquets installés.</a:t>
            </a:r>
          </a:p>
        </p:txBody>
      </p:sp>
      <p:sp>
        <p:nvSpPr>
          <p:cNvPr id="6" name="">
            <a:extLst xmlns:a="http://schemas.openxmlformats.org/drawingml/2006/main">
              <a:ext uri="{FF2B5EF4-FFF2-40B4-BE49-F238E27FC236}">
                <a16:creationId xmlns:a16="http://schemas.microsoft.com/office/drawing/2014/main" id="{2A5F89C8-783D-4447-9E90-6E377E99A64A}"/>
              </a:ext>
            </a:extLst>
          </p:cNvPr>
          <p:cNvSpPr>
            <a:spLocks xmlns:a="http://schemas.openxmlformats.org/drawingml/2006/main" noGrp="1"/>
          </p:cNvSpPr>
          <p:nvPr/>
        </p:nvSpPr>
        <p:spPr>
          <a:xfrm xmlns:a="http://schemas.openxmlformats.org/drawingml/2006/main">
            <a:off x="685800" y="411480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pip install ne crée pas ce relevé automatiquement.</a:t>
            </a:r>
          </a:p>
        </p:txBody>
      </p:sp>
      <p:sp>
        <p:nvSpPr>
          <p:cNvPr id="7" name="">
            <a:extLst xmlns:a="http://schemas.openxmlformats.org/drawingml/2006/main">
              <a:ext uri="{FF2B5EF4-FFF2-40B4-BE49-F238E27FC236}">
                <a16:creationId xmlns:a16="http://schemas.microsoft.com/office/drawing/2014/main" id="{18A551AD-1871-40D9-9995-2E05778CE82B}"/>
              </a:ext>
            </a:extLst>
          </p:cNvPr>
          <p:cNvSpPr>
            <a:spLocks xmlns:a="http://schemas.openxmlformats.org/drawingml/2006/main" noGrp="1"/>
          </p:cNvSpPr>
          <p:nvPr/>
        </p:nvSpPr>
        <p:spPr>
          <a:xfrm xmlns:a="http://schemas.openxmlformats.org/drawingml/2006/main">
            <a:off x="685800" y="49625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Un nouvel environnement compatible peut réutiliser ce fichier.</a:t>
            </a:r>
          </a:p>
        </p:txBody>
      </p:sp>
      <p:sp>
        <p:nvSpPr>
          <p:cNvPr id="8" name="">
            <a:extLst xmlns:a="http://schemas.openxmlformats.org/drawingml/2006/main">
              <a:ext uri="{FF2B5EF4-FFF2-40B4-BE49-F238E27FC236}">
                <a16:creationId xmlns:a16="http://schemas.microsoft.com/office/drawing/2014/main" id="{1BF07B56-1657-45C7-B87E-09D039C07B07}"/>
              </a:ext>
            </a:extLst>
          </p:cNvPr>
          <p:cNvSpPr>
            <a:spLocks xmlns:a="http://schemas.openxmlformats.org/drawingml/2006/main" noGrp="1"/>
          </p:cNvSpPr>
          <p:nvPr/>
        </p:nvSpPr>
        <p:spPr>
          <a:xfrm xmlns:a="http://schemas.openxmlformats.org/drawingml/2006/main">
            <a:off x="685800" y="5686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7C72"/>
                </a:solidFill>
                <a:latin typeface="Helvetica Neue"/>
                <a:ea typeface="Helvetica Neue"/>
                <a:cs typeface="Helvetica Neue"/>
              </a:defRPr>
            </a:pPr>
            <a:r>
              <a:rPr sz="2100" b="1">
                <a:solidFill>
                  <a:srgbClr val="147C72"/>
                </a:solidFill>
                <a:latin typeface="Helvetica Neue"/>
                <a:ea typeface="Helvetica Neue"/>
                <a:cs typeface="Helvetica Neue"/>
              </a:rPr>
              <a:t>Le relevé reste avec le code, à l’extérieur de .venv.</a:t>
            </a:r>
          </a:p>
        </p:txBody>
      </p:sp>
    </p:spTree>
    <p:extLst>
      <p:ext uri="{BB962C8B-B14F-4D97-AF65-F5344CB8AC3E}">
        <p14:creationId xmlns:p14="http://schemas.microsoft.com/office/powerpoint/2010/main" val="2124492325"/>
      </p:ext>
    </p:extLst>
  </p:cSld>
</p:sld>
</file>

<file path=ppt/slides/slide7.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F9D164-D62E-4D8C-AF9A-4CEE7E60BFBE}"/>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Supprimer l’environnement installé</a:t>
            </a:r>
          </a:p>
        </p:txBody>
      </p:sp>
      <p:sp>
        <p:nvSpPr>
          <p:cNvPr id="2" name="">
            <a:extLst xmlns:a="http://schemas.openxmlformats.org/drawingml/2006/main">
              <a:ext uri="{FF2B5EF4-FFF2-40B4-BE49-F238E27FC236}">
                <a16:creationId xmlns:a16="http://schemas.microsoft.com/office/drawing/2014/main" id="{6DCFCA6A-0235-4338-B42D-C13E4F133C0C}"/>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FBC93E16-3A64-40E5-B908-71FB1B9077AE}"/>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5</a:t>
            </a:r>
          </a:p>
        </p:txBody>
      </p:sp>
      <p:sp>
        <p:nvSpPr>
          <p:cNvPr id="4" name="">
            <a:extLst xmlns:a="http://schemas.openxmlformats.org/drawingml/2006/main">
              <a:ext uri="{FF2B5EF4-FFF2-40B4-BE49-F238E27FC236}">
                <a16:creationId xmlns:a16="http://schemas.microsoft.com/office/drawing/2014/main" id="{210E98C0-1E98-4275-8041-DCEE1F9368BF}"/>
              </a:ext>
            </a:extLst>
          </p:cNvPr>
          <p:cNvSpPr>
            <a:spLocks xmlns:a="http://schemas.openxmlformats.org/drawingml/2006/main" noGrp="1"/>
          </p:cNvSpPr>
          <p:nvPr/>
        </p:nvSpPr>
        <p:spPr>
          <a:xfrm xmlns:a="http://schemas.openxmlformats.org/drawingml/2006/main">
            <a:off x="685800" y="1800225"/>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deactivate</a:t>
            </a:r>
          </a:p>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python3 python/reset_environment.py</a:t>
            </a:r>
          </a:p>
        </p:txBody>
      </p:sp>
      <p:sp>
        <p:nvSpPr>
          <p:cNvPr id="5" name="">
            <a:extLst xmlns:a="http://schemas.openxmlformats.org/drawingml/2006/main">
              <a:ext uri="{FF2B5EF4-FFF2-40B4-BE49-F238E27FC236}">
                <a16:creationId xmlns:a16="http://schemas.microsoft.com/office/drawing/2014/main" id="{4A7EC7B1-D1D2-4CA7-A7CA-0CA605FE5533}"/>
              </a:ext>
            </a:extLst>
          </p:cNvPr>
          <p:cNvSpPr>
            <a:spLocks xmlns:a="http://schemas.openxmlformats.org/drawingml/2006/main" noGrp="1"/>
          </p:cNvSpPr>
          <p:nvPr/>
        </p:nvSpPr>
        <p:spPr>
          <a:xfrm xmlns:a="http://schemas.openxmlformats.org/drawingml/2006/main">
            <a:off x="685800" y="33432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568"/>
                </a:solidFill>
                <a:latin typeface="Helvetica Neue"/>
                <a:ea typeface="Helvetica Neue"/>
                <a:cs typeface="Helvetica Neue"/>
              </a:defRPr>
            </a:pPr>
            <a:r>
              <a:rPr sz="2025" b="0">
                <a:solidFill>
                  <a:srgbClr val="536568"/>
                </a:solidFill>
                <a:latin typeface="Helvetica Neue"/>
                <a:ea typeface="Helvetica Neue"/>
                <a:cs typeface="Helvetica Neue"/>
              </a:rPr>
              <a:t>Windows : py -3 python/reset_environment.py</a:t>
            </a:r>
          </a:p>
        </p:txBody>
      </p:sp>
      <p:sp>
        <p:nvSpPr>
          <p:cNvPr id="6" name="">
            <a:extLst xmlns:a="http://schemas.openxmlformats.org/drawingml/2006/main">
              <a:ext uri="{FF2B5EF4-FFF2-40B4-BE49-F238E27FC236}">
                <a16:creationId xmlns:a16="http://schemas.microsoft.com/office/drawing/2014/main" id="{CA0737EC-E5EB-46BC-9E97-1302167A99FE}"/>
              </a:ext>
            </a:extLst>
          </p:cNvPr>
          <p:cNvSpPr>
            <a:spLocks xmlns:a="http://schemas.openxmlformats.org/drawingml/2006/main" noGrp="1"/>
          </p:cNvSpPr>
          <p:nvPr/>
        </p:nvSpPr>
        <p:spPr>
          <a:xfrm xmlns:a="http://schemas.openxmlformats.org/drawingml/2006/main">
            <a:off x="685800" y="42386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Ce qui disparaît</a:t>
            </a:r>
          </a:p>
        </p:txBody>
      </p:sp>
      <p:sp>
        <p:nvSpPr>
          <p:cNvPr id="7" name="">
            <a:extLst xmlns:a="http://schemas.openxmlformats.org/drawingml/2006/main">
              <a:ext uri="{FF2B5EF4-FFF2-40B4-BE49-F238E27FC236}">
                <a16:creationId xmlns:a16="http://schemas.microsoft.com/office/drawing/2014/main" id="{7985D756-2AC6-4C3F-AE6A-EA4EE0A402C7}"/>
              </a:ext>
            </a:extLst>
          </p:cNvPr>
          <p:cNvSpPr>
            <a:spLocks xmlns:a="http://schemas.openxmlformats.org/drawingml/2006/main" noGrp="1"/>
          </p:cNvSpPr>
          <p:nvPr/>
        </p:nvSpPr>
        <p:spPr>
          <a:xfrm xmlns:a="http://schemas.openxmlformats.org/drawingml/2006/main">
            <a:off x="685800" y="4905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.venv et les paquets installés à l’intérieur.</a:t>
            </a:r>
          </a:p>
        </p:txBody>
      </p:sp>
      <p:sp>
        <p:nvSpPr>
          <p:cNvPr id="8" name="">
            <a:extLst xmlns:a="http://schemas.openxmlformats.org/drawingml/2006/main">
              <a:ext uri="{FF2B5EF4-FFF2-40B4-BE49-F238E27FC236}">
                <a16:creationId xmlns:a16="http://schemas.microsoft.com/office/drawing/2014/main" id="{358E77E9-0062-4184-9B0E-D4D694AA0D88}"/>
              </a:ext>
            </a:extLst>
          </p:cNvPr>
          <p:cNvSpPr>
            <a:spLocks xmlns:a="http://schemas.openxmlformats.org/drawingml/2006/main" noGrp="1"/>
          </p:cNvSpPr>
          <p:nvPr/>
        </p:nvSpPr>
        <p:spPr>
          <a:xfrm xmlns:a="http://schemas.openxmlformats.org/drawingml/2006/main">
            <a:off x="6410325" y="42386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Ce qui reste</a:t>
            </a:r>
          </a:p>
        </p:txBody>
      </p:sp>
      <p:sp>
        <p:nvSpPr>
          <p:cNvPr id="9" name="">
            <a:extLst xmlns:a="http://schemas.openxmlformats.org/drawingml/2006/main">
              <a:ext uri="{FF2B5EF4-FFF2-40B4-BE49-F238E27FC236}">
                <a16:creationId xmlns:a16="http://schemas.microsoft.com/office/drawing/2014/main" id="{A1C8DBD9-DCC4-4A23-9FEB-893D237A260C}"/>
              </a:ext>
            </a:extLst>
          </p:cNvPr>
          <p:cNvSpPr>
            <a:spLocks xmlns:a="http://schemas.openxmlformats.org/drawingml/2006/main" noGrp="1"/>
          </p:cNvSpPr>
          <p:nvPr/>
        </p:nvSpPr>
        <p:spPr>
          <a:xfrm xmlns:a="http://schemas.openxmlformats.org/drawingml/2006/main">
            <a:off x="6410325" y="4905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Scripts, notebooks, README et requirements-venv.txt.</a:t>
            </a:r>
          </a:p>
        </p:txBody>
      </p:sp>
    </p:spTree>
    <p:extLst>
      <p:ext uri="{BB962C8B-B14F-4D97-AF65-F5344CB8AC3E}">
        <p14:creationId xmlns:p14="http://schemas.microsoft.com/office/powerpoint/2010/main" val="1963277206"/>
      </p:ext>
    </p:extLst>
  </p:cSld>
</p:sld>
</file>

<file path=ppt/slides/slide8.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1A7D28-F104-4C0F-95AB-31AB92A9C75C}"/>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Les outils existent hors du projet</a:t>
            </a:r>
          </a:p>
        </p:txBody>
      </p:sp>
      <p:sp>
        <p:nvSpPr>
          <p:cNvPr id="2" name="">
            <a:extLst xmlns:a="http://schemas.openxmlformats.org/drawingml/2006/main">
              <a:ext uri="{FF2B5EF4-FFF2-40B4-BE49-F238E27FC236}">
                <a16:creationId xmlns:a16="http://schemas.microsoft.com/office/drawing/2014/main" id="{7086554D-5977-4EF9-AF6C-4BB63BC7C48D}"/>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6436F859-5DC4-4C2F-8B6D-CAF4C236E8C3}"/>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6</a:t>
            </a:r>
          </a:p>
        </p:txBody>
      </p:sp>
      <p:sp>
        <p:nvSpPr>
          <p:cNvPr id="4" name="">
            <a:extLst xmlns:a="http://schemas.openxmlformats.org/drawingml/2006/main">
              <a:ext uri="{FF2B5EF4-FFF2-40B4-BE49-F238E27FC236}">
                <a16:creationId xmlns:a16="http://schemas.microsoft.com/office/drawing/2014/main" id="{15A1853D-A410-4EA3-BCE6-89EF0B1AD331}"/>
              </a:ext>
            </a:extLst>
          </p:cNvPr>
          <p:cNvSpPr>
            <a:spLocks xmlns:a="http://schemas.openxmlformats.org/drawingml/2006/main" noGrp="1"/>
          </p:cNvSpPr>
          <p:nvPr/>
        </p:nvSpPr>
        <p:spPr>
          <a:xfrm xmlns:a="http://schemas.openxmlformats.org/drawingml/2006/main">
            <a:off x="685800" y="1971675"/>
            <a:ext cx="6238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63238"/>
                </a:solidFill>
                <a:latin typeface="Menlo"/>
                <a:ea typeface="Menlo"/>
                <a:cs typeface="Menlo"/>
              </a:defRPr>
            </a:pPr>
            <a:r>
              <a:rPr sz="2325" b="0">
                <a:solidFill>
                  <a:srgbClr val="163238"/>
                </a:solidFill>
                <a:latin typeface="Menlo"/>
                <a:ea typeface="Menlo"/>
                <a:cs typeface="Menlo"/>
              </a:rPr>
              <a:t>uv --version</a:t>
            </a:r>
          </a:p>
          <a:p xmlns:a="http://schemas.openxmlformats.org/drawingml/2006/main">
            <a:r>
              <a:t/>
            </a:r>
          </a:p>
          <a:p xmlns:a="http://schemas.openxmlformats.org/drawingml/2006/main">
            <a:pPr>
              <a:buNone/>
              <a:defRPr sz="2325" b="0">
                <a:solidFill>
                  <a:srgbClr val="163238"/>
                </a:solidFill>
                <a:latin typeface="Menlo"/>
                <a:ea typeface="Menlo"/>
                <a:cs typeface="Menlo"/>
              </a:defRPr>
            </a:pPr>
            <a:r>
              <a:rPr sz="2325" b="0">
                <a:solidFill>
                  <a:srgbClr val="163238"/>
                </a:solidFill>
                <a:latin typeface="Menlo"/>
                <a:ea typeface="Menlo"/>
                <a:cs typeface="Menlo"/>
              </a:rPr>
              <a:t>uv python install 3</a:t>
            </a:r>
          </a:p>
        </p:txBody>
      </p:sp>
      <p:sp>
        <p:nvSpPr>
          <p:cNvPr id="5" name="">
            <a:extLst xmlns:a="http://schemas.openxmlformats.org/drawingml/2006/main">
              <a:ext uri="{FF2B5EF4-FFF2-40B4-BE49-F238E27FC236}">
                <a16:creationId xmlns:a16="http://schemas.microsoft.com/office/drawing/2014/main" id="{95AF3853-CCEE-464F-9617-D09D2B053D41}"/>
              </a:ext>
            </a:extLst>
          </p:cNvPr>
          <p:cNvSpPr>
            <a:spLocks xmlns:a="http://schemas.openxmlformats.org/drawingml/2006/main" noGrp="1"/>
          </p:cNvSpPr>
          <p:nvPr/>
        </p:nvSpPr>
        <p:spPr>
          <a:xfrm xmlns:a="http://schemas.openxmlformats.org/drawingml/2006/main">
            <a:off x="7239000" y="1924050"/>
            <a:ext cx="4286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238"/>
                </a:solidFill>
                <a:latin typeface="Helvetica Neue"/>
                <a:ea typeface="Helvetica Neue"/>
                <a:cs typeface="Helvetica Neue"/>
              </a:defRPr>
            </a:pPr>
            <a:r>
              <a:rPr sz="2175" b="0">
                <a:solidFill>
                  <a:srgbClr val="163238"/>
                </a:solidFill>
                <a:latin typeface="Helvetica Neue"/>
                <a:ea typeface="Helvetica Neue"/>
                <a:cs typeface="Helvetica Neue"/>
              </a:rPr>
              <a:t>Vérifier que le terminal trouve uv.</a:t>
            </a:r>
          </a:p>
        </p:txBody>
      </p:sp>
      <p:sp>
        <p:nvSpPr>
          <p:cNvPr id="6" name="">
            <a:extLst xmlns:a="http://schemas.openxmlformats.org/drawingml/2006/main">
              <a:ext uri="{FF2B5EF4-FFF2-40B4-BE49-F238E27FC236}">
                <a16:creationId xmlns:a16="http://schemas.microsoft.com/office/drawing/2014/main" id="{454B7A3E-D23F-4053-90BF-B7ABB8D51519}"/>
              </a:ext>
            </a:extLst>
          </p:cNvPr>
          <p:cNvSpPr>
            <a:spLocks xmlns:a="http://schemas.openxmlformats.org/drawingml/2006/main" noGrp="1"/>
          </p:cNvSpPr>
          <p:nvPr/>
        </p:nvSpPr>
        <p:spPr>
          <a:xfrm xmlns:a="http://schemas.openxmlformats.org/drawingml/2006/main">
            <a:off x="7239000" y="3219450"/>
            <a:ext cx="4286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63238"/>
                </a:solidFill>
                <a:latin typeface="Helvetica Neue"/>
                <a:ea typeface="Helvetica Neue"/>
                <a:cs typeface="Helvetica Neue"/>
              </a:defRPr>
            </a:pPr>
            <a:r>
              <a:rPr sz="2175" b="0">
                <a:solidFill>
                  <a:srgbClr val="163238"/>
                </a:solidFill>
                <a:latin typeface="Helvetica Neue"/>
                <a:ea typeface="Helvetica Neue"/>
                <a:cs typeface="Helvetica Neue"/>
              </a:rPr>
              <a:t>Rendre Python 3 disponible.</a:t>
            </a:r>
          </a:p>
        </p:txBody>
      </p:sp>
      <p:sp>
        <p:nvSpPr>
          <p:cNvPr id="7" name="">
            <a:extLst xmlns:a="http://schemas.openxmlformats.org/drawingml/2006/main">
              <a:ext uri="{FF2B5EF4-FFF2-40B4-BE49-F238E27FC236}">
                <a16:creationId xmlns:a16="http://schemas.microsoft.com/office/drawing/2014/main" id="{1B745AB8-1652-4B8F-B659-5D32392826B7}"/>
              </a:ext>
            </a:extLst>
          </p:cNvPr>
          <p:cNvSpPr>
            <a:spLocks xmlns:a="http://schemas.openxmlformats.org/drawingml/2006/main" noGrp="1"/>
          </p:cNvSpPr>
          <p:nvPr/>
        </p:nvSpPr>
        <p:spPr>
          <a:xfrm xmlns:a="http://schemas.openxmlformats.org/drawingml/2006/main">
            <a:off x="685800" y="5143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7C72"/>
                </a:solidFill>
                <a:latin typeface="Helvetica Neue"/>
                <a:ea typeface="Helvetica Neue"/>
                <a:cs typeface="Helvetica Neue"/>
              </a:defRPr>
            </a:pPr>
            <a:r>
              <a:rPr sz="2250" b="1">
                <a:solidFill>
                  <a:srgbClr val="147C72"/>
                </a:solidFill>
                <a:latin typeface="Helvetica Neue"/>
                <a:ea typeface="Helvetica Neue"/>
                <a:cs typeface="Helvetica Neue"/>
              </a:rPr>
              <a:t>Le code et le relevé pip restent présents; l’ancienne .venv a disparu.</a:t>
            </a:r>
          </a:p>
        </p:txBody>
      </p:sp>
    </p:spTree>
    <p:extLst>
      <p:ext uri="{BB962C8B-B14F-4D97-AF65-F5344CB8AC3E}">
        <p14:creationId xmlns:p14="http://schemas.microsoft.com/office/powerpoint/2010/main" val="1590056786"/>
      </p:ext>
    </p:extLst>
  </p:cSld>
</p:sld>
</file>

<file path=ppt/slides/slide9.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4ACF5A-60F0-421C-A53B-4A8109364860}"/>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pyproject.toml décrit le projet</a:t>
            </a:r>
          </a:p>
        </p:txBody>
      </p:sp>
      <p:sp>
        <p:nvSpPr>
          <p:cNvPr id="2" name="">
            <a:extLst xmlns:a="http://schemas.openxmlformats.org/drawingml/2006/main">
              <a:ext uri="{FF2B5EF4-FFF2-40B4-BE49-F238E27FC236}">
                <a16:creationId xmlns:a16="http://schemas.microsoft.com/office/drawing/2014/main" id="{289F56E2-1D7E-4E5A-B035-6605B4574C8D}"/>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F496AEE-6959-421B-ADB5-9EB6FE79B744}"/>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7</a:t>
            </a:r>
          </a:p>
        </p:txBody>
      </p:sp>
      <p:sp>
        <p:nvSpPr>
          <p:cNvPr id="4" name="">
            <a:extLst xmlns:a="http://schemas.openxmlformats.org/drawingml/2006/main">
              <a:ext uri="{FF2B5EF4-FFF2-40B4-BE49-F238E27FC236}">
                <a16:creationId xmlns:a16="http://schemas.microsoft.com/office/drawing/2014/main" id="{60509E7F-173E-42A5-BFC1-7231EFA0FAD2}"/>
              </a:ext>
            </a:extLst>
          </p:cNvPr>
          <p:cNvSpPr>
            <a:spLocks xmlns:a="http://schemas.openxmlformats.org/drawingml/2006/main" noGrp="1"/>
          </p:cNvSpPr>
          <p:nvPr/>
        </p:nvSpPr>
        <p:spPr>
          <a:xfrm xmlns:a="http://schemas.openxmlformats.org/drawingml/2006/main">
            <a:off x="685800" y="16954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init --bare --python 3</a:t>
            </a:r>
          </a:p>
        </p:txBody>
      </p:sp>
      <p:sp>
        <p:nvSpPr>
          <p:cNvPr id="5" name="">
            <a:extLst xmlns:a="http://schemas.openxmlformats.org/drawingml/2006/main">
              <a:ext uri="{FF2B5EF4-FFF2-40B4-BE49-F238E27FC236}">
                <a16:creationId xmlns:a16="http://schemas.microsoft.com/office/drawing/2014/main" id="{16D5A190-6374-4BC4-9979-7CDE2C8FDF83}"/>
              </a:ext>
            </a:extLst>
          </p:cNvPr>
          <p:cNvSpPr>
            <a:spLocks xmlns:a="http://schemas.openxmlformats.org/drawingml/2006/main" noGrp="1"/>
          </p:cNvSpPr>
          <p:nvPr/>
        </p:nvSpPr>
        <p:spPr>
          <a:xfrm xmlns:a="http://schemas.openxmlformats.org/drawingml/2006/main">
            <a:off x="685800" y="2647950"/>
            <a:ext cx="5810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Menlo"/>
                <a:ea typeface="Menlo"/>
                <a:cs typeface="Menlo"/>
              </a:defRPr>
            </a:pPr>
            <a:r>
              <a:rPr sz="2100" b="0">
                <a:solidFill>
                  <a:srgbClr val="163238"/>
                </a:solidFill>
                <a:latin typeface="Menlo"/>
                <a:ea typeface="Menlo"/>
                <a:cs typeface="Menlo"/>
              </a:rPr>
              <a:t>[project]</a:t>
            </a:r>
          </a:p>
          <a:p xmlns:a="http://schemas.openxmlformats.org/drawingml/2006/main">
            <a:pPr>
              <a:buNone/>
              <a:defRPr sz="2100" b="0">
                <a:solidFill>
                  <a:srgbClr val="163238"/>
                </a:solidFill>
                <a:latin typeface="Menlo"/>
                <a:ea typeface="Menlo"/>
                <a:cs typeface="Menlo"/>
              </a:defRPr>
            </a:pPr>
            <a:r>
              <a:rPr sz="2100" b="0">
                <a:solidFill>
                  <a:srgbClr val="163238"/>
                </a:solidFill>
                <a:latin typeface="Menlo"/>
                <a:ea typeface="Menlo"/>
                <a:cs typeface="Menlo"/>
              </a:rPr>
              <a:t>name = "demo-1"</a:t>
            </a:r>
          </a:p>
          <a:p xmlns:a="http://schemas.openxmlformats.org/drawingml/2006/main">
            <a:pPr>
              <a:buNone/>
              <a:defRPr sz="2100" b="0">
                <a:solidFill>
                  <a:srgbClr val="163238"/>
                </a:solidFill>
                <a:latin typeface="Menlo"/>
                <a:ea typeface="Menlo"/>
                <a:cs typeface="Menlo"/>
              </a:defRPr>
            </a:pPr>
            <a:r>
              <a:rPr sz="2100" b="0">
                <a:solidFill>
                  <a:srgbClr val="163238"/>
                </a:solidFill>
                <a:latin typeface="Menlo"/>
                <a:ea typeface="Menlo"/>
                <a:cs typeface="Menlo"/>
              </a:rPr>
              <a:t>version = "0.1.0"</a:t>
            </a:r>
          </a:p>
          <a:p xmlns:a="http://schemas.openxmlformats.org/drawingml/2006/main">
            <a:pPr>
              <a:buNone/>
              <a:defRPr sz="2100" b="0">
                <a:solidFill>
                  <a:srgbClr val="163238"/>
                </a:solidFill>
                <a:latin typeface="Menlo"/>
                <a:ea typeface="Menlo"/>
                <a:cs typeface="Menlo"/>
              </a:defRPr>
            </a:pPr>
            <a:r>
              <a:rPr sz="2100" b="0">
                <a:solidFill>
                  <a:srgbClr val="163238"/>
                </a:solidFill>
                <a:latin typeface="Menlo"/>
                <a:ea typeface="Menlo"/>
                <a:cs typeface="Menlo"/>
              </a:rPr>
              <a:t>requires-python = "&gt;=3"</a:t>
            </a:r>
          </a:p>
          <a:p xmlns:a="http://schemas.openxmlformats.org/drawingml/2006/main">
            <a:pPr>
              <a:buNone/>
              <a:defRPr sz="2100" b="0">
                <a:solidFill>
                  <a:srgbClr val="163238"/>
                </a:solidFill>
                <a:latin typeface="Menlo"/>
                <a:ea typeface="Menlo"/>
                <a:cs typeface="Menlo"/>
              </a:defRPr>
            </a:pPr>
            <a:r>
              <a:rPr sz="2100" b="0">
                <a:solidFill>
                  <a:srgbClr val="163238"/>
                </a:solidFill>
                <a:latin typeface="Menlo"/>
                <a:ea typeface="Menlo"/>
                <a:cs typeface="Menlo"/>
              </a:rPr>
              <a:t>dependencies = []</a:t>
            </a:r>
          </a:p>
        </p:txBody>
      </p:sp>
      <p:sp>
        <p:nvSpPr>
          <p:cNvPr id="6" name="">
            <a:extLst xmlns:a="http://schemas.openxmlformats.org/drawingml/2006/main">
              <a:ext uri="{FF2B5EF4-FFF2-40B4-BE49-F238E27FC236}">
                <a16:creationId xmlns:a16="http://schemas.microsoft.com/office/drawing/2014/main" id="{879D109D-62F5-4E7F-BDF2-EDDABFC470E9}"/>
              </a:ext>
            </a:extLst>
          </p:cNvPr>
          <p:cNvSpPr>
            <a:spLocks xmlns:a="http://schemas.openxmlformats.org/drawingml/2006/main" noGrp="1"/>
          </p:cNvSpPr>
          <p:nvPr/>
        </p:nvSpPr>
        <p:spPr>
          <a:xfrm xmlns:a="http://schemas.openxmlformats.org/drawingml/2006/main">
            <a:off x="7134225" y="2619375"/>
            <a:ext cx="4305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238"/>
                </a:solidFill>
                <a:latin typeface="Helvetica Neue"/>
                <a:ea typeface="Helvetica Neue"/>
                <a:cs typeface="Helvetica Neue"/>
              </a:defRPr>
            </a:pPr>
            <a:r>
              <a:rPr sz="2025" b="0">
                <a:solidFill>
                  <a:srgbClr val="163238"/>
                </a:solidFill>
                <a:latin typeface="Helvetica Neue"/>
                <a:ea typeface="Helvetica Neue"/>
                <a:cs typeface="Helvetica Neue"/>
              </a:rPr>
              <a:t>Les métadonnées identifient le projet.</a:t>
            </a:r>
          </a:p>
        </p:txBody>
      </p:sp>
      <p:sp>
        <p:nvSpPr>
          <p:cNvPr id="7" name="">
            <a:extLst xmlns:a="http://schemas.openxmlformats.org/drawingml/2006/main">
              <a:ext uri="{FF2B5EF4-FFF2-40B4-BE49-F238E27FC236}">
                <a16:creationId xmlns:a16="http://schemas.microsoft.com/office/drawing/2014/main" id="{EB8146EC-59AD-4E26-9081-F9D26111EEBB}"/>
              </a:ext>
            </a:extLst>
          </p:cNvPr>
          <p:cNvSpPr>
            <a:spLocks xmlns:a="http://schemas.openxmlformats.org/drawingml/2006/main" noGrp="1"/>
          </p:cNvSpPr>
          <p:nvPr/>
        </p:nvSpPr>
        <p:spPr>
          <a:xfrm xmlns:a="http://schemas.openxmlformats.org/drawingml/2006/main">
            <a:off x="7134225" y="3619500"/>
            <a:ext cx="4305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238"/>
                </a:solidFill>
                <a:latin typeface="Helvetica Neue"/>
                <a:ea typeface="Helvetica Neue"/>
                <a:cs typeface="Helvetica Neue"/>
              </a:defRPr>
            </a:pPr>
            <a:r>
              <a:rPr sz="2025" b="0">
                <a:solidFill>
                  <a:srgbClr val="163238"/>
                </a:solidFill>
                <a:latin typeface="Helvetica Neue"/>
                <a:ea typeface="Helvetica Neue"/>
                <a:cs typeface="Helvetica Neue"/>
              </a:rPr>
              <a:t>La contrainte Python indique les versions compatibles.</a:t>
            </a:r>
          </a:p>
        </p:txBody>
      </p:sp>
      <p:sp>
        <p:nvSpPr>
          <p:cNvPr id="8" name="">
            <a:extLst xmlns:a="http://schemas.openxmlformats.org/drawingml/2006/main">
              <a:ext uri="{FF2B5EF4-FFF2-40B4-BE49-F238E27FC236}">
                <a16:creationId xmlns:a16="http://schemas.microsoft.com/office/drawing/2014/main" id="{757BC160-B793-43D7-833E-9241DBEE1C34}"/>
              </a:ext>
            </a:extLst>
          </p:cNvPr>
          <p:cNvSpPr>
            <a:spLocks xmlns:a="http://schemas.openxmlformats.org/drawingml/2006/main" noGrp="1"/>
          </p:cNvSpPr>
          <p:nvPr/>
        </p:nvSpPr>
        <p:spPr>
          <a:xfrm xmlns:a="http://schemas.openxmlformats.org/drawingml/2006/main">
            <a:off x="7134225" y="4619625"/>
            <a:ext cx="43053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63238"/>
                </a:solidFill>
                <a:latin typeface="Helvetica Neue"/>
                <a:ea typeface="Helvetica Neue"/>
                <a:cs typeface="Helvetica Neue"/>
              </a:defRPr>
            </a:pPr>
            <a:r>
              <a:rPr sz="2025" b="0">
                <a:solidFill>
                  <a:srgbClr val="163238"/>
                </a:solidFill>
                <a:latin typeface="Helvetica Neue"/>
                <a:ea typeface="Helvetica Neue"/>
                <a:cs typeface="Helvetica Neue"/>
              </a:rPr>
              <a:t>Les dépendances déclarent les besoins du projet.</a:t>
            </a:r>
          </a:p>
        </p:txBody>
      </p:sp>
      <p:sp>
        <p:nvSpPr>
          <p:cNvPr id="9" name="">
            <a:extLst xmlns:a="http://schemas.openxmlformats.org/drawingml/2006/main">
              <a:ext uri="{FF2B5EF4-FFF2-40B4-BE49-F238E27FC236}">
                <a16:creationId xmlns:a16="http://schemas.microsoft.com/office/drawing/2014/main" id="{606DE9F2-2A3C-4F28-A119-273CDF89C87F}"/>
              </a:ext>
            </a:extLst>
          </p:cNvPr>
          <p:cNvSpPr>
            <a:spLocks xmlns:a="http://schemas.openxmlformats.org/drawingml/2006/main" noGrp="1"/>
          </p:cNvSpPr>
          <p:nvPr/>
        </p:nvSpPr>
        <p:spPr>
          <a:xfrm xmlns:a="http://schemas.openxmlformats.org/drawingml/2006/main">
            <a:off x="685800" y="549592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7C72"/>
                </a:solidFill>
                <a:latin typeface="Helvetica Neue"/>
                <a:ea typeface="Helvetica Neue"/>
                <a:cs typeface="Helvetica Neue"/>
              </a:defRPr>
            </a:pPr>
            <a:r>
              <a:rPr sz="2100" b="0">
                <a:solidFill>
                  <a:srgbClr val="147C72"/>
                </a:solidFill>
                <a:latin typeface="Helvetica Neue"/>
                <a:ea typeface="Helvetica Neue"/>
                <a:cs typeface="Helvetica Neue"/>
              </a:rPr>
              <a:t>Le projet est déclaré; les paquets ne sont pas encore installés.</a:t>
            </a:r>
          </a:p>
        </p:txBody>
      </p:sp>
    </p:spTree>
    <p:extLst>
      <p:ext uri="{BB962C8B-B14F-4D97-AF65-F5344CB8AC3E}">
        <p14:creationId xmlns:p14="http://schemas.microsoft.com/office/powerpoint/2010/main" val="214605573"/>
      </p:ext>
    </p:extLst>
  </p:cSld>
</p:sld>
</file>

<file path=ppt/slides/slide10.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C76126-E718-433D-A82C-11D446086E6D}"/>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Choisir Python et ajouter les dépendances</a:t>
            </a:r>
          </a:p>
        </p:txBody>
      </p:sp>
      <p:sp>
        <p:nvSpPr>
          <p:cNvPr id="2" name="">
            <a:extLst xmlns:a="http://schemas.openxmlformats.org/drawingml/2006/main">
              <a:ext uri="{FF2B5EF4-FFF2-40B4-BE49-F238E27FC236}">
                <a16:creationId xmlns:a16="http://schemas.microsoft.com/office/drawing/2014/main" id="{B301A37B-C625-4E7B-AD70-D3785B7E6288}"/>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1C007739-40A4-496C-8916-6D777B6C5C0E}"/>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étapes 7–8</a:t>
            </a:r>
          </a:p>
        </p:txBody>
      </p:sp>
      <p:sp>
        <p:nvSpPr>
          <p:cNvPr id="4" name="">
            <a:extLst xmlns:a="http://schemas.openxmlformats.org/drawingml/2006/main">
              <a:ext uri="{FF2B5EF4-FFF2-40B4-BE49-F238E27FC236}">
                <a16:creationId xmlns:a16="http://schemas.microsoft.com/office/drawing/2014/main" id="{D1DE5A81-EB5D-4897-9E00-F4D15DAF0DE6}"/>
              </a:ext>
            </a:extLst>
          </p:cNvPr>
          <p:cNvSpPr>
            <a:spLocks xmlns:a="http://schemas.openxmlformats.org/drawingml/2006/main" noGrp="1"/>
          </p:cNvSpPr>
          <p:nvPr/>
        </p:nvSpPr>
        <p:spPr>
          <a:xfrm xmlns:a="http://schemas.openxmlformats.org/drawingml/2006/main">
            <a:off x="685800" y="1866900"/>
            <a:ext cx="604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63238"/>
                </a:solidFill>
                <a:latin typeface="Menlo"/>
                <a:ea typeface="Menlo"/>
                <a:cs typeface="Menlo"/>
              </a:defRPr>
            </a:pPr>
            <a:r>
              <a:rPr sz="2325" b="0">
                <a:solidFill>
                  <a:srgbClr val="163238"/>
                </a:solidFill>
                <a:latin typeface="Menlo"/>
                <a:ea typeface="Menlo"/>
                <a:cs typeface="Menlo"/>
              </a:rPr>
              <a:t>uv python pin 3</a:t>
            </a:r>
          </a:p>
        </p:txBody>
      </p:sp>
      <p:sp>
        <p:nvSpPr>
          <p:cNvPr id="5" name="">
            <a:extLst xmlns:a="http://schemas.openxmlformats.org/drawingml/2006/main">
              <a:ext uri="{FF2B5EF4-FFF2-40B4-BE49-F238E27FC236}">
                <a16:creationId xmlns:a16="http://schemas.microsoft.com/office/drawing/2014/main" id="{7BE86A30-49AD-496A-AC2C-FFB34684ADA5}"/>
              </a:ext>
            </a:extLst>
          </p:cNvPr>
          <p:cNvSpPr>
            <a:spLocks xmlns:a="http://schemas.openxmlformats.org/drawingml/2006/main" noGrp="1"/>
          </p:cNvSpPr>
          <p:nvPr/>
        </p:nvSpPr>
        <p:spPr>
          <a:xfrm xmlns:a="http://schemas.openxmlformats.org/drawingml/2006/main">
            <a:off x="7105650" y="1809750"/>
            <a:ext cx="44100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Crée .python-version</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Préférence : Python 3.</a:t>
            </a:r>
          </a:p>
        </p:txBody>
      </p:sp>
      <p:sp>
        <p:nvSpPr>
          <p:cNvPr id="6" name="">
            <a:extLst xmlns:a="http://schemas.openxmlformats.org/drawingml/2006/main">
              <a:ext uri="{FF2B5EF4-FFF2-40B4-BE49-F238E27FC236}">
                <a16:creationId xmlns:a16="http://schemas.microsoft.com/office/drawing/2014/main" id="{F4390BE2-BDCA-4AC6-AFAD-BFD9ECFEB42E}"/>
              </a:ext>
            </a:extLst>
          </p:cNvPr>
          <p:cNvSpPr>
            <a:spLocks xmlns:a="http://schemas.openxmlformats.org/drawingml/2006/main" noGrp="1"/>
          </p:cNvSpPr>
          <p:nvPr/>
        </p:nvSpPr>
        <p:spPr>
          <a:xfrm xmlns:a="http://schemas.openxmlformats.org/drawingml/2006/main">
            <a:off x="685800" y="3495675"/>
            <a:ext cx="604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63238"/>
                </a:solidFill>
                <a:latin typeface="Menlo"/>
                <a:ea typeface="Menlo"/>
                <a:cs typeface="Menlo"/>
              </a:defRPr>
            </a:pPr>
            <a:r>
              <a:rPr sz="2325" b="0">
                <a:solidFill>
                  <a:srgbClr val="163238"/>
                </a:solidFill>
                <a:latin typeface="Menlo"/>
                <a:ea typeface="Menlo"/>
                <a:cs typeface="Menlo"/>
              </a:rPr>
              <a:t>uv add numpy pandas</a:t>
            </a:r>
          </a:p>
        </p:txBody>
      </p:sp>
      <p:sp>
        <p:nvSpPr>
          <p:cNvPr id="7" name="">
            <a:extLst xmlns:a="http://schemas.openxmlformats.org/drawingml/2006/main">
              <a:ext uri="{FF2B5EF4-FFF2-40B4-BE49-F238E27FC236}">
                <a16:creationId xmlns:a16="http://schemas.microsoft.com/office/drawing/2014/main" id="{D8FBE3EF-EA17-4662-B62B-D1346A3365C9}"/>
              </a:ext>
            </a:extLst>
          </p:cNvPr>
          <p:cNvSpPr>
            <a:spLocks xmlns:a="http://schemas.openxmlformats.org/drawingml/2006/main" noGrp="1"/>
          </p:cNvSpPr>
          <p:nvPr/>
        </p:nvSpPr>
        <p:spPr>
          <a:xfrm xmlns:a="http://schemas.openxmlformats.org/drawingml/2006/main">
            <a:off x="7105650" y="3295650"/>
            <a:ext cx="44100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Met à jour pyproject.toml.</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Crée uv.lock et recrée .venv.</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Installe les paquets résolus.</a:t>
            </a:r>
          </a:p>
        </p:txBody>
      </p:sp>
      <p:sp>
        <p:nvSpPr>
          <p:cNvPr id="8" name="">
            <a:extLst xmlns:a="http://schemas.openxmlformats.org/drawingml/2006/main">
              <a:ext uri="{FF2B5EF4-FFF2-40B4-BE49-F238E27FC236}">
                <a16:creationId xmlns:a16="http://schemas.microsoft.com/office/drawing/2014/main" id="{6BB1C234-21FE-4384-9604-C1913A91B435}"/>
              </a:ext>
            </a:extLst>
          </p:cNvPr>
          <p:cNvSpPr>
            <a:spLocks xmlns:a="http://schemas.openxmlformats.org/drawingml/2006/main" noGrp="1"/>
          </p:cNvSpPr>
          <p:nvPr/>
        </p:nvSpPr>
        <p:spPr>
          <a:xfrm xmlns:a="http://schemas.openxmlformats.org/drawingml/2006/main">
            <a:off x="685800" y="55149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Repérer les nouveaux fichiers avant de relancer le script.</a:t>
            </a:r>
          </a:p>
        </p:txBody>
      </p:sp>
    </p:spTree>
    <p:extLst>
      <p:ext uri="{BB962C8B-B14F-4D97-AF65-F5344CB8AC3E}">
        <p14:creationId xmlns:p14="http://schemas.microsoft.com/office/powerpoint/2010/main" val="1575448351"/>
      </p:ext>
    </p:extLst>
  </p:cSld>
</p:sld>
</file>

<file path=ppt/slides/slide1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2A82BD-3974-428A-BEAF-33D49EF6B255}"/>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verrou et l’environnement installé</a:t>
            </a:r>
          </a:p>
        </p:txBody>
      </p:sp>
      <p:sp>
        <p:nvSpPr>
          <p:cNvPr id="2" name="">
            <a:extLst xmlns:a="http://schemas.openxmlformats.org/drawingml/2006/main">
              <a:ext uri="{FF2B5EF4-FFF2-40B4-BE49-F238E27FC236}">
                <a16:creationId xmlns:a16="http://schemas.microsoft.com/office/drawing/2014/main" id="{6087A2CE-0604-470D-8BF3-791798C29B2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FD86D503-AB85-4AB0-AC05-7D39C2BAEB26}"/>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8</a:t>
            </a:r>
          </a:p>
        </p:txBody>
      </p:sp>
      <p:sp>
        <p:nvSpPr>
          <p:cNvPr id="4" name="">
            <a:extLst xmlns:a="http://schemas.openxmlformats.org/drawingml/2006/main">
              <a:ext uri="{FF2B5EF4-FFF2-40B4-BE49-F238E27FC236}">
                <a16:creationId xmlns:a16="http://schemas.microsoft.com/office/drawing/2014/main" id="{DD6B82EE-4CEC-425B-8992-00015B9D2DFB}"/>
              </a:ext>
            </a:extLst>
          </p:cNvPr>
          <p:cNvSpPr>
            <a:spLocks xmlns:a="http://schemas.openxmlformats.org/drawingml/2006/main" noGrp="1"/>
          </p:cNvSpPr>
          <p:nvPr/>
        </p:nvSpPr>
        <p:spPr>
          <a:xfrm xmlns:a="http://schemas.openxmlformats.org/drawingml/2006/main">
            <a:off x="685800"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uv.lock</a:t>
            </a:r>
          </a:p>
        </p:txBody>
      </p:sp>
      <p:sp>
        <p:nvSpPr>
          <p:cNvPr id="5" name="">
            <a:extLst xmlns:a="http://schemas.openxmlformats.org/drawingml/2006/main">
              <a:ext uri="{FF2B5EF4-FFF2-40B4-BE49-F238E27FC236}">
                <a16:creationId xmlns:a16="http://schemas.microsoft.com/office/drawing/2014/main" id="{215FB271-BD7A-4AF0-9D88-9E993529D83F}"/>
              </a:ext>
            </a:extLst>
          </p:cNvPr>
          <p:cNvSpPr>
            <a:spLocks xmlns:a="http://schemas.openxmlformats.org/drawingml/2006/main" noGrp="1"/>
          </p:cNvSpPr>
          <p:nvPr/>
        </p:nvSpPr>
        <p:spPr>
          <a:xfrm xmlns:a="http://schemas.openxmlformats.org/drawingml/2006/main">
            <a:off x="685800"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 relevé des dépendances résolues.</a:t>
            </a:r>
          </a:p>
        </p:txBody>
      </p:sp>
      <p:sp>
        <p:nvSpPr>
          <p:cNvPr id="6" name="">
            <a:extLst xmlns:a="http://schemas.openxmlformats.org/drawingml/2006/main">
              <a:ext uri="{FF2B5EF4-FFF2-40B4-BE49-F238E27FC236}">
                <a16:creationId xmlns:a16="http://schemas.microsoft.com/office/drawing/2014/main" id="{35D940CD-6BFD-4CC1-A625-AF3FD23B2417}"/>
              </a:ext>
            </a:extLst>
          </p:cNvPr>
          <p:cNvSpPr>
            <a:spLocks xmlns:a="http://schemas.openxmlformats.org/drawingml/2006/main" noGrp="1"/>
          </p:cNvSpPr>
          <p:nvPr/>
        </p:nvSpPr>
        <p:spPr>
          <a:xfrm xmlns:a="http://schemas.openxmlformats.org/drawingml/2006/main">
            <a:off x="685800"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 partager avec pyproject.toml.</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Laisser uv le modifier.</a:t>
            </a:r>
          </a:p>
        </p:txBody>
      </p:sp>
      <p:sp>
        <p:nvSpPr>
          <p:cNvPr id="7" name="">
            <a:extLst xmlns:a="http://schemas.openxmlformats.org/drawingml/2006/main">
              <a:ext uri="{FF2B5EF4-FFF2-40B4-BE49-F238E27FC236}">
                <a16:creationId xmlns:a16="http://schemas.microsoft.com/office/drawing/2014/main" id="{BB48CD91-149F-4680-A9E8-768074A72C4D}"/>
              </a:ext>
            </a:extLst>
          </p:cNvPr>
          <p:cNvSpPr>
            <a:spLocks xmlns:a="http://schemas.openxmlformats.org/drawingml/2006/main" noGrp="1"/>
          </p:cNvSpPr>
          <p:nvPr/>
        </p:nvSpPr>
        <p:spPr>
          <a:xfrm xmlns:a="http://schemas.openxmlformats.org/drawingml/2006/main">
            <a:off x="6410325"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.venv/</a:t>
            </a:r>
          </a:p>
        </p:txBody>
      </p:sp>
      <p:sp>
        <p:nvSpPr>
          <p:cNvPr id="8" name="">
            <a:extLst xmlns:a="http://schemas.openxmlformats.org/drawingml/2006/main">
              <a:ext uri="{FF2B5EF4-FFF2-40B4-BE49-F238E27FC236}">
                <a16:creationId xmlns:a16="http://schemas.microsoft.com/office/drawing/2014/main" id="{42CFFB4F-2BBA-4A77-A156-55DCB50F19E0}"/>
              </a:ext>
            </a:extLst>
          </p:cNvPr>
          <p:cNvSpPr>
            <a:spLocks xmlns:a="http://schemas.openxmlformats.org/drawingml/2006/main" noGrp="1"/>
          </p:cNvSpPr>
          <p:nvPr/>
        </p:nvSpPr>
        <p:spPr>
          <a:xfrm xmlns:a="http://schemas.openxmlformats.org/drawingml/2006/main">
            <a:off x="6410325"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Exécutables Python et paquets installés sur cette machine.</a:t>
            </a:r>
          </a:p>
        </p:txBody>
      </p:sp>
      <p:sp>
        <p:nvSpPr>
          <p:cNvPr id="9" name="">
            <a:extLst xmlns:a="http://schemas.openxmlformats.org/drawingml/2006/main">
              <a:ext uri="{FF2B5EF4-FFF2-40B4-BE49-F238E27FC236}">
                <a16:creationId xmlns:a16="http://schemas.microsoft.com/office/drawing/2014/main" id="{2BA2DE68-B24C-41A8-8C11-56F68C87AAF7}"/>
              </a:ext>
            </a:extLst>
          </p:cNvPr>
          <p:cNvSpPr>
            <a:spLocks xmlns:a="http://schemas.openxmlformats.org/drawingml/2006/main" noGrp="1"/>
          </p:cNvSpPr>
          <p:nvPr/>
        </p:nvSpPr>
        <p:spPr>
          <a:xfrm xmlns:a="http://schemas.openxmlformats.org/drawingml/2006/main">
            <a:off x="6410325"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 recréer pour chaque copie ou machine.</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Ne pas le versionner dans Git.</a:t>
            </a:r>
          </a:p>
        </p:txBody>
      </p:sp>
      <p:sp>
        <p:nvSpPr>
          <p:cNvPr id="10" name="">
            <a:extLst xmlns:a="http://schemas.openxmlformats.org/drawingml/2006/main">
              <a:ext uri="{FF2B5EF4-FFF2-40B4-BE49-F238E27FC236}">
                <a16:creationId xmlns:a16="http://schemas.microsoft.com/office/drawing/2014/main" id="{BAEDFA00-4D2E-475C-B79E-89BA25709A4C}"/>
              </a:ext>
            </a:extLst>
          </p:cNvPr>
          <p:cNvSpPr>
            <a:spLocks xmlns:a="http://schemas.openxmlformats.org/drawingml/2006/main" noGrp="1"/>
          </p:cNvSpPr>
          <p:nvPr/>
        </p:nvSpPr>
        <p:spPr>
          <a:xfrm xmlns:a="http://schemas.openxmlformats.org/drawingml/2006/main">
            <a:off x="685800" y="53721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7C72"/>
                </a:solidFill>
                <a:latin typeface="Helvetica Neue"/>
                <a:ea typeface="Helvetica Neue"/>
                <a:cs typeface="Helvetica Neue"/>
              </a:defRPr>
            </a:pPr>
            <a:r>
              <a:rPr sz="2100" b="1">
                <a:solidFill>
                  <a:srgbClr val="147C72"/>
                </a:solidFill>
                <a:latin typeface="Helvetica Neue"/>
                <a:ea typeface="Helvetica Neue"/>
                <a:cs typeface="Helvetica Neue"/>
              </a:rPr>
              <a:t>uv sync --locked synchronise l’environnement avec un verrou à jour.</a:t>
            </a:r>
          </a:p>
        </p:txBody>
      </p:sp>
    </p:spTree>
    <p:extLst>
      <p:ext uri="{BB962C8B-B14F-4D97-AF65-F5344CB8AC3E}">
        <p14:creationId xmlns:p14="http://schemas.microsoft.com/office/powerpoint/2010/main" val="114612143"/>
      </p:ext>
    </p:extLst>
  </p:cSld>
</p:sld>
</file>

<file path=ppt/slides/slide1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7F8860-7737-4C3D-BFEB-A99AE1BF0C0B}"/>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même script dans la nouvelle .venv</a:t>
            </a:r>
          </a:p>
        </p:txBody>
      </p:sp>
      <p:sp>
        <p:nvSpPr>
          <p:cNvPr id="2" name="">
            <a:extLst xmlns:a="http://schemas.openxmlformats.org/drawingml/2006/main">
              <a:ext uri="{FF2B5EF4-FFF2-40B4-BE49-F238E27FC236}">
                <a16:creationId xmlns:a16="http://schemas.microsoft.com/office/drawing/2014/main" id="{9F3A5F2F-A955-4E96-906C-D482B199ABD5}"/>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AD8DEE1-3375-46A8-A3C4-92E4C36DA577}"/>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 8</a:t>
            </a:r>
          </a:p>
        </p:txBody>
      </p:sp>
      <p:sp>
        <p:nvSpPr>
          <p:cNvPr id="4" name="">
            <a:extLst xmlns:a="http://schemas.openxmlformats.org/drawingml/2006/main">
              <a:ext uri="{FF2B5EF4-FFF2-40B4-BE49-F238E27FC236}">
                <a16:creationId xmlns:a16="http://schemas.microsoft.com/office/drawing/2014/main" id="{0F74D231-3998-4349-A0C0-0FAE1D73727C}"/>
              </a:ext>
            </a:extLst>
          </p:cNvPr>
          <p:cNvSpPr>
            <a:spLocks xmlns:a="http://schemas.openxmlformats.org/drawingml/2006/main" noGrp="1"/>
          </p:cNvSpPr>
          <p:nvPr/>
        </p:nvSpPr>
        <p:spPr>
          <a:xfrm xmlns:a="http://schemas.openxmlformats.org/drawingml/2006/main">
            <a:off x="685800" y="18764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63238"/>
                </a:solidFill>
                <a:latin typeface="Menlo"/>
                <a:ea typeface="Menlo"/>
                <a:cs typeface="Menlo"/>
              </a:defRPr>
            </a:pPr>
            <a:r>
              <a:rPr sz="2400" b="0">
                <a:solidFill>
                  <a:srgbClr val="163238"/>
                </a:solidFill>
                <a:latin typeface="Menlo"/>
                <a:ea typeface="Menlo"/>
                <a:cs typeface="Menlo"/>
              </a:rPr>
              <a:t>uv run python/check_environment.py</a:t>
            </a:r>
          </a:p>
        </p:txBody>
      </p:sp>
      <p:sp>
        <p:nvSpPr>
          <p:cNvPr id="5" name="">
            <a:extLst xmlns:a="http://schemas.openxmlformats.org/drawingml/2006/main">
              <a:ext uri="{FF2B5EF4-FFF2-40B4-BE49-F238E27FC236}">
                <a16:creationId xmlns:a16="http://schemas.microsoft.com/office/drawing/2014/main" id="{75FC63F8-52A7-440D-9D2D-F5DF813F7D32}"/>
              </a:ext>
            </a:extLst>
          </p:cNvPr>
          <p:cNvSpPr>
            <a:spLocks xmlns:a="http://schemas.openxmlformats.org/drawingml/2006/main" noGrp="1"/>
          </p:cNvSpPr>
          <p:nvPr/>
        </p:nvSpPr>
        <p:spPr>
          <a:xfrm xmlns:a="http://schemas.openxmlformats.org/drawingml/2006/main">
            <a:off x="685800" y="31623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uv choisit la .venv du projet et lance le même script.</a:t>
            </a:r>
          </a:p>
        </p:txBody>
      </p:sp>
      <p:sp>
        <p:nvSpPr>
          <p:cNvPr id="6" name="">
            <a:extLst xmlns:a="http://schemas.openxmlformats.org/drawingml/2006/main">
              <a:ext uri="{FF2B5EF4-FFF2-40B4-BE49-F238E27FC236}">
                <a16:creationId xmlns:a16="http://schemas.microsoft.com/office/drawing/2014/main" id="{371E500E-980C-4DEE-836D-DEAEE5190D32}"/>
              </a:ext>
            </a:extLst>
          </p:cNvPr>
          <p:cNvSpPr>
            <a:spLocks xmlns:a="http://schemas.openxmlformats.org/drawingml/2006/main" noGrp="1"/>
          </p:cNvSpPr>
          <p:nvPr/>
        </p:nvSpPr>
        <p:spPr>
          <a:xfrm xmlns:a="http://schemas.openxmlformats.org/drawingml/2006/main">
            <a:off x="685800" y="4019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On retrouve PASS, avec une moyenne de 2,0 et une somme de 6.</a:t>
            </a:r>
          </a:p>
        </p:txBody>
      </p:sp>
      <p:sp>
        <p:nvSpPr>
          <p:cNvPr id="7" name="">
            <a:extLst xmlns:a="http://schemas.openxmlformats.org/drawingml/2006/main">
              <a:ext uri="{FF2B5EF4-FFF2-40B4-BE49-F238E27FC236}">
                <a16:creationId xmlns:a16="http://schemas.microsoft.com/office/drawing/2014/main" id="{8792F74B-83EA-4139-8172-3892A960AD7F}"/>
              </a:ext>
            </a:extLst>
          </p:cNvPr>
          <p:cNvSpPr>
            <a:spLocks xmlns:a="http://schemas.openxmlformats.org/drawingml/2006/main" noGrp="1"/>
          </p:cNvSpPr>
          <p:nvPr/>
        </p:nvSpPr>
        <p:spPr>
          <a:xfrm xmlns:a="http://schemas.openxmlformats.org/drawingml/2006/main">
            <a:off x="685800" y="48768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L’activation et l’appel direct de Python restent possibles.</a:t>
            </a:r>
          </a:p>
        </p:txBody>
      </p:sp>
      <p:sp>
        <p:nvSpPr>
          <p:cNvPr id="8" name="">
            <a:extLst xmlns:a="http://schemas.openxmlformats.org/drawingml/2006/main">
              <a:ext uri="{FF2B5EF4-FFF2-40B4-BE49-F238E27FC236}">
                <a16:creationId xmlns:a16="http://schemas.microsoft.com/office/drawing/2014/main" id="{BC5E0CBE-D9B2-431F-BE82-0AED24674D7F}"/>
              </a:ext>
            </a:extLst>
          </p:cNvPr>
          <p:cNvSpPr>
            <a:spLocks xmlns:a="http://schemas.openxmlformats.org/drawingml/2006/main" noGrp="1"/>
          </p:cNvSpPr>
          <p:nvPr/>
        </p:nvSpPr>
        <p:spPr>
          <a:xfrm xmlns:a="http://schemas.openxmlformats.org/drawingml/2006/main">
            <a:off x="685800" y="56673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7C72"/>
                </a:solidFill>
                <a:latin typeface="Helvetica Neue"/>
                <a:ea typeface="Helvetica Neue"/>
                <a:cs typeface="Helvetica Neue"/>
              </a:defRPr>
            </a:pPr>
            <a:r>
              <a:rPr sz="2100" b="1">
                <a:solidFill>
                  <a:srgbClr val="147C72"/>
                </a:solidFill>
                <a:latin typeface="Helvetica Neue"/>
                <a:ea typeface="Helvetica Neue"/>
                <a:cs typeface="Helvetica Neue"/>
              </a:rPr>
              <a:t>Pour la suite : uv add pour les paquets, uv run pour le code.</a:t>
            </a:r>
          </a:p>
        </p:txBody>
      </p:sp>
    </p:spTree>
    <p:extLst>
      <p:ext uri="{BB962C8B-B14F-4D97-AF65-F5344CB8AC3E}">
        <p14:creationId xmlns:p14="http://schemas.microsoft.com/office/powerpoint/2010/main" val="1938616559"/>
      </p:ext>
    </p:extLst>
  </p:cSld>
</p:sld>
</file>

<file path=ppt/slides/slide1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FC4068-066C-4F42-A00B-AE06B255590E}"/>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Un notebook a besoin d’un noyau Python</a:t>
            </a:r>
          </a:p>
        </p:txBody>
      </p:sp>
      <p:sp>
        <p:nvSpPr>
          <p:cNvPr id="2" name="">
            <a:extLst xmlns:a="http://schemas.openxmlformats.org/drawingml/2006/main">
              <a:ext uri="{FF2B5EF4-FFF2-40B4-BE49-F238E27FC236}">
                <a16:creationId xmlns:a16="http://schemas.microsoft.com/office/drawing/2014/main" id="{120DCCCC-2C7B-4AFA-A86E-D13B0DEBD02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BD3F2769-0BEB-4B9B-896C-21905E2E01C4}"/>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étapes 9–11</a:t>
            </a:r>
          </a:p>
        </p:txBody>
      </p:sp>
      <p:sp>
        <p:nvSpPr>
          <p:cNvPr id="4" name="">
            <a:extLst xmlns:a="http://schemas.openxmlformats.org/drawingml/2006/main">
              <a:ext uri="{FF2B5EF4-FFF2-40B4-BE49-F238E27FC236}">
                <a16:creationId xmlns:a16="http://schemas.microsoft.com/office/drawing/2014/main" id="{0C54705E-C7D9-49CA-9950-7D78151D5B39}"/>
              </a:ext>
            </a:extLst>
          </p:cNvPr>
          <p:cNvSpPr>
            <a:spLocks xmlns:a="http://schemas.openxmlformats.org/drawingml/2006/main" noGrp="1"/>
          </p:cNvSpPr>
          <p:nvPr/>
        </p:nvSpPr>
        <p:spPr>
          <a:xfrm xmlns:a="http://schemas.openxmlformats.org/drawingml/2006/main">
            <a:off x="685800" y="16383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add --dev ipykernel jupyterlab</a:t>
            </a:r>
          </a:p>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add matplotlib scikit-learn</a:t>
            </a:r>
          </a:p>
        </p:txBody>
      </p:sp>
      <p:sp>
        <p:nvSpPr>
          <p:cNvPr id="5" name="">
            <a:extLst xmlns:a="http://schemas.openxmlformats.org/drawingml/2006/main">
              <a:ext uri="{FF2B5EF4-FFF2-40B4-BE49-F238E27FC236}">
                <a16:creationId xmlns:a16="http://schemas.microsoft.com/office/drawing/2014/main" id="{D4AE1F88-3D2F-4C31-97C0-ADF4B4F5EFB3}"/>
              </a:ext>
            </a:extLst>
          </p:cNvPr>
          <p:cNvSpPr>
            <a:spLocks xmlns:a="http://schemas.openxmlformats.org/drawingml/2006/main" noGrp="1"/>
          </p:cNvSpPr>
          <p:nvPr/>
        </p:nvSpPr>
        <p:spPr>
          <a:xfrm xmlns:a="http://schemas.openxmlformats.org/drawingml/2006/main">
            <a:off x="685800" y="292417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Interface</a:t>
            </a:r>
          </a:p>
        </p:txBody>
      </p:sp>
      <p:sp>
        <p:nvSpPr>
          <p:cNvPr id="6" name="">
            <a:extLst xmlns:a="http://schemas.openxmlformats.org/drawingml/2006/main">
              <a:ext uri="{FF2B5EF4-FFF2-40B4-BE49-F238E27FC236}">
                <a16:creationId xmlns:a16="http://schemas.microsoft.com/office/drawing/2014/main" id="{8AD67E6B-54BF-454E-BFD6-66FB9DB2AD0C}"/>
              </a:ext>
            </a:extLst>
          </p:cNvPr>
          <p:cNvSpPr>
            <a:spLocks xmlns:a="http://schemas.openxmlformats.org/drawingml/2006/main" noGrp="1"/>
          </p:cNvSpPr>
          <p:nvPr/>
        </p:nvSpPr>
        <p:spPr>
          <a:xfrm xmlns:a="http://schemas.openxmlformats.org/drawingml/2006/main">
            <a:off x="685800" y="359092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VS Code avec les extensions Python et Jupyter.</a:t>
            </a:r>
          </a:p>
        </p:txBody>
      </p:sp>
      <p:sp>
        <p:nvSpPr>
          <p:cNvPr id="7" name="">
            <a:extLst xmlns:a="http://schemas.openxmlformats.org/drawingml/2006/main">
              <a:ext uri="{FF2B5EF4-FFF2-40B4-BE49-F238E27FC236}">
                <a16:creationId xmlns:a16="http://schemas.microsoft.com/office/drawing/2014/main" id="{6018D9E7-4AB8-4A6E-B0D3-3505192CCCF2}"/>
              </a:ext>
            </a:extLst>
          </p:cNvPr>
          <p:cNvSpPr>
            <a:spLocks xmlns:a="http://schemas.openxmlformats.org/drawingml/2006/main" noGrp="1"/>
          </p:cNvSpPr>
          <p:nvPr/>
        </p:nvSpPr>
        <p:spPr>
          <a:xfrm xmlns:a="http://schemas.openxmlformats.org/drawingml/2006/main">
            <a:off x="685800" y="465772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Ou un navigateur lancé par</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uv run jupyter lab</a:t>
            </a:r>
          </a:p>
        </p:txBody>
      </p:sp>
      <p:sp>
        <p:nvSpPr>
          <p:cNvPr id="8" name="">
            <a:extLst xmlns:a="http://schemas.openxmlformats.org/drawingml/2006/main">
              <a:ext uri="{FF2B5EF4-FFF2-40B4-BE49-F238E27FC236}">
                <a16:creationId xmlns:a16="http://schemas.microsoft.com/office/drawing/2014/main" id="{11E6EEB3-244D-4441-8F34-7DE77A8CABF9}"/>
              </a:ext>
            </a:extLst>
          </p:cNvPr>
          <p:cNvSpPr>
            <a:spLocks xmlns:a="http://schemas.openxmlformats.org/drawingml/2006/main" noGrp="1"/>
          </p:cNvSpPr>
          <p:nvPr/>
        </p:nvSpPr>
        <p:spPr>
          <a:xfrm xmlns:a="http://schemas.openxmlformats.org/drawingml/2006/main">
            <a:off x="6410325" y="292417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Noyau</a:t>
            </a:r>
          </a:p>
        </p:txBody>
      </p:sp>
      <p:sp>
        <p:nvSpPr>
          <p:cNvPr id="9" name="">
            <a:extLst xmlns:a="http://schemas.openxmlformats.org/drawingml/2006/main">
              <a:ext uri="{FF2B5EF4-FFF2-40B4-BE49-F238E27FC236}">
                <a16:creationId xmlns:a16="http://schemas.microsoft.com/office/drawing/2014/main" id="{9A324CF2-00F3-4ABB-B5B9-856FC4965BA7}"/>
              </a:ext>
            </a:extLst>
          </p:cNvPr>
          <p:cNvSpPr>
            <a:spLocks xmlns:a="http://schemas.openxmlformats.org/drawingml/2006/main" noGrp="1"/>
          </p:cNvSpPr>
          <p:nvPr/>
        </p:nvSpPr>
        <p:spPr>
          <a:xfrm xmlns:a="http://schemas.openxmlformats.org/drawingml/2006/main">
            <a:off x="6410325" y="359092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ipykernel exécute le Python de l’environnement choisi.</a:t>
            </a:r>
          </a:p>
        </p:txBody>
      </p:sp>
      <p:sp>
        <p:nvSpPr>
          <p:cNvPr id="10" name="">
            <a:extLst xmlns:a="http://schemas.openxmlformats.org/drawingml/2006/main">
              <a:ext uri="{FF2B5EF4-FFF2-40B4-BE49-F238E27FC236}">
                <a16:creationId xmlns:a16="http://schemas.microsoft.com/office/drawing/2014/main" id="{07BD3C31-8741-4789-8EEC-C32EF9F697BB}"/>
              </a:ext>
            </a:extLst>
          </p:cNvPr>
          <p:cNvSpPr>
            <a:spLocks xmlns:a="http://schemas.openxmlformats.org/drawingml/2006/main" noGrp="1"/>
          </p:cNvSpPr>
          <p:nvPr/>
        </p:nvSpPr>
        <p:spPr>
          <a:xfrm xmlns:a="http://schemas.openxmlformats.org/drawingml/2006/main">
            <a:off x="6410325" y="465772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 noyau possède ses imports, variables et dossier de travail.</a:t>
            </a:r>
          </a:p>
        </p:txBody>
      </p:sp>
    </p:spTree>
    <p:extLst>
      <p:ext uri="{BB962C8B-B14F-4D97-AF65-F5344CB8AC3E}">
        <p14:creationId xmlns:p14="http://schemas.microsoft.com/office/powerpoint/2010/main" val="1028769164"/>
      </p:ext>
    </p:extLst>
  </p:cSld>
</p:sld>
</file>

<file path=ppt/slides/slide1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1F04A8-078A-43DC-9C1F-7B0714C0EA83}"/>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Comparer les façons de gérer le projet</a:t>
            </a:r>
          </a:p>
        </p:txBody>
      </p:sp>
      <p:sp>
        <p:nvSpPr>
          <p:cNvPr id="2" name="">
            <a:extLst xmlns:a="http://schemas.openxmlformats.org/drawingml/2006/main">
              <a:ext uri="{FF2B5EF4-FFF2-40B4-BE49-F238E27FC236}">
                <a16:creationId xmlns:a16="http://schemas.microsoft.com/office/drawing/2014/main" id="{CFBAE7DE-B10D-4CF8-9506-29705A87E3BA}"/>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DB8B0F26-E985-4D7C-AA3B-57618F574E89}"/>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Projet uv; Colab dans Notebook 00</a:t>
            </a:r>
          </a:p>
        </p:txBody>
      </p:sp>
      <p:graphicFrame>
        <p:nvGraphicFramePr>
          <p:cNvPr id="11" name=""/>
          <p:cNvGraphicFramePr/>
          <p:nvPr/>
        </p:nvGraphicFramePr>
        <p:xfrm>
          <a:off xmlns:a="http://schemas.openxmlformats.org/drawingml/2006/main" x="685800" y="1809750"/>
          <a:ext xmlns:a="http://schemas.openxmlformats.org/drawingml/2006/main" cx="10820400" cy="3295650"/>
        </p:xfrm>
        <a:graphic xmlns:a="http://schemas.openxmlformats.org/drawingml/2006/main">
          <a:graphicData uri="http://schemas.openxmlformats.org/drawingml/2006/table">
            <a:tbl>
              <a:tblPr/>
              <a:tblGrid>
                <a:gridCol w="2857500"/>
                <a:gridCol w="4429125"/>
                <a:gridCol w="3533775"/>
              </a:tblGrid>
              <a:tr h="659130">
                <a:tc>
                  <a:txBody>
                    <a:bodyPr>
                      <a:noAutofit/>
                    </a:bodyPr>
                    <a:lstStyle/>
                    <a:p>
                      <a:r>
                        <a:rPr sz="1800" b="1">
                          <a:solidFill>
                            <a:srgbClr val="163238"/>
                          </a:solidFill>
                          <a:latin typeface="Helvetica Neue"/>
                          <a:ea typeface="Helvetica Neue"/>
                          <a:cs typeface="Helvetica Neue"/>
                        </a:rPr>
                        <a:t>Méthode</a:t>
                      </a:r>
                    </a:p>
                  </a:txBody>
                  <a:tcPr marL="114300" marR="114300" marT="85725" marB="76200">
                    <a:solidFill>
                      <a:srgbClr val="E1EEE8"/>
                    </a:solidFill>
                  </a:tcPr>
                </a:tc>
                <a:tc>
                  <a:txBody>
                    <a:bodyPr>
                      <a:noAutofit/>
                    </a:bodyPr>
                    <a:lstStyle/>
                    <a:p>
                      <a:r>
                        <a:rPr sz="1800" b="1">
                          <a:solidFill>
                            <a:srgbClr val="163238"/>
                          </a:solidFill>
                          <a:latin typeface="Helvetica Neue"/>
                          <a:ea typeface="Helvetica Neue"/>
                          <a:cs typeface="Helvetica Neue"/>
                        </a:rPr>
                        <a:t>Relevé des dépendances</a:t>
                      </a:r>
                    </a:p>
                  </a:txBody>
                  <a:tcPr marL="114300" marR="114300" marT="85725" marB="76200">
                    <a:solidFill>
                      <a:srgbClr val="E1EEE8"/>
                    </a:solidFill>
                  </a:tcPr>
                </a:tc>
                <a:tc>
                  <a:txBody>
                    <a:bodyPr>
                      <a:noAutofit/>
                    </a:bodyPr>
                    <a:lstStyle/>
                    <a:p>
                      <a:r>
                        <a:rPr sz="1800" b="1">
                          <a:solidFill>
                            <a:srgbClr val="163238"/>
                          </a:solidFill>
                          <a:latin typeface="Helvetica Neue"/>
                          <a:ea typeface="Helvetica Neue"/>
                          <a:cs typeface="Helvetica Neue"/>
                        </a:rPr>
                        <a:t>Rôle ici</a:t>
                      </a:r>
                    </a:p>
                  </a:txBody>
                  <a:tcPr marL="114300" marR="114300" marT="85725" marB="76200">
                    <a:solidFill>
                      <a:srgbClr val="E1EEE8"/>
                    </a:solidFill>
                  </a:tcPr>
                </a:tc>
              </a:tr>
              <a:tr h="659130">
                <a:tc>
                  <a:txBody>
                    <a:bodyPr>
                      <a:noAutofit/>
                    </a:bodyPr>
                    <a:lstStyle/>
                    <a:p>
                      <a:r>
                        <a:rPr sz="1800" b="0">
                          <a:solidFill>
                            <a:srgbClr val="163238"/>
                          </a:solidFill>
                          <a:latin typeface="Helvetica Neue"/>
                          <a:ea typeface="Helvetica Neue"/>
                          <a:cs typeface="Helvetica Neue"/>
                        </a:rPr>
                        <a:t>venv + pip</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Fichier requirements sauvegardé</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Premier exercice</a:t>
                      </a:r>
                    </a:p>
                  </a:txBody>
                  <a:tcPr marL="114300" marR="114300" marT="85725" marB="76200">
                    <a:solidFill>
                      <a:srgbClr val="FAFCFA"/>
                    </a:solidFill>
                  </a:tcPr>
                </a:tc>
              </a:tr>
              <a:tr h="659130">
                <a:tc>
                  <a:txBody>
                    <a:bodyPr>
                      <a:noAutofit/>
                    </a:bodyPr>
                    <a:lstStyle/>
                    <a:p>
                      <a:r>
                        <a:rPr sz="1800" b="0">
                          <a:solidFill>
                            <a:srgbClr val="163238"/>
                          </a:solidFill>
                          <a:latin typeface="Helvetica Neue"/>
                          <a:ea typeface="Helvetica Neue"/>
                          <a:cs typeface="Helvetica Neue"/>
                        </a:rPr>
                        <a:t>Projet uv</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pyproject.toml + uv.lock</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Méthode conservée</a:t>
                      </a:r>
                    </a:p>
                  </a:txBody>
                  <a:tcPr marL="114300" marR="114300" marT="85725" marB="76200">
                    <a:solidFill>
                      <a:srgbClr val="FAFCFA"/>
                    </a:solidFill>
                  </a:tcPr>
                </a:tc>
              </a:tr>
              <a:tr h="659130">
                <a:tc>
                  <a:txBody>
                    <a:bodyPr>
                      <a:noAutofit/>
                    </a:bodyPr>
                    <a:lstStyle/>
                    <a:p>
                      <a:r>
                        <a:rPr sz="1800" b="0">
                          <a:solidFill>
                            <a:srgbClr val="163238"/>
                          </a:solidFill>
                          <a:latin typeface="Helvetica Neue"/>
                          <a:ea typeface="Helvetica Neue"/>
                          <a:cs typeface="Helvetica Neue"/>
                        </a:rPr>
                        <a:t>uv venv + uv pip</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Fichier requirements, si sauvegardé</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Référence en annexe</a:t>
                      </a:r>
                    </a:p>
                  </a:txBody>
                  <a:tcPr marL="114300" marR="114300" marT="85725" marB="76200">
                    <a:solidFill>
                      <a:srgbClr val="FAFCFA"/>
                    </a:solidFill>
                  </a:tcPr>
                </a:tc>
              </a:tr>
              <a:tr h="659130">
                <a:tc>
                  <a:txBody>
                    <a:bodyPr>
                      <a:noAutofit/>
                    </a:bodyPr>
                    <a:lstStyle/>
                    <a:p>
                      <a:r>
                        <a:rPr sz="1800" b="0">
                          <a:solidFill>
                            <a:srgbClr val="163238"/>
                          </a:solidFill>
                          <a:latin typeface="Helvetica Neue"/>
                          <a:ea typeface="Helvetica Neue"/>
                          <a:cs typeface="Helvetica Neue"/>
                        </a:rPr>
                        <a:t>Colab</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Session hébergée et cellules d’installation</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Travaux hébergés / dépannage</a:t>
                      </a:r>
                    </a:p>
                  </a:txBody>
                  <a:tcPr marL="114300" marR="114300" marT="85725" marB="76200">
                    <a:solidFill>
                      <a:srgbClr val="FAFCFA"/>
                    </a:solidFill>
                  </a:tcPr>
                </a:tc>
              </a:tr>
            </a:tbl>
          </a:graphicData>
        </a:graphic>
      </p:graphicFrame>
      <p:sp>
        <p:nvSpPr>
          <p:cNvPr id="5" name="">
            <a:extLst xmlns:a="http://schemas.openxmlformats.org/drawingml/2006/main">
              <a:ext uri="{FF2B5EF4-FFF2-40B4-BE49-F238E27FC236}">
                <a16:creationId xmlns:a16="http://schemas.microsoft.com/office/drawing/2014/main" id="{C9E4674B-7F90-4C2A-9411-AADC8B49CE52}"/>
              </a:ext>
            </a:extLst>
          </p:cNvPr>
          <p:cNvSpPr>
            <a:spLocks xmlns:a="http://schemas.openxmlformats.org/drawingml/2006/main" noGrp="1"/>
          </p:cNvSpPr>
          <p:nvPr/>
        </p:nvSpPr>
        <p:spPr>
          <a:xfrm xmlns:a="http://schemas.openxmlformats.org/drawingml/2006/main">
            <a:off x="685800" y="547687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La remise à zéro sépare l’exercice manuel du projet uv.</a:t>
            </a:r>
          </a:p>
        </p:txBody>
      </p:sp>
    </p:spTree>
    <p:extLst>
      <p:ext uri="{BB962C8B-B14F-4D97-AF65-F5344CB8AC3E}">
        <p14:creationId xmlns:p14="http://schemas.microsoft.com/office/powerpoint/2010/main" val="1951708388"/>
      </p:ext>
    </p:extLst>
  </p:cSld>
</p:sld>
</file>

<file path=ppt/slides/slide1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7F8860-7737-4C3D-BFEB-A99AE1BF0C0B}"/>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Démarrer un projet uv existant</a:t>
            </a:r>
          </a:p>
        </p:txBody>
      </p:sp>
      <p:sp>
        <p:nvSpPr>
          <p:cNvPr id="2" name="">
            <a:extLst xmlns:a="http://schemas.openxmlformats.org/drawingml/2006/main">
              <a:ext uri="{FF2B5EF4-FFF2-40B4-BE49-F238E27FC236}">
                <a16:creationId xmlns:a16="http://schemas.microsoft.com/office/drawing/2014/main" id="{9F3A5F2F-A955-4E96-906C-D482B199ABD5}"/>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4AD8DEE1-3375-46A8-A3C4-92E4C36DA577}"/>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Après git pull : uv sync --locked · Le projet existe déjà, donc pas de uv init</a:t>
            </a:r>
          </a:p>
        </p:txBody>
      </p:sp>
      <p:sp>
        <p:nvSpPr>
          <p:cNvPr id="10" name="">
            <a:extLst xmlns:a="http://schemas.openxmlformats.org/drawingml/2006/main">
              <a:ext uri="{FF2B5EF4-FFF2-40B4-BE49-F238E27FC236}">
                <a16:creationId xmlns:a16="http://schemas.microsoft.com/office/drawing/2014/main" id="{C008C000-A118-4BF0-840C-E1CF044DF2A2}"/>
              </a:ext>
            </a:extLst>
          </p:cNvPr>
          <p:cNvSpPr>
            <a:spLocks xmlns:a="http://schemas.openxmlformats.org/drawingml/2006/main" noGrp="1"/>
          </p:cNvSpPr>
          <p:nvPr/>
        </p:nvSpPr>
        <p:spPr>
          <a:xfrm xmlns:a="http://schemas.openxmlformats.org/drawingml/2006/main">
            <a:off x="685800" y="1571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0D827B"/>
                </a:solidFill>
                <a:latin typeface="Helvetica Neue"/>
                <a:ea typeface="Helvetica Neue"/>
                <a:cs typeface="Helvetica Neue"/>
              </a:defRPr>
            </a:pPr>
            <a:r>
              <a:rPr sz="2025" b="1">
                <a:solidFill>
                  <a:srgbClr val="0D827B"/>
                </a:solidFill>
                <a:latin typeface="Helvetica Neue"/>
                <a:ea typeface="Helvetica Neue"/>
                <a:cs typeface="Helvetica Neue"/>
              </a:rPr>
              <a:t>Dépôt avec pyproject.toml et uv.lock · uv doit être installé</a:t>
            </a:r>
          </a:p>
        </p:txBody>
      </p:sp>
      <p:sp>
        <p:nvSpPr>
          <p:cNvPr id="11" name="">
            <a:extLst xmlns:a="http://schemas.openxmlformats.org/drawingml/2006/main">
              <a:ext uri="{FF2B5EF4-FFF2-40B4-BE49-F238E27FC236}">
                <a16:creationId xmlns:a16="http://schemas.microsoft.com/office/drawing/2014/main" id="{255A9A50-4DD2-40AD-A6F6-752C962314ED}"/>
              </a:ext>
            </a:extLst>
          </p:cNvPr>
          <p:cNvSpPr>
            <a:spLocks xmlns:a="http://schemas.openxmlformats.org/drawingml/2006/main" noGrp="1"/>
          </p:cNvSpPr>
          <p:nvPr/>
        </p:nvSpPr>
        <p:spPr>
          <a:xfrm xmlns:a="http://schemas.openxmlformats.org/drawingml/2006/main">
            <a:off x="685800" y="22860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343A"/>
                </a:solidFill>
                <a:latin typeface="Menlo"/>
                <a:ea typeface="Menlo"/>
                <a:cs typeface="Menlo"/>
              </a:defRPr>
            </a:pPr>
            <a:r>
              <a:rPr sz="2100" b="0">
                <a:solidFill>
                  <a:srgbClr val="17343A"/>
                </a:solidFill>
                <a:latin typeface="Menlo"/>
                <a:ea typeface="Menlo"/>
                <a:cs typeface="Menlo"/>
              </a:rPr>
              <a:t>git clone URL_DU_DEPOT mon-projet</a:t>
            </a:r>
          </a:p>
          <a:p xmlns:a="http://schemas.openxmlformats.org/drawingml/2006/main">
            <a:pPr>
              <a:defRPr sz="2100" b="0">
                <a:solidFill>
                  <a:srgbClr val="17343A"/>
                </a:solidFill>
                <a:latin typeface="Menlo"/>
                <a:ea typeface="Menlo"/>
                <a:cs typeface="Menlo"/>
              </a:defRPr>
            </a:pPr>
            <a:r>
              <a:rPr sz="2100" b="0">
                <a:solidFill>
                  <a:srgbClr val="17343A"/>
                </a:solidFill>
                <a:latin typeface="Menlo"/>
                <a:ea typeface="Menlo"/>
                <a:cs typeface="Menlo"/>
              </a:rPr>
              <a:t>cd mon-projet</a:t>
            </a:r>
          </a:p>
          <a:p xmlns:a="http://schemas.openxmlformats.org/drawingml/2006/main">
            <a:r>
              <a:t/>
            </a:r>
          </a:p>
          <a:p xmlns:a="http://schemas.openxmlformats.org/drawingml/2006/main">
            <a:pPr>
              <a:defRPr sz="2100" b="0">
                <a:solidFill>
                  <a:srgbClr val="17343A"/>
                </a:solidFill>
                <a:latin typeface="Menlo"/>
                <a:ea typeface="Menlo"/>
                <a:cs typeface="Menlo"/>
              </a:defRPr>
            </a:pPr>
            <a:r>
              <a:rPr sz="2100" b="0">
                <a:solidFill>
                  <a:srgbClr val="17343A"/>
                </a:solidFill>
                <a:latin typeface="Menlo"/>
                <a:ea typeface="Menlo"/>
                <a:cs typeface="Menlo"/>
              </a:rPr>
              <a:t>uv sync --locked</a:t>
            </a:r>
          </a:p>
          <a:p xmlns:a="http://schemas.openxmlformats.org/drawingml/2006/main">
            <a:pPr>
              <a:defRPr sz="2100" b="0">
                <a:solidFill>
                  <a:srgbClr val="17343A"/>
                </a:solidFill>
                <a:latin typeface="Menlo"/>
                <a:ea typeface="Menlo"/>
                <a:cs typeface="Menlo"/>
              </a:defRPr>
            </a:pPr>
            <a:r>
              <a:rPr sz="2100" b="0">
                <a:solidFill>
                  <a:srgbClr val="17343A"/>
                </a:solidFill>
                <a:latin typeface="Menlo"/>
                <a:ea typeface="Menlo"/>
                <a:cs typeface="Menlo"/>
              </a:rPr>
              <a:t>uv run python --version</a:t>
            </a:r>
          </a:p>
        </p:txBody>
      </p:sp>
      <p:sp>
        <p:nvSpPr>
          <p:cNvPr id="12" name="">
            <a:extLst xmlns:a="http://schemas.openxmlformats.org/drawingml/2006/main">
              <a:ext uri="{FF2B5EF4-FFF2-40B4-BE49-F238E27FC236}">
                <a16:creationId xmlns:a16="http://schemas.microsoft.com/office/drawing/2014/main" id="{91169264-71B9-489C-9AE6-D6FCE7FD4651}"/>
              </a:ext>
            </a:extLst>
          </p:cNvPr>
          <p:cNvSpPr>
            <a:spLocks xmlns:a="http://schemas.openxmlformats.org/drawingml/2006/main" noGrp="1"/>
          </p:cNvSpPr>
          <p:nvPr/>
        </p:nvSpPr>
        <p:spPr>
          <a:xfrm xmlns:a="http://schemas.openxmlformats.org/drawingml/2006/main">
            <a:off x="7429500" y="2238375"/>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Remplacer URL_DU_DEPOT par l’adresse fournie.</a:t>
            </a:r>
          </a:p>
        </p:txBody>
      </p:sp>
      <p:sp>
        <p:nvSpPr>
          <p:cNvPr id="13" name="">
            <a:extLst xmlns:a="http://schemas.openxmlformats.org/drawingml/2006/main">
              <a:ext uri="{FF2B5EF4-FFF2-40B4-BE49-F238E27FC236}">
                <a16:creationId xmlns:a16="http://schemas.microsoft.com/office/drawing/2014/main" id="{CEAA7952-5B08-4282-AF88-BB5C84FE70A8}"/>
              </a:ext>
            </a:extLst>
          </p:cNvPr>
          <p:cNvSpPr>
            <a:spLocks xmlns:a="http://schemas.openxmlformats.org/drawingml/2006/main" noGrp="1"/>
          </p:cNvSpPr>
          <p:nvPr/>
        </p:nvSpPr>
        <p:spPr>
          <a:xfrm xmlns:a="http://schemas.openxmlformats.org/drawingml/2006/main">
            <a:off x="7429500" y="3190875"/>
            <a:ext cx="40481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uv sync recrée .venv.</a:t>
            </a:r>
          </a:p>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--locked exige un verrou à jour.</a:t>
            </a:r>
          </a:p>
          <a:p xmlns:a="http://schemas.openxmlformats.org/drawingml/2006/main">
            <a:r>
              <a:t/>
            </a:r>
          </a:p>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uv run utilise cet environnement, sans activation.</a:t>
            </a:r>
          </a:p>
        </p:txBody>
      </p:sp>
      <p:sp>
        <p:nvSpPr>
          <p:cNvPr id="14" name="">
            <a:extLst xmlns:a="http://schemas.openxmlformats.org/drawingml/2006/main">
              <a:ext uri="{FF2B5EF4-FFF2-40B4-BE49-F238E27FC236}">
                <a16:creationId xmlns:a16="http://schemas.microsoft.com/office/drawing/2014/main" id="{E0CD007A-5A5F-4744-9EF9-B3620144CCC1}"/>
              </a:ext>
            </a:extLst>
          </p:cNvPr>
          <p:cNvSpPr>
            <a:spLocks xmlns:a="http://schemas.openxmlformats.org/drawingml/2006/main" noGrp="1"/>
          </p:cNvSpPr>
          <p:nvPr/>
        </p:nvSpPr>
        <p:spPr>
          <a:xfrm xmlns:a="http://schemas.openxmlformats.org/drawingml/2006/main">
            <a:off x="685800" y="51244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0D827B"/>
                </a:solidFill>
                <a:latin typeface="Helvetica Neue"/>
                <a:ea typeface="Helvetica Neue"/>
                <a:cs typeface="Helvetica Neue"/>
              </a:defRPr>
            </a:pPr>
            <a:r>
              <a:rPr sz="2025" b="1">
                <a:solidFill>
                  <a:srgbClr val="0D827B"/>
                </a:solidFill>
                <a:latin typeface="Helvetica Neue"/>
                <a:ea typeface="Helvetica Neue"/>
                <a:cs typeface="Helvetica Neue"/>
              </a:rPr>
              <a:t>Si le projet fournit JupyterLab :</a:t>
            </a:r>
          </a:p>
        </p:txBody>
      </p:sp>
      <p:sp>
        <p:nvSpPr>
          <p:cNvPr id="15" name="">
            <a:extLst xmlns:a="http://schemas.openxmlformats.org/drawingml/2006/main">
              <a:ext uri="{FF2B5EF4-FFF2-40B4-BE49-F238E27FC236}">
                <a16:creationId xmlns:a16="http://schemas.microsoft.com/office/drawing/2014/main" id="{4E402E14-00F9-48E9-B4A0-87F07F94A500}"/>
              </a:ext>
            </a:extLst>
          </p:cNvPr>
          <p:cNvSpPr>
            <a:spLocks xmlns:a="http://schemas.openxmlformats.org/drawingml/2006/main" noGrp="1"/>
          </p:cNvSpPr>
          <p:nvPr/>
        </p:nvSpPr>
        <p:spPr>
          <a:xfrm xmlns:a="http://schemas.openxmlformats.org/drawingml/2006/main">
            <a:off x="685800" y="5562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7343A"/>
                </a:solidFill>
                <a:latin typeface="Menlo"/>
                <a:ea typeface="Menlo"/>
                <a:cs typeface="Menlo"/>
              </a:defRPr>
            </a:pPr>
            <a:r>
              <a:rPr sz="2175" b="0">
                <a:solidFill>
                  <a:srgbClr val="17343A"/>
                </a:solidFill>
                <a:latin typeface="Menlo"/>
                <a:ea typeface="Menlo"/>
                <a:cs typeface="Menlo"/>
              </a:rPr>
              <a:t>uv run jupyter lab</a:t>
            </a:r>
          </a:p>
        </p:txBody>
      </p:sp>
    </p:spTree>
    <p:extLst>
      <p:ext uri="{BB962C8B-B14F-4D97-AF65-F5344CB8AC3E}">
        <p14:creationId xmlns:p14="http://schemas.microsoft.com/office/powerpoint/2010/main" val="1938616559"/>
      </p:ext>
    </p:extLst>
  </p:cSld>
</p:sld>
</file>

<file path=ppt/slides/slide16.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5B970F-9F53-4F90-8373-3112D33BAD24}"/>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La suite : les notebooks</a:t>
            </a:r>
          </a:p>
        </p:txBody>
      </p:sp>
      <p:sp>
        <p:nvSpPr>
          <p:cNvPr id="2" name="">
            <a:extLst xmlns:a="http://schemas.openxmlformats.org/drawingml/2006/main">
              <a:ext uri="{FF2B5EF4-FFF2-40B4-BE49-F238E27FC236}">
                <a16:creationId xmlns:a16="http://schemas.microsoft.com/office/drawing/2014/main" id="{0D94CE43-A7E5-4E27-9817-18531C2DC3F1}"/>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A71D55B1-F0DF-4811-B72F-96864F3EDE49}"/>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Notebooks en français : notebooks/fr/</a:t>
            </a:r>
          </a:p>
        </p:txBody>
      </p:sp>
      <p:graphicFrame>
        <p:nvGraphicFramePr>
          <p:cNvPr id="11" name=""/>
          <p:cNvGraphicFramePr/>
          <p:nvPr/>
        </p:nvGraphicFramePr>
        <p:xfrm>
          <a:off xmlns:a="http://schemas.openxmlformats.org/drawingml/2006/main" x="685800" y="1676400"/>
          <a:ext xmlns:a="http://schemas.openxmlformats.org/drawingml/2006/main" cx="10820400" cy="3676650"/>
        </p:xfrm>
        <a:graphic xmlns:a="http://schemas.openxmlformats.org/drawingml/2006/main">
          <a:graphicData uri="http://schemas.openxmlformats.org/drawingml/2006/table">
            <a:tbl>
              <a:tblPr/>
              <a:tblGrid>
                <a:gridCol w="2857500"/>
                <a:gridCol w="7962900"/>
              </a:tblGrid>
              <a:tr h="612775">
                <a:tc>
                  <a:txBody>
                    <a:bodyPr/>
                    <a:lstStyle/>
                    <a:p>
                      <a:r>
                        <a:rPr sz="1875" b="1">
                          <a:solidFill>
                            <a:srgbClr val="17343A"/>
                          </a:solidFill>
                          <a:latin typeface="Helvetica Neue"/>
                          <a:ea typeface="Helvetica Neue"/>
                          <a:cs typeface="Helvetica Neue"/>
                        </a:rPr>
                        <a:t>Thème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Ce que les diapositives expliquent</a:t>
                      </a:r>
                    </a:p>
                  </a:txBody>
                  <a:tcPr marL="104775" marR="104775" marT="95250" marB="76200" anchor="t">
                    <a:solidFill>
                      <a:srgbClr val="E1EEEA"/>
                    </a:solidFill>
                  </a:tcPr>
                </a:tc>
              </a:tr>
              <a:tr h="612775">
                <a:tc>
                  <a:txBody>
                    <a:bodyPr/>
                    <a:lstStyle/>
                    <a:p>
                      <a:r>
                        <a:rPr sz="1875">
                          <a:solidFill>
                            <a:srgbClr val="17343A"/>
                          </a:solidFill>
                          <a:latin typeface="Helvetica Neue"/>
                          <a:ea typeface="Helvetica Neue"/>
                          <a:cs typeface="Helvetica Neue"/>
                        </a:rPr>
                        <a:t>Projet reproductible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Pourquoi conserver le code, les versions et le contexte</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NumPy</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Pourquoi utiliser des tableaux et comprendre leurs dimensions</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pandas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Le rôle des étiquettes et les limites des résumés</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Apprentissage automatique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La différence entre entraîner un modèle et l’évaluer</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Pratique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Prédire, exécuter, expliquer; poursuivre après le cours</a:t>
                      </a:r>
                    </a:p>
                  </a:txBody>
                  <a:tcPr marL="104775" marR="104775" marT="95250" marB="76200" anchor="t">
                    <a:solidFill>
                      <a:srgbClr val="F8FBFA"/>
                    </a:solidFill>
                  </a:tcPr>
                </a:tc>
              </a:tr>
            </a:tbl>
          </a:graphicData>
        </a:graphic>
      </p:graphicFrame>
    </p:spTree>
    <p:extLst>
      <p:ext uri="{BB962C8B-B14F-4D97-AF65-F5344CB8AC3E}">
        <p14:creationId xmlns:p14="http://schemas.microsoft.com/office/powerpoint/2010/main" val="299294030"/>
      </p:ext>
    </p:extLst>
  </p:cSld>
</p:sld>
</file>

<file path=ppt/slides/slide17.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Pourquoi rendre un projet reproductible?</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Reproductibilité · python/README.md</a:t>
            </a:r>
          </a:p>
        </p:txBody>
      </p:sp>
      <p:sp>
        <p:nvSpPr>
          <p:cNvPr id="9" name="">
            <a:extLst xmlns:a="http://schemas.openxmlformats.org/drawingml/2006/main">
              <a:ext uri="{FF2B5EF4-FFF2-40B4-BE49-F238E27FC236}">
                <a16:creationId xmlns:a16="http://schemas.microsoft.com/office/drawing/2014/main" id="{B1AE36A3-A5E1-4812-A7BA-318662E095A8}"/>
              </a:ext>
            </a:extLst>
          </p:cNvPr>
          <p:cNvSpPr>
            <a:spLocks xmlns:a="http://schemas.openxmlformats.org/drawingml/2006/main" noGrp="1"/>
          </p:cNvSpPr>
          <p:nvPr/>
        </p:nvSpPr>
        <p:spPr>
          <a:xfrm xmlns:a="http://schemas.openxmlformats.org/drawingml/2006/main">
            <a:off x="685800" y="17621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Ce qui peut changer</a:t>
            </a:r>
          </a:p>
        </p:txBody>
      </p:sp>
      <p:sp>
        <p:nvSpPr>
          <p:cNvPr id="10" name="">
            <a:extLst xmlns:a="http://schemas.openxmlformats.org/drawingml/2006/main">
              <a:ext uri="{FF2B5EF4-FFF2-40B4-BE49-F238E27FC236}">
                <a16:creationId xmlns:a16="http://schemas.microsoft.com/office/drawing/2014/main" id="{62272D4B-212B-43A9-BE5A-391B53AA0D58}"/>
              </a:ext>
            </a:extLst>
          </p:cNvPr>
          <p:cNvSpPr>
            <a:spLocks xmlns:a="http://schemas.openxmlformats.org/drawingml/2006/main" noGrp="1"/>
          </p:cNvSpPr>
          <p:nvPr/>
        </p:nvSpPr>
        <p:spPr>
          <a:xfrm xmlns:a="http://schemas.openxmlformats.org/drawingml/2006/main">
            <a:off x="685800" y="2476500"/>
            <a:ext cx="5048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Une autre version de Python ou d’un paquet peut changer le résultat.</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Un notebook peut aussi dépendre de cellules exécutées auparavant.</a:t>
            </a:r>
          </a:p>
        </p:txBody>
      </p:sp>
      <p:sp>
        <p:nvSpPr>
          <p:cNvPr id="11" name="">
            <a:extLst xmlns:a="http://schemas.openxmlformats.org/drawingml/2006/main">
              <a:ext uri="{FF2B5EF4-FFF2-40B4-BE49-F238E27FC236}">
                <a16:creationId xmlns:a16="http://schemas.microsoft.com/office/drawing/2014/main" id="{C6E3552B-99B5-428B-979C-AF63E2BD68F1}"/>
              </a:ext>
            </a:extLst>
          </p:cNvPr>
          <p:cNvSpPr>
            <a:spLocks xmlns:a="http://schemas.openxmlformats.org/drawingml/2006/main" noGrp="1"/>
          </p:cNvSpPr>
          <p:nvPr/>
        </p:nvSpPr>
        <p:spPr>
          <a:xfrm xmlns:a="http://schemas.openxmlformats.org/drawingml/2006/main">
            <a:off x="6477000" y="1762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Ce qu’il faut conserver</a:t>
            </a:r>
          </a:p>
        </p:txBody>
      </p:sp>
      <p:sp>
        <p:nvSpPr>
          <p:cNvPr id="12" name="">
            <a:extLst xmlns:a="http://schemas.openxmlformats.org/drawingml/2006/main">
              <a:ext uri="{FF2B5EF4-FFF2-40B4-BE49-F238E27FC236}">
                <a16:creationId xmlns:a16="http://schemas.microsoft.com/office/drawing/2014/main" id="{3577B42B-04E2-431D-9998-20ACD54003A8}"/>
              </a:ext>
            </a:extLst>
          </p:cNvPr>
          <p:cNvSpPr>
            <a:spLocks xmlns:a="http://schemas.openxmlformats.org/drawingml/2006/main" noGrp="1"/>
          </p:cNvSpPr>
          <p:nvPr/>
        </p:nvSpPr>
        <p:spPr>
          <a:xfrm xmlns:a="http://schemas.openxmlformats.org/drawingml/2006/main">
            <a:off x="6477000" y="24765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Le code, la provenance des données et les versions des dépendances.</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La graine du découpage, les réglages du modèle et le résultat.</a:t>
            </a:r>
          </a:p>
        </p:txBody>
      </p:sp>
      <p:sp>
        <p:nvSpPr>
          <p:cNvPr id="13" name="">
            <a:extLst xmlns:a="http://schemas.openxmlformats.org/drawingml/2006/main">
              <a:ext uri="{FF2B5EF4-FFF2-40B4-BE49-F238E27FC236}">
                <a16:creationId xmlns:a16="http://schemas.microsoft.com/office/drawing/2014/main" id="{89DAC9F0-CA0C-4088-9A68-1076D1FA56E7}"/>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Relancer le projet vérifie que les fichiers sauvegardés suffisent.</a:t>
            </a:r>
          </a:p>
        </p:txBody>
      </p:sp>
    </p:spTree>
    <p:extLst>
      <p:ext uri="{BB962C8B-B14F-4D97-AF65-F5344CB8AC3E}">
        <p14:creationId xmlns:p14="http://schemas.microsoft.com/office/powerpoint/2010/main" val="1577667620"/>
      </p:ext>
    </p:extLst>
  </p:cSld>
</p:sld>
</file>

<file path=ppt/slides/slide18.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8BAD63-C344-4F1F-8B0F-F99BB4414F4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dossier du projet et ses notebooks</a:t>
            </a:r>
          </a:p>
        </p:txBody>
      </p:sp>
      <p:sp>
        <p:nvSpPr>
          <p:cNvPr id="2" name="">
            <a:extLst xmlns:a="http://schemas.openxmlformats.org/drawingml/2006/main">
              <a:ext uri="{FF2B5EF4-FFF2-40B4-BE49-F238E27FC236}">
                <a16:creationId xmlns:a16="http://schemas.microsoft.com/office/drawing/2014/main" id="{1CBE6E00-4A30-480A-924B-6E331F1CD0E2}"/>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92EC8FB7-07D2-4105-B763-DC0006397E12}"/>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python/README.md · Commandes depuis demo_1</a:t>
            </a:r>
          </a:p>
        </p:txBody>
      </p:sp>
      <p:sp>
        <p:nvSpPr>
          <p:cNvPr id="4" name="">
            <a:extLst xmlns:a="http://schemas.openxmlformats.org/drawingml/2006/main">
              <a:ext uri="{FF2B5EF4-FFF2-40B4-BE49-F238E27FC236}">
                <a16:creationId xmlns:a16="http://schemas.microsoft.com/office/drawing/2014/main" id="{A28746C5-F261-4452-842B-CD7845055D9B}"/>
              </a:ext>
            </a:extLst>
          </p:cNvPr>
          <p:cNvSpPr>
            <a:spLocks xmlns:a="http://schemas.openxmlformats.org/drawingml/2006/main" noGrp="1"/>
          </p:cNvSpPr>
          <p:nvPr/>
        </p:nvSpPr>
        <p:spPr>
          <a:xfrm xmlns:a="http://schemas.openxmlformats.org/drawingml/2006/main">
            <a:off x="685800" y="16478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Le contenu de demo_1</a:t>
            </a:r>
          </a:p>
        </p:txBody>
      </p:sp>
      <p:sp>
        <p:nvSpPr>
          <p:cNvPr id="5" name="">
            <a:extLst xmlns:a="http://schemas.openxmlformats.org/drawingml/2006/main">
              <a:ext uri="{FF2B5EF4-FFF2-40B4-BE49-F238E27FC236}">
                <a16:creationId xmlns:a16="http://schemas.microsoft.com/office/drawing/2014/main" id="{A2DBCBB8-426C-4ED7-BB8E-85117EBA3CDA}"/>
              </a:ext>
            </a:extLst>
          </p:cNvPr>
          <p:cNvSpPr>
            <a:spLocks xmlns:a="http://schemas.openxmlformats.org/drawingml/2006/main" noGrp="1"/>
          </p:cNvSpPr>
          <p:nvPr/>
        </p:nvSpPr>
        <p:spPr>
          <a:xfrm xmlns:a="http://schemas.openxmlformats.org/drawingml/2006/main">
            <a:off x="685800" y="231457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python/README.md</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Instructions de configuration.</a:t>
            </a:r>
          </a:p>
        </p:txBody>
      </p:sp>
      <p:sp>
        <p:nvSpPr>
          <p:cNvPr id="6" name="">
            <a:extLst xmlns:a="http://schemas.openxmlformats.org/drawingml/2006/main">
              <a:ext uri="{FF2B5EF4-FFF2-40B4-BE49-F238E27FC236}">
                <a16:creationId xmlns:a16="http://schemas.microsoft.com/office/drawing/2014/main" id="{FA2942B5-4597-49E6-B111-1C9B3F532964}"/>
              </a:ext>
            </a:extLst>
          </p:cNvPr>
          <p:cNvSpPr>
            <a:spLocks xmlns:a="http://schemas.openxmlformats.org/drawingml/2006/main" noGrp="1"/>
          </p:cNvSpPr>
          <p:nvPr/>
        </p:nvSpPr>
        <p:spPr>
          <a:xfrm xmlns:a="http://schemas.openxmlformats.org/drawingml/2006/main">
            <a:off x="685800" y="338137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python/</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Scripts de vérification et de remise à zéro.</a:t>
            </a:r>
          </a:p>
        </p:txBody>
      </p:sp>
      <p:sp>
        <p:nvSpPr>
          <p:cNvPr id="7" name="">
            <a:extLst xmlns:a="http://schemas.openxmlformats.org/drawingml/2006/main">
              <a:ext uri="{FF2B5EF4-FFF2-40B4-BE49-F238E27FC236}">
                <a16:creationId xmlns:a16="http://schemas.microsoft.com/office/drawing/2014/main" id="{DB4ADA35-C87F-4756-B7AD-C8B672FDC94B}"/>
              </a:ext>
            </a:extLst>
          </p:cNvPr>
          <p:cNvSpPr>
            <a:spLocks xmlns:a="http://schemas.openxmlformats.org/drawingml/2006/main" noGrp="1"/>
          </p:cNvSpPr>
          <p:nvPr/>
        </p:nvSpPr>
        <p:spPr>
          <a:xfrm xmlns:a="http://schemas.openxmlformats.org/drawingml/2006/main">
            <a:off x="685800" y="444817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notebooks/en/ et notebooks/fr/</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Les mêmes leçons en deux langues.</a:t>
            </a:r>
          </a:p>
        </p:txBody>
      </p:sp>
      <p:sp>
        <p:nvSpPr>
          <p:cNvPr id="8" name="">
            <a:extLst xmlns:a="http://schemas.openxmlformats.org/drawingml/2006/main">
              <a:ext uri="{FF2B5EF4-FFF2-40B4-BE49-F238E27FC236}">
                <a16:creationId xmlns:a16="http://schemas.microsoft.com/office/drawing/2014/main" id="{EA2A62DF-946D-4E69-A3F2-C9231DC70906}"/>
              </a:ext>
            </a:extLst>
          </p:cNvPr>
          <p:cNvSpPr>
            <a:spLocks xmlns:a="http://schemas.openxmlformats.org/drawingml/2006/main" noGrp="1"/>
          </p:cNvSpPr>
          <p:nvPr/>
        </p:nvSpPr>
        <p:spPr>
          <a:xfrm xmlns:a="http://schemas.openxmlformats.org/drawingml/2006/main">
            <a:off x="6477000" y="16478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Travail local</a:t>
            </a:r>
          </a:p>
        </p:txBody>
      </p:sp>
      <p:sp>
        <p:nvSpPr>
          <p:cNvPr id="9" name="">
            <a:extLst xmlns:a="http://schemas.openxmlformats.org/drawingml/2006/main">
              <a:ext uri="{FF2B5EF4-FFF2-40B4-BE49-F238E27FC236}">
                <a16:creationId xmlns:a16="http://schemas.microsoft.com/office/drawing/2014/main" id="{C288E8CE-A252-453F-90A9-742B2C9F2AEE}"/>
              </a:ext>
            </a:extLst>
          </p:cNvPr>
          <p:cNvSpPr>
            <a:spLocks xmlns:a="http://schemas.openxmlformats.org/drawingml/2006/main" noGrp="1"/>
          </p:cNvSpPr>
          <p:nvPr/>
        </p:nvSpPr>
        <p:spPr>
          <a:xfrm xmlns:a="http://schemas.openxmlformats.org/drawingml/2006/main">
            <a:off x="6477000" y="23145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Ouvrir demo_1 comme dossier de projet.</a:t>
            </a:r>
          </a:p>
        </p:txBody>
      </p:sp>
      <p:sp>
        <p:nvSpPr>
          <p:cNvPr id="10" name="">
            <a:extLst xmlns:a="http://schemas.openxmlformats.org/drawingml/2006/main">
              <a:ext uri="{FF2B5EF4-FFF2-40B4-BE49-F238E27FC236}">
                <a16:creationId xmlns:a16="http://schemas.microsoft.com/office/drawing/2014/main" id="{8F05F032-2056-4B9A-9BA5-D21D34EC89EF}"/>
              </a:ext>
            </a:extLst>
          </p:cNvPr>
          <p:cNvSpPr>
            <a:spLocks xmlns:a="http://schemas.openxmlformats.org/drawingml/2006/main" noGrp="1"/>
          </p:cNvSpPr>
          <p:nvPr/>
        </p:nvSpPr>
        <p:spPr>
          <a:xfrm xmlns:a="http://schemas.openxmlformats.org/drawingml/2006/main">
            <a:off x="6477000" y="33813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Exécuter les commandes depuis demo_1.</a:t>
            </a:r>
          </a:p>
        </p:txBody>
      </p:sp>
      <p:sp>
        <p:nvSpPr>
          <p:cNvPr id="11" name="">
            <a:extLst xmlns:a="http://schemas.openxmlformats.org/drawingml/2006/main">
              <a:ext uri="{FF2B5EF4-FFF2-40B4-BE49-F238E27FC236}">
                <a16:creationId xmlns:a16="http://schemas.microsoft.com/office/drawing/2014/main" id="{EB5B240F-D5F2-4183-A974-F2691D96E042}"/>
              </a:ext>
            </a:extLst>
          </p:cNvPr>
          <p:cNvSpPr>
            <a:spLocks xmlns:a="http://schemas.openxmlformats.org/drawingml/2006/main" noGrp="1"/>
          </p:cNvSpPr>
          <p:nvPr/>
        </p:nvSpPr>
        <p:spPr>
          <a:xfrm xmlns:a="http://schemas.openxmlformats.org/drawingml/2006/main">
            <a:off x="6477000" y="44481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Scripts et notebooks partagent demo_1/.venv.</a:t>
            </a:r>
          </a:p>
        </p:txBody>
      </p:sp>
    </p:spTree>
    <p:extLst>
      <p:ext uri="{BB962C8B-B14F-4D97-AF65-F5344CB8AC3E}">
        <p14:creationId xmlns:p14="http://schemas.microsoft.com/office/powerpoint/2010/main" val="1270007190"/>
      </p:ext>
    </p:extLst>
  </p:cSld>
</p:sld>
</file>

<file path=ppt/slides/slide19.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9A0F1E-80DC-4283-812D-2EDA4B466855}"/>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notebook et son noyau</a:t>
            </a:r>
          </a:p>
        </p:txBody>
      </p:sp>
      <p:sp>
        <p:nvSpPr>
          <p:cNvPr id="2" name="">
            <a:extLst xmlns:a="http://schemas.openxmlformats.org/drawingml/2006/main">
              <a:ext uri="{FF2B5EF4-FFF2-40B4-BE49-F238E27FC236}">
                <a16:creationId xmlns:a16="http://schemas.microsoft.com/office/drawing/2014/main" id="{A61EA41D-0163-4F82-A1B0-11E0C69CA609}"/>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5D763C2E-6185-408C-94C1-80C2BA125A24}"/>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00 : état d’exécution · Colab ou Jupyter local</a:t>
            </a:r>
          </a:p>
        </p:txBody>
      </p:sp>
      <p:sp>
        <p:nvSpPr>
          <p:cNvPr id="4" name="">
            <a:extLst xmlns:a="http://schemas.openxmlformats.org/drawingml/2006/main">
              <a:ext uri="{FF2B5EF4-FFF2-40B4-BE49-F238E27FC236}">
                <a16:creationId xmlns:a16="http://schemas.microsoft.com/office/drawing/2014/main" id="{1A6D8FBD-53FC-487D-9D5C-488CC4992E21}"/>
              </a:ext>
            </a:extLst>
          </p:cNvPr>
          <p:cNvSpPr>
            <a:spLocks xmlns:a="http://schemas.openxmlformats.org/drawingml/2006/main" noGrp="1"/>
          </p:cNvSpPr>
          <p:nvPr/>
        </p:nvSpPr>
        <p:spPr>
          <a:xfrm xmlns:a="http://schemas.openxmlformats.org/drawingml/2006/main">
            <a:off x="685800"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Le fichier sauvegardé</a:t>
            </a:r>
          </a:p>
        </p:txBody>
      </p:sp>
      <p:sp>
        <p:nvSpPr>
          <p:cNvPr id="5" name="">
            <a:extLst xmlns:a="http://schemas.openxmlformats.org/drawingml/2006/main">
              <a:ext uri="{FF2B5EF4-FFF2-40B4-BE49-F238E27FC236}">
                <a16:creationId xmlns:a16="http://schemas.microsoft.com/office/drawing/2014/main" id="{275E3E8E-E550-44F1-8AF5-DABDAE135E91}"/>
              </a:ext>
            </a:extLst>
          </p:cNvPr>
          <p:cNvSpPr>
            <a:spLocks xmlns:a="http://schemas.openxmlformats.org/drawingml/2006/main" noGrp="1"/>
          </p:cNvSpPr>
          <p:nvPr/>
        </p:nvSpPr>
        <p:spPr>
          <a:xfrm xmlns:a="http://schemas.openxmlformats.org/drawingml/2006/main">
            <a:off x="685800"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Cellules de code, explications et sorties sauvegardées.</a:t>
            </a:r>
          </a:p>
        </p:txBody>
      </p:sp>
      <p:sp>
        <p:nvSpPr>
          <p:cNvPr id="6" name="">
            <a:extLst xmlns:a="http://schemas.openxmlformats.org/drawingml/2006/main">
              <a:ext uri="{FF2B5EF4-FFF2-40B4-BE49-F238E27FC236}">
                <a16:creationId xmlns:a16="http://schemas.microsoft.com/office/drawing/2014/main" id="{F3C42442-A778-47A2-904E-4E16423E150B}"/>
              </a:ext>
            </a:extLst>
          </p:cNvPr>
          <p:cNvSpPr>
            <a:spLocks xmlns:a="http://schemas.openxmlformats.org/drawingml/2006/main" noGrp="1"/>
          </p:cNvSpPr>
          <p:nvPr/>
        </p:nvSpPr>
        <p:spPr>
          <a:xfrm xmlns:a="http://schemas.openxmlformats.org/drawingml/2006/main">
            <a:off x="685800"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Un fichier que l’on conserve et partage.</a:t>
            </a:r>
          </a:p>
        </p:txBody>
      </p:sp>
      <p:sp>
        <p:nvSpPr>
          <p:cNvPr id="7" name="">
            <a:extLst xmlns:a="http://schemas.openxmlformats.org/drawingml/2006/main">
              <a:ext uri="{FF2B5EF4-FFF2-40B4-BE49-F238E27FC236}">
                <a16:creationId xmlns:a16="http://schemas.microsoft.com/office/drawing/2014/main" id="{E5938349-EFB2-42DF-B229-9608A1DEA6BE}"/>
              </a:ext>
            </a:extLst>
          </p:cNvPr>
          <p:cNvSpPr>
            <a:spLocks xmlns:a="http://schemas.openxmlformats.org/drawingml/2006/main" noGrp="1"/>
          </p:cNvSpPr>
          <p:nvPr/>
        </p:nvSpPr>
        <p:spPr>
          <a:xfrm xmlns:a="http://schemas.openxmlformats.org/drawingml/2006/main">
            <a:off x="6410325"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Le processus Python actif</a:t>
            </a:r>
          </a:p>
        </p:txBody>
      </p:sp>
      <p:sp>
        <p:nvSpPr>
          <p:cNvPr id="8" name="">
            <a:extLst xmlns:a="http://schemas.openxmlformats.org/drawingml/2006/main">
              <a:ext uri="{FF2B5EF4-FFF2-40B4-BE49-F238E27FC236}">
                <a16:creationId xmlns:a16="http://schemas.microsoft.com/office/drawing/2014/main" id="{0C9A7D24-C67D-4345-A734-B0C2E467F2E3}"/>
              </a:ext>
            </a:extLst>
          </p:cNvPr>
          <p:cNvSpPr>
            <a:spLocks xmlns:a="http://schemas.openxmlformats.org/drawingml/2006/main" noGrp="1"/>
          </p:cNvSpPr>
          <p:nvPr/>
        </p:nvSpPr>
        <p:spPr>
          <a:xfrm xmlns:a="http://schemas.openxmlformats.org/drawingml/2006/main">
            <a:off x="6410325"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Les variables dépendent des cellules réellement exécutées.</a:t>
            </a:r>
          </a:p>
        </p:txBody>
      </p:sp>
      <p:sp>
        <p:nvSpPr>
          <p:cNvPr id="9" name="">
            <a:extLst xmlns:a="http://schemas.openxmlformats.org/drawingml/2006/main">
              <a:ext uri="{FF2B5EF4-FFF2-40B4-BE49-F238E27FC236}">
                <a16:creationId xmlns:a16="http://schemas.microsoft.com/office/drawing/2014/main" id="{F3E8F807-8263-4AC1-8DAD-F2B519CE7B09}"/>
              </a:ext>
            </a:extLst>
          </p:cNvPr>
          <p:cNvSpPr>
            <a:spLocks xmlns:a="http://schemas.openxmlformats.org/drawingml/2006/main" noGrp="1"/>
          </p:cNvSpPr>
          <p:nvPr/>
        </p:nvSpPr>
        <p:spPr>
          <a:xfrm xmlns:a="http://schemas.openxmlformats.org/drawingml/2006/main">
            <a:off x="6410325"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Redémarrer, puis tout exécuter pour vérifier l’ordre.</a:t>
            </a:r>
          </a:p>
        </p:txBody>
      </p:sp>
      <p:sp>
        <p:nvSpPr>
          <p:cNvPr id="10" name="">
            <a:extLst xmlns:a="http://schemas.openxmlformats.org/drawingml/2006/main">
              <a:ext uri="{FF2B5EF4-FFF2-40B4-BE49-F238E27FC236}">
                <a16:creationId xmlns:a16="http://schemas.microsoft.com/office/drawing/2014/main" id="{8276A55F-9668-4669-8560-C5D4D9DE8C61}"/>
              </a:ext>
            </a:extLst>
          </p:cNvPr>
          <p:cNvSpPr>
            <a:spLocks xmlns:a="http://schemas.openxmlformats.org/drawingml/2006/main" noGrp="1"/>
          </p:cNvSpPr>
          <p:nvPr/>
        </p:nvSpPr>
        <p:spPr>
          <a:xfrm xmlns:a="http://schemas.openxmlformats.org/drawingml/2006/main">
            <a:off x="685800" y="52292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7C72"/>
                </a:solidFill>
                <a:latin typeface="Helvetica Neue"/>
                <a:ea typeface="Helvetica Neue"/>
                <a:cs typeface="Helvetica Neue"/>
              </a:defRPr>
            </a:pPr>
            <a:r>
              <a:rPr sz="2250" b="1">
                <a:solidFill>
                  <a:srgbClr val="147C72"/>
                </a:solidFill>
                <a:latin typeface="Helvetica Neue"/>
                <a:ea typeface="Helvetica Neue"/>
                <a:cs typeface="Helvetica Neue"/>
              </a:rPr>
              <a:t>Une réponse affichée peut venir d’une ancienne version du code.</a:t>
            </a:r>
          </a:p>
        </p:txBody>
      </p:sp>
    </p:spTree>
    <p:extLst>
      <p:ext uri="{BB962C8B-B14F-4D97-AF65-F5344CB8AC3E}">
        <p14:creationId xmlns:p14="http://schemas.microsoft.com/office/powerpoint/2010/main" val="554588595"/>
      </p:ext>
    </p:extLst>
  </p:cSld>
</p:sld>
</file>

<file path=ppt/slides/slide20.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rôle de chaque bibliothèque</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NumPy · pandas · Matplotlib · scikit-learn</a:t>
            </a:r>
          </a:p>
        </p:txBody>
      </p:sp>
      <p:graphicFrame>
        <p:nvGraphicFramePr>
          <p:cNvPr id="15" name=""/>
          <p:cNvGraphicFramePr/>
          <p:nvPr/>
        </p:nvGraphicFramePr>
        <p:xfrm>
          <a:off xmlns:a="http://schemas.openxmlformats.org/drawingml/2006/main" x="685800" y="1714500"/>
          <a:ext xmlns:a="http://schemas.openxmlformats.org/drawingml/2006/main" cx="10820400" cy="3476625"/>
        </p:xfrm>
        <a:graphic xmlns:a="http://schemas.openxmlformats.org/drawingml/2006/main">
          <a:graphicData uri="http://schemas.openxmlformats.org/drawingml/2006/table">
            <a:tbl>
              <a:tblPr/>
              <a:tblGrid>
                <a:gridCol w="2190750"/>
                <a:gridCol w="3286125"/>
                <a:gridCol w="5343525"/>
              </a:tblGrid>
              <a:tr h="695325">
                <a:tc>
                  <a:txBody>
                    <a:bodyPr/>
                    <a:lstStyle/>
                    <a:p>
                      <a:r>
                        <a:rPr sz="1875" b="1">
                          <a:solidFill>
                            <a:srgbClr val="17343A"/>
                          </a:solidFill>
                          <a:latin typeface="Helvetica Neue"/>
                          <a:ea typeface="Helvetica Neue"/>
                          <a:cs typeface="Helvetica Neue"/>
                        </a:rPr>
                        <a:t>Bibliothèque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Représentation</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Question typique</a:t>
                      </a:r>
                    </a:p>
                  </a:txBody>
                  <a:tcPr marL="104775" marR="104775" marT="95250" marB="76200" anchor="t">
                    <a:solidFill>
                      <a:srgbClr val="E1EEEA"/>
                    </a:solidFill>
                  </a:tcPr>
                </a:tc>
              </a:tr>
              <a:tr h="695325">
                <a:tc>
                  <a:txBody>
                    <a:bodyPr/>
                    <a:lstStyle/>
                    <a:p>
                      <a:r>
                        <a:rPr sz="1875">
                          <a:solidFill>
                            <a:srgbClr val="17343A"/>
                          </a:solidFill>
                          <a:latin typeface="Helvetica Neue"/>
                          <a:ea typeface="Helvetica Neue"/>
                          <a:cs typeface="Helvetica Neue"/>
                        </a:rPr>
                        <a:t>NumPy</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Tableaux numériques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Quel calcul appliquer à toutes ces valeurs?</a:t>
                      </a:r>
                    </a:p>
                  </a:txBody>
                  <a:tcPr marL="104775" marR="104775" marT="95250" marB="76200" anchor="t">
                    <a:solidFill>
                      <a:srgbClr val="F8FBFA"/>
                    </a:solidFill>
                  </a:tcPr>
                </a:tc>
              </a:tr>
              <a:tr h="695325">
                <a:tc>
                  <a:txBody>
                    <a:bodyPr/>
                    <a:lstStyle/>
                    <a:p>
                      <a:r>
                        <a:rPr sz="1875">
                          <a:solidFill>
                            <a:srgbClr val="17343A"/>
                          </a:solidFill>
                          <a:latin typeface="Helvetica Neue"/>
                          <a:ea typeface="Helvetica Neue"/>
                          <a:cs typeface="Helvetica Neue"/>
                        </a:rPr>
                        <a:t>pandas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Tables avec étiquettes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Quelles lignes et quels groupes étudier?</a:t>
                      </a:r>
                    </a:p>
                  </a:txBody>
                  <a:tcPr marL="104775" marR="104775" marT="95250" marB="76200" anchor="t">
                    <a:solidFill>
                      <a:srgbClr val="F8FBFA"/>
                    </a:solidFill>
                  </a:tcPr>
                </a:tc>
              </a:tr>
              <a:tr h="695325">
                <a:tc>
                  <a:txBody>
                    <a:bodyPr/>
                    <a:lstStyle/>
                    <a:p>
                      <a:r>
                        <a:rPr sz="1875">
                          <a:solidFill>
                            <a:srgbClr val="17343A"/>
                          </a:solidFill>
                          <a:latin typeface="Helvetica Neue"/>
                          <a:ea typeface="Helvetica Neue"/>
                          <a:cs typeface="Helvetica Neue"/>
                        </a:rPr>
                        <a:t>Matplotlib</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Graphiques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Quelles tendances ou variations voit-on?</a:t>
                      </a:r>
                    </a:p>
                  </a:txBody>
                  <a:tcPr marL="104775" marR="104775" marT="95250" marB="76200" anchor="t">
                    <a:solidFill>
                      <a:srgbClr val="F8FBFA"/>
                    </a:solidFill>
                  </a:tcPr>
                </a:tc>
              </a:tr>
              <a:tr h="695325">
                <a:tc>
                  <a:txBody>
                    <a:bodyPr/>
                    <a:lstStyle/>
                    <a:p>
                      <a:r>
                        <a:rPr sz="1875">
                          <a:solidFill>
                            <a:srgbClr val="17343A"/>
                          </a:solidFill>
                          <a:latin typeface="Helvetica Neue"/>
                          <a:ea typeface="Helvetica Neue"/>
                          <a:cs typeface="Helvetica Neue"/>
                        </a:rPr>
                        <a:t>scikit-learn</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Modèles et pipelines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Peut-on prédire de nouvelles observations?</a:t>
                      </a:r>
                    </a:p>
                  </a:txBody>
                  <a:tcPr marL="104775" marR="104775" marT="95250" marB="76200" anchor="t">
                    <a:solidFill>
                      <a:srgbClr val="F8FBFA"/>
                    </a:solidFill>
                  </a:tcPr>
                </a:tc>
              </a:tr>
            </a:tbl>
          </a:graphicData>
        </a:graphic>
      </p:graphicFrame>
      <p:sp>
        <p:nvSpPr>
          <p:cNvPr id="10" name="">
            <a:extLst xmlns:a="http://schemas.openxmlformats.org/drawingml/2006/main">
              <a:ext uri="{FF2B5EF4-FFF2-40B4-BE49-F238E27FC236}">
                <a16:creationId xmlns:a16="http://schemas.microsoft.com/office/drawing/2014/main" id="{DC65439E-EF6A-4400-928F-56673DC2E32D}"/>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Un même projet utilise souvent ces quatre bibliothèques.</a:t>
            </a:r>
          </a:p>
        </p:txBody>
      </p:sp>
    </p:spTree>
    <p:extLst>
      <p:ext uri="{BB962C8B-B14F-4D97-AF65-F5344CB8AC3E}">
        <p14:creationId xmlns:p14="http://schemas.microsoft.com/office/powerpoint/2010/main" val="1577667620"/>
      </p:ext>
    </p:extLst>
  </p:cSld>
</p:sld>
</file>

<file path=ppt/slides/slide2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4335CE-8C4E-4C3C-A129-6FB242266F74}"/>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3A"/>
                </a:solidFill>
                <a:latin typeface="Helvetica Neue"/>
                <a:ea typeface="Helvetica Neue"/>
                <a:cs typeface="Helvetica Neue"/>
              </a:defRPr>
            </a:pPr>
            <a:r>
              <a:rPr sz="3450" b="1">
                <a:solidFill>
                  <a:srgbClr val="17343A"/>
                </a:solidFill>
                <a:latin typeface="Helvetica Neue"/>
                <a:ea typeface="Helvetica Neue"/>
                <a:cs typeface="Helvetica Neue"/>
              </a:rPr>
              <a:t>Pourquoi NumPy : les tableaux numériques</a:t>
            </a:r>
          </a:p>
        </p:txBody>
      </p:sp>
      <p:sp>
        <p:nvSpPr>
          <p:cNvPr id="2" name="">
            <a:extLst xmlns:a="http://schemas.openxmlformats.org/drawingml/2006/main">
              <a:ext uri="{FF2B5EF4-FFF2-40B4-BE49-F238E27FC236}">
                <a16:creationId xmlns:a16="http://schemas.microsoft.com/office/drawing/2014/main" id="{FF763306-6379-437A-A212-D63832AABB05}"/>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33F67745-8761-4BCC-819E-BFCE58E2B7E7}"/>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7F77"/>
                </a:solidFill>
                <a:latin typeface="Helvetica Neue"/>
                <a:ea typeface="Helvetica Neue"/>
                <a:cs typeface="Helvetica Neue"/>
              </a:defRPr>
            </a:pPr>
            <a:r>
              <a:rPr sz="1725" b="0">
                <a:solidFill>
                  <a:srgbClr val="117F77"/>
                </a:solidFill>
                <a:latin typeface="Helvetica Neue"/>
                <a:ea typeface="Helvetica Neue"/>
                <a:cs typeface="Helvetica Neue"/>
              </a:rPr>
              <a:t>Notebook 01 : tableaux et opérations</a:t>
            </a:r>
          </a:p>
        </p:txBody>
      </p:sp>
      <p:graphicFrame>
        <p:nvGraphicFramePr>
          <p:cNvPr id="16" name=""/>
          <p:cNvGraphicFramePr/>
          <p:nvPr/>
        </p:nvGraphicFramePr>
        <p:xfrm>
          <a:off xmlns:a="http://schemas.openxmlformats.org/drawingml/2006/main" x="685800" y="1800225"/>
          <a:ext xmlns:a="http://schemas.openxmlformats.org/drawingml/2006/main" cx="5143500" cy="3028950"/>
        </p:xfrm>
        <a:graphic xmlns:a="http://schemas.openxmlformats.org/drawingml/2006/main">
          <a:graphicData uri="http://schemas.openxmlformats.org/drawingml/2006/table">
            <a:tbl>
              <a:tblPr/>
              <a:tblGrid>
                <a:gridCol w="1428750"/>
                <a:gridCol w="1857375"/>
                <a:gridCol w="1857375"/>
              </a:tblGrid>
              <a:tr h="605790">
                <a:tc>
                  <a:txBody>
                    <a:bodyPr>
                      <a:noAutofit/>
                    </a:bodyPr>
                    <a:lstStyle/>
                    <a:p>
                      <a:r>
                        <a:rPr sz="1800" b="1">
                          <a:solidFill>
                            <a:srgbClr val="163238"/>
                          </a:solidFill>
                          <a:latin typeface="Helvetica Neue"/>
                          <a:ea typeface="Helvetica Neue"/>
                          <a:cs typeface="Helvetica Neue"/>
                        </a:rPr>
                        <a:t>Ligne</a:t>
                      </a:r>
                    </a:p>
                  </a:txBody>
                  <a:tcPr marL="114300" marR="114300" marT="85725" marB="76200">
                    <a:solidFill>
                      <a:srgbClr val="E1EEE8"/>
                    </a:solidFill>
                  </a:tcPr>
                </a:tc>
                <a:tc>
                  <a:txBody>
                    <a:bodyPr>
                      <a:noAutofit/>
                    </a:bodyPr>
                    <a:lstStyle/>
                    <a:p>
                      <a:r>
                        <a:rPr sz="1800" b="1">
                          <a:solidFill>
                            <a:srgbClr val="163238"/>
                          </a:solidFill>
                          <a:latin typeface="Helvetica Neue"/>
                          <a:ea typeface="Helvetica Neue"/>
                          <a:cs typeface="Helvetica Neue"/>
                        </a:rPr>
                        <a:t>Longueur (cm)</a:t>
                      </a:r>
                    </a:p>
                  </a:txBody>
                  <a:tcPr marL="114300" marR="114300" marT="85725" marB="76200">
                    <a:solidFill>
                      <a:srgbClr val="E1EEE8"/>
                    </a:solidFill>
                  </a:tcPr>
                </a:tc>
                <a:tc>
                  <a:txBody>
                    <a:bodyPr>
                      <a:noAutofit/>
                    </a:bodyPr>
                    <a:lstStyle/>
                    <a:p>
                      <a:r>
                        <a:rPr sz="1800" b="1">
                          <a:solidFill>
                            <a:srgbClr val="163238"/>
                          </a:solidFill>
                          <a:latin typeface="Helvetica Neue"/>
                          <a:ea typeface="Helvetica Neue"/>
                          <a:cs typeface="Helvetica Neue"/>
                        </a:rPr>
                        <a:t>Largeur (cm)</a:t>
                      </a:r>
                    </a:p>
                  </a:txBody>
                  <a:tcPr marL="114300" marR="114300" marT="85725" marB="76200">
                    <a:solidFill>
                      <a:srgbClr val="E1EEE8"/>
                    </a:solidFill>
                  </a:tcPr>
                </a:tc>
              </a:tr>
              <a:tr h="605790">
                <a:tc>
                  <a:txBody>
                    <a:bodyPr>
                      <a:noAutofit/>
                    </a:bodyPr>
                    <a:lstStyle/>
                    <a:p>
                      <a:r>
                        <a:rPr sz="1800" b="0">
                          <a:solidFill>
                            <a:srgbClr val="163238"/>
                          </a:solidFill>
                          <a:latin typeface="Helvetica Neue"/>
                          <a:ea typeface="Helvetica Neue"/>
                          <a:cs typeface="Helvetica Neue"/>
                        </a:rPr>
                        <a:t>0</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1,4</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0,2</a:t>
                      </a:r>
                    </a:p>
                  </a:txBody>
                  <a:tcPr marL="114300" marR="114300" marT="85725" marB="76200">
                    <a:solidFill>
                      <a:srgbClr val="FAFCFA"/>
                    </a:solidFill>
                  </a:tcPr>
                </a:tc>
              </a:tr>
              <a:tr h="605790">
                <a:tc>
                  <a:txBody>
                    <a:bodyPr>
                      <a:noAutofit/>
                    </a:bodyPr>
                    <a:lstStyle/>
                    <a:p>
                      <a:r>
                        <a:rPr sz="1800" b="0">
                          <a:solidFill>
                            <a:srgbClr val="163238"/>
                          </a:solidFill>
                          <a:latin typeface="Helvetica Neue"/>
                          <a:ea typeface="Helvetica Neue"/>
                          <a:cs typeface="Helvetica Neue"/>
                        </a:rPr>
                        <a:t>1</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4,7</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1,4</a:t>
                      </a:r>
                    </a:p>
                  </a:txBody>
                  <a:tcPr marL="114300" marR="114300" marT="85725" marB="76200">
                    <a:solidFill>
                      <a:srgbClr val="FAFCFA"/>
                    </a:solidFill>
                  </a:tcPr>
                </a:tc>
              </a:tr>
              <a:tr h="605790">
                <a:tc>
                  <a:txBody>
                    <a:bodyPr>
                      <a:noAutofit/>
                    </a:bodyPr>
                    <a:lstStyle/>
                    <a:p>
                      <a:r>
                        <a:rPr sz="1800" b="0">
                          <a:solidFill>
                            <a:srgbClr val="163238"/>
                          </a:solidFill>
                          <a:latin typeface="Helvetica Neue"/>
                          <a:ea typeface="Helvetica Neue"/>
                          <a:cs typeface="Helvetica Neue"/>
                        </a:rPr>
                        <a:t>2</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4,5</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1,5</a:t>
                      </a:r>
                    </a:p>
                  </a:txBody>
                  <a:tcPr marL="114300" marR="114300" marT="85725" marB="76200">
                    <a:solidFill>
                      <a:srgbClr val="FAFCFA"/>
                    </a:solidFill>
                  </a:tcPr>
                </a:tc>
              </a:tr>
              <a:tr h="605790">
                <a:tc>
                  <a:txBody>
                    <a:bodyPr>
                      <a:noAutofit/>
                    </a:bodyPr>
                    <a:lstStyle/>
                    <a:p>
                      <a:r>
                        <a:rPr sz="1800" b="0">
                          <a:solidFill>
                            <a:srgbClr val="163238"/>
                          </a:solidFill>
                          <a:latin typeface="Helvetica Neue"/>
                          <a:ea typeface="Helvetica Neue"/>
                          <a:cs typeface="Helvetica Neue"/>
                        </a:rPr>
                        <a:t>3</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6,0</a:t>
                      </a:r>
                    </a:p>
                  </a:txBody>
                  <a:tcPr marL="114300" marR="114300" marT="85725" marB="76200">
                    <a:solidFill>
                      <a:srgbClr val="FAFCFA"/>
                    </a:solidFill>
                  </a:tcPr>
                </a:tc>
                <a:tc>
                  <a:txBody>
                    <a:bodyPr>
                      <a:noAutofit/>
                    </a:bodyPr>
                    <a:lstStyle/>
                    <a:p>
                      <a:r>
                        <a:rPr sz="1800" b="0">
                          <a:solidFill>
                            <a:srgbClr val="163238"/>
                          </a:solidFill>
                          <a:latin typeface="Helvetica Neue"/>
                          <a:ea typeface="Helvetica Neue"/>
                          <a:cs typeface="Helvetica Neue"/>
                        </a:rPr>
                        <a:t>2,5</a:t>
                      </a:r>
                    </a:p>
                  </a:txBody>
                  <a:tcPr marL="114300" marR="114300" marT="85725" marB="76200">
                    <a:solidFill>
                      <a:srgbClr val="FAFCFA"/>
                    </a:solidFill>
                  </a:tcPr>
                </a:tc>
              </a:tr>
            </a:tbl>
          </a:graphicData>
        </a:graphic>
      </p:graphicFrame>
      <p:sp>
        <p:nvSpPr>
          <p:cNvPr id="6" name="">
            <a:extLst xmlns:a="http://schemas.openxmlformats.org/drawingml/2006/main">
              <a:ext uri="{FF2B5EF4-FFF2-40B4-BE49-F238E27FC236}">
                <a16:creationId xmlns:a16="http://schemas.microsoft.com/office/drawing/2014/main" id="{774B6024-B69E-4D24-BD86-0CE1CEBD421E}"/>
              </a:ext>
            </a:extLst>
          </p:cNvPr>
          <p:cNvSpPr>
            <a:spLocks xmlns:a="http://schemas.openxmlformats.org/drawingml/2006/main" noGrp="1"/>
          </p:cNvSpPr>
          <p:nvPr/>
        </p:nvSpPr>
        <p:spPr>
          <a:xfrm xmlns:a="http://schemas.openxmlformats.org/drawingml/2006/main">
            <a:off x="685800" y="5248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7F77"/>
                </a:solidFill>
                <a:latin typeface="Helvetica Neue"/>
                <a:ea typeface="Helvetica Neue"/>
                <a:cs typeface="Helvetica Neue"/>
              </a:defRPr>
            </a:pPr>
            <a:r>
              <a:rPr sz="2325" b="1">
                <a:solidFill>
                  <a:srgbClr val="117F77"/>
                </a:solidFill>
                <a:latin typeface="Helvetica Neue"/>
                <a:ea typeface="Helvetica Neue"/>
                <a:cs typeface="Helvetica Neue"/>
              </a:rPr>
              <a:t>Une expression peut calculer sur un grand ensemble de mesures.</a:t>
            </a:r>
          </a:p>
        </p:txBody>
      </p:sp>
      <p:sp>
        <p:nvSpPr>
          <p:cNvPr id="9" name="">
            <a:extLst xmlns:a="http://schemas.openxmlformats.org/drawingml/2006/main">
              <a:ext uri="{FF2B5EF4-FFF2-40B4-BE49-F238E27FC236}">
                <a16:creationId xmlns:a16="http://schemas.microsoft.com/office/drawing/2014/main" id="{3CD095B2-C81E-4143-B7E4-CB940AD3F449}"/>
              </a:ext>
            </a:extLst>
          </p:cNvPr>
          <p:cNvSpPr>
            <a:spLocks xmlns:a="http://schemas.openxmlformats.org/drawingml/2006/main" noGrp="1"/>
          </p:cNvSpPr>
          <p:nvPr/>
        </p:nvSpPr>
        <p:spPr>
          <a:xfrm xmlns:a="http://schemas.openxmlformats.org/drawingml/2006/main">
            <a:off x="6496050" y="1809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D827B"/>
                </a:solidFill>
                <a:latin typeface="Helvetica Neue"/>
                <a:ea typeface="Helvetica Neue"/>
                <a:cs typeface="Helvetica Neue"/>
              </a:defRPr>
            </a:pPr>
            <a:r>
              <a:rPr sz="2100" b="1">
                <a:solidFill>
                  <a:srgbClr val="0D827B"/>
                </a:solidFill>
                <a:latin typeface="Helvetica Neue"/>
                <a:ea typeface="Helvetica Neue"/>
                <a:cs typeface="Helvetica Neue"/>
              </a:rPr>
              <a:t>Calcul numérique</a:t>
            </a:r>
          </a:p>
        </p:txBody>
      </p:sp>
      <p:sp>
        <p:nvSpPr>
          <p:cNvPr id="10" name="">
            <a:extLst xmlns:a="http://schemas.openxmlformats.org/drawingml/2006/main">
              <a:ext uri="{FF2B5EF4-FFF2-40B4-BE49-F238E27FC236}">
                <a16:creationId xmlns:a16="http://schemas.microsoft.com/office/drawing/2014/main" id="{A469BFA8-7CF1-4498-8A81-CEA2AA3AA498}"/>
              </a:ext>
            </a:extLst>
          </p:cNvPr>
          <p:cNvSpPr>
            <a:spLocks xmlns:a="http://schemas.openxmlformats.org/drawingml/2006/main" noGrp="1"/>
          </p:cNvSpPr>
          <p:nvPr/>
        </p:nvSpPr>
        <p:spPr>
          <a:xfrm xmlns:a="http://schemas.openxmlformats.org/drawingml/2006/main">
            <a:off x="6496050" y="2171700"/>
            <a:ext cx="504825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343A"/>
                </a:solidFill>
                <a:latin typeface="Helvetica Neue"/>
                <a:ea typeface="Helvetica Neue"/>
                <a:cs typeface="Helvetica Neue"/>
              </a:defRPr>
            </a:pPr>
            <a:r>
              <a:rPr sz="2100" b="0">
                <a:solidFill>
                  <a:srgbClr val="17343A"/>
                </a:solidFill>
                <a:latin typeface="Helvetica Neue"/>
                <a:ea typeface="Helvetica Neue"/>
                <a:cs typeface="Helvetica Neue"/>
              </a:rPr>
              <a:t>Statistiques, simulations</a:t>
            </a:r>
          </a:p>
          <a:p xmlns:a="http://schemas.openxmlformats.org/drawingml/2006/main">
            <a:pPr>
              <a:defRPr sz="2100" b="0">
                <a:solidFill>
                  <a:srgbClr val="17343A"/>
                </a:solidFill>
                <a:latin typeface="Helvetica Neue"/>
                <a:ea typeface="Helvetica Neue"/>
                <a:cs typeface="Helvetica Neue"/>
              </a:defRPr>
            </a:pPr>
            <a:r>
              <a:rPr sz="2100" b="0">
                <a:solidFill>
                  <a:srgbClr val="17343A"/>
                </a:solidFill>
                <a:latin typeface="Helvetica Neue"/>
                <a:ea typeface="Helvetica Neue"/>
                <a:cs typeface="Helvetica Neue"/>
              </a:rPr>
              <a:t>et algèbre linéaire.</a:t>
            </a:r>
          </a:p>
        </p:txBody>
      </p:sp>
      <p:sp>
        <p:nvSpPr>
          <p:cNvPr id="11" name="">
            <a:extLst xmlns:a="http://schemas.openxmlformats.org/drawingml/2006/main">
              <a:ext uri="{FF2B5EF4-FFF2-40B4-BE49-F238E27FC236}">
                <a16:creationId xmlns:a16="http://schemas.microsoft.com/office/drawing/2014/main" id="{89542C23-EC50-4B54-8471-2CEE80627D60}"/>
              </a:ext>
            </a:extLst>
          </p:cNvPr>
          <p:cNvSpPr>
            <a:spLocks xmlns:a="http://schemas.openxmlformats.org/drawingml/2006/main" noGrp="1"/>
          </p:cNvSpPr>
          <p:nvPr/>
        </p:nvSpPr>
        <p:spPr>
          <a:xfrm xmlns:a="http://schemas.openxmlformats.org/drawingml/2006/main">
            <a:off x="6496050" y="30670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D827B"/>
                </a:solidFill>
                <a:latin typeface="Helvetica Neue"/>
                <a:ea typeface="Helvetica Neue"/>
                <a:cs typeface="Helvetica Neue"/>
              </a:defRPr>
            </a:pPr>
            <a:r>
              <a:rPr sz="2100" b="1">
                <a:solidFill>
                  <a:srgbClr val="0D827B"/>
                </a:solidFill>
                <a:latin typeface="Helvetica Neue"/>
                <a:ea typeface="Helvetica Neue"/>
                <a:cs typeface="Helvetica Neue"/>
              </a:rPr>
              <a:t>Données et modèles</a:t>
            </a:r>
          </a:p>
        </p:txBody>
      </p:sp>
      <p:sp>
        <p:nvSpPr>
          <p:cNvPr id="12" name="">
            <a:extLst xmlns:a="http://schemas.openxmlformats.org/drawingml/2006/main">
              <a:ext uri="{FF2B5EF4-FFF2-40B4-BE49-F238E27FC236}">
                <a16:creationId xmlns:a16="http://schemas.microsoft.com/office/drawing/2014/main" id="{37A41D43-C9FB-4AE4-94B2-7DE0664FFD0E}"/>
              </a:ext>
            </a:extLst>
          </p:cNvPr>
          <p:cNvSpPr>
            <a:spLocks xmlns:a="http://schemas.openxmlformats.org/drawingml/2006/main" noGrp="1"/>
          </p:cNvSpPr>
          <p:nvPr/>
        </p:nvSpPr>
        <p:spPr>
          <a:xfrm xmlns:a="http://schemas.openxmlformats.org/drawingml/2006/main">
            <a:off x="6496050" y="3429000"/>
            <a:ext cx="504825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7343A"/>
                </a:solidFill>
                <a:latin typeface="Helvetica Neue"/>
                <a:ea typeface="Helvetica Neue"/>
                <a:cs typeface="Helvetica Neue"/>
              </a:defRPr>
            </a:pPr>
            <a:r>
              <a:rPr sz="2100" b="0">
                <a:solidFill>
                  <a:srgbClr val="17343A"/>
                </a:solidFill>
                <a:latin typeface="Helvetica Neue"/>
                <a:ea typeface="Helvetica Neue"/>
                <a:cs typeface="Helvetica Neue"/>
              </a:rPr>
              <a:t>Images, signaux de capteurs</a:t>
            </a:r>
          </a:p>
          <a:p xmlns:a="http://schemas.openxmlformats.org/drawingml/2006/main">
            <a:pPr>
              <a:defRPr sz="2100" b="0">
                <a:solidFill>
                  <a:srgbClr val="17343A"/>
                </a:solidFill>
                <a:latin typeface="Helvetica Neue"/>
                <a:ea typeface="Helvetica Neue"/>
                <a:cs typeface="Helvetica Neue"/>
              </a:defRPr>
            </a:pPr>
            <a:r>
              <a:rPr sz="2100" b="0">
                <a:solidFill>
                  <a:srgbClr val="17343A"/>
                </a:solidFill>
                <a:latin typeface="Helvetica Neue"/>
                <a:ea typeface="Helvetica Neue"/>
                <a:cs typeface="Helvetica Neue"/>
              </a:rPr>
              <a:t>et variables explicatives.</a:t>
            </a:r>
          </a:p>
        </p:txBody>
      </p:sp>
    </p:spTree>
    <p:extLst>
      <p:ext uri="{BB962C8B-B14F-4D97-AF65-F5344CB8AC3E}">
        <p14:creationId xmlns:p14="http://schemas.microsoft.com/office/powerpoint/2010/main" val="1156281494"/>
      </p:ext>
    </p:extLst>
  </p:cSld>
</p:sld>
</file>

<file path=ppt/slides/slide2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CA2B70-8DCC-41B5-954C-7E71D88BDCCA}"/>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3A"/>
                </a:solidFill>
                <a:latin typeface="Helvetica Neue"/>
                <a:ea typeface="Helvetica Neue"/>
                <a:cs typeface="Helvetica Neue"/>
              </a:defRPr>
            </a:pPr>
            <a:r>
              <a:rPr sz="3450" b="1">
                <a:solidFill>
                  <a:srgbClr val="17343A"/>
                </a:solidFill>
                <a:latin typeface="Helvetica Neue"/>
                <a:ea typeface="Helvetica Neue"/>
                <a:cs typeface="Helvetica Neue"/>
              </a:rPr>
              <a:t>Pourquoi NumPy peut être plus rapide</a:t>
            </a:r>
          </a:p>
        </p:txBody>
      </p:sp>
      <p:sp>
        <p:nvSpPr>
          <p:cNvPr id="2" name="">
            <a:extLst xmlns:a="http://schemas.openxmlformats.org/drawingml/2006/main">
              <a:ext uri="{FF2B5EF4-FFF2-40B4-BE49-F238E27FC236}">
                <a16:creationId xmlns:a16="http://schemas.microsoft.com/office/drawing/2014/main" id="{ED79346A-EE00-4623-8A9E-C472D1EA9C74}"/>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22</a:t>
            </a:r>
          </a:p>
        </p:txBody>
      </p:sp>
      <p:sp>
        <p:nvSpPr>
          <p:cNvPr id="3" name="">
            <a:extLst xmlns:a="http://schemas.openxmlformats.org/drawingml/2006/main">
              <a:ext uri="{FF2B5EF4-FFF2-40B4-BE49-F238E27FC236}">
                <a16:creationId xmlns:a16="http://schemas.microsoft.com/office/drawing/2014/main" id="{A8330D13-1D8D-4844-BA75-9492E0FB4B56}"/>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7F77"/>
                </a:solidFill>
                <a:latin typeface="Helvetica Neue"/>
                <a:ea typeface="Helvetica Neue"/>
                <a:cs typeface="Helvetica Neue"/>
              </a:defRPr>
            </a:pPr>
            <a:r>
              <a:rPr sz="1725" b="0">
                <a:solidFill>
                  <a:srgbClr val="117F77"/>
                </a:solidFill>
                <a:latin typeface="Helvetica Neue"/>
                <a:ea typeface="Helvetica Neue"/>
                <a:cs typeface="Helvetica Neue"/>
              </a:rPr>
              <a:t>Notebook 01 : vectorisation · Vues et copies en pratique personnelle</a:t>
            </a:r>
          </a:p>
        </p:txBody>
      </p:sp>
      <p:sp>
        <p:nvSpPr>
          <p:cNvPr id="4" name="">
            <a:extLst xmlns:a="http://schemas.openxmlformats.org/drawingml/2006/main">
              <a:ext uri="{FF2B5EF4-FFF2-40B4-BE49-F238E27FC236}">
                <a16:creationId xmlns:a16="http://schemas.microsoft.com/office/drawing/2014/main" id="{79DC855C-2470-47C3-B3A8-785BFE5943BB}"/>
              </a:ext>
            </a:extLst>
          </p:cNvPr>
          <p:cNvSpPr>
            <a:spLocks xmlns:a="http://schemas.openxmlformats.org/drawingml/2006/main" noGrp="1"/>
          </p:cNvSpPr>
          <p:nvPr/>
        </p:nvSpPr>
        <p:spPr>
          <a:xfrm xmlns:a="http://schemas.openxmlformats.org/drawingml/2006/main">
            <a:off x="685800" y="15716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7343A"/>
                </a:solidFill>
                <a:latin typeface="Helvetica Neue"/>
                <a:ea typeface="Helvetica Neue"/>
                <a:cs typeface="Helvetica Neue"/>
              </a:defRPr>
            </a:pPr>
            <a:r>
              <a:rPr sz="2250" b="0">
                <a:solidFill>
                  <a:srgbClr val="17343A"/>
                </a:solidFill>
                <a:latin typeface="Helvetica Neue"/>
                <a:ea typeface="Helvetica Neue"/>
                <a:cs typeface="Helvetica Neue"/>
              </a:rPr>
              <a:t>Un ndarray associe des données à des métadonnées.</a:t>
            </a:r>
          </a:p>
        </p:txBody>
      </p:sp>
      <p:sp>
        <p:nvSpPr>
          <p:cNvPr id="5" name="">
            <a:extLst xmlns:a="http://schemas.openxmlformats.org/drawingml/2006/main">
              <a:ext uri="{FF2B5EF4-FFF2-40B4-BE49-F238E27FC236}">
                <a16:creationId xmlns:a16="http://schemas.microsoft.com/office/drawing/2014/main" id="{BEF81989-A943-46DB-BD1A-424021475203}"/>
              </a:ext>
            </a:extLst>
          </p:cNvPr>
          <p:cNvSpPr>
            <a:spLocks xmlns:a="http://schemas.openxmlformats.org/drawingml/2006/main" noGrp="1"/>
          </p:cNvSpPr>
          <p:nvPr/>
        </p:nvSpPr>
        <p:spPr>
          <a:xfrm xmlns:a="http://schemas.openxmlformats.org/drawingml/2006/main">
            <a:off x="685800" y="22288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1">
                <a:solidFill>
                  <a:srgbClr val="117F77"/>
                </a:solidFill>
                <a:latin typeface="Helvetica Neue"/>
                <a:ea typeface="Helvetica Neue"/>
                <a:cs typeface="Helvetica Neue"/>
              </a:defRPr>
            </a:pPr>
            <a:r>
              <a:rPr sz="1950" b="1">
                <a:solidFill>
                  <a:srgbClr val="117F77"/>
                </a:solidFill>
                <a:latin typeface="Helvetica Neue"/>
                <a:ea typeface="Helvetica Neue"/>
                <a:cs typeface="Helvetica Neue"/>
              </a:rPr>
              <a:t>Exemple : float64 contigu en ordre C</a:t>
            </a:r>
          </a:p>
        </p:txBody>
      </p:sp>
      <p:sp>
        <p:nvSpPr>
          <p:cNvPr id="7" name="">
            <a:extLst xmlns:a="http://schemas.openxmlformats.org/drawingml/2006/main">
              <a:ext uri="{FF2B5EF4-FFF2-40B4-BE49-F238E27FC236}">
                <a16:creationId xmlns:a16="http://schemas.microsoft.com/office/drawing/2014/main" id="{84A2A075-2CA6-46DC-B4AA-35ABECB38567}"/>
              </a:ext>
            </a:extLst>
          </p:cNvPr>
          <p:cNvSpPr>
            <a:spLocks xmlns:a="http://schemas.openxmlformats.org/drawingml/2006/main" noGrp="1"/>
          </p:cNvSpPr>
          <p:nvPr/>
        </p:nvSpPr>
        <p:spPr>
          <a:xfrm xmlns:a="http://schemas.openxmlformats.org/drawingml/2006/main">
            <a:off x="685800" y="5610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17F77"/>
                </a:solidFill>
                <a:latin typeface="Helvetica Neue"/>
                <a:ea typeface="Helvetica Neue"/>
                <a:cs typeface="Helvetica Neue"/>
              </a:defRPr>
            </a:pPr>
            <a:r>
              <a:rPr sz="1875" b="0">
                <a:solidFill>
                  <a:srgbClr val="117F77"/>
                </a:solidFill>
                <a:latin typeface="Helvetica Neue"/>
                <a:ea typeface="Helvetica Neue"/>
                <a:cs typeface="Helvetica Neue"/>
              </a:rPr>
              <a:t>Le broadcasting réutilise les entrées compatibles sans les répéter en mémoire.</a:t>
            </a:r>
          </a:p>
        </p:txBody>
      </p:sp>
      <p:graphicFrame>
        <p:nvGraphicFramePr>
          <p:cNvPr id="23" name=""/>
          <p:cNvGraphicFramePr/>
          <p:nvPr/>
        </p:nvGraphicFramePr>
        <p:xfrm>
          <a:off xmlns:a="http://schemas.openxmlformats.org/drawingml/2006/main" x="685800" y="2752725"/>
          <a:ext xmlns:a="http://schemas.openxmlformats.org/drawingml/2006/main" cx="5238750" cy="1581150"/>
        </p:xfrm>
        <a:graphic xmlns:a="http://schemas.openxmlformats.org/drawingml/2006/main">
          <a:graphicData uri="http://schemas.openxmlformats.org/drawingml/2006/table">
            <a:tbl>
              <a:tblPr firstRow="0" bandRow="0"/>
              <a:tblGrid>
                <a:gridCol w="1295400"/>
                <a:gridCol w="3943350"/>
              </a:tblGrid>
              <a:tr h="527050">
                <a:tc>
                  <a:txBody>
                    <a:bodyPr lIns="114300" tIns="76200" rIns="76200" bIns="76200">
                      <a:noAutofit/>
                    </a:bodyPr>
                    <a:lstStyle/>
                    <a:p>
                      <a:pPr algn="l">
                        <a:buNone/>
                      </a:pPr>
                      <a:r>
                        <a:rPr sz="1800" b="0">
                          <a:solidFill>
                            <a:srgbClr val="17343A"/>
                          </a:solidFill>
                          <a:latin typeface="Helvetica Neue"/>
                          <a:ea typeface="Helvetica Neue"/>
                          <a:cs typeface="Helvetica Neue"/>
                        </a:rPr>
                        <a:t>Shape</a:t>
                      </a:r>
                    </a:p>
                  </a:txBody>
                  <a:tcPr marL="91440" marR="91440" marT="45720" marB="45720" anchor="ctr">
                    <a:solidFill>
                      <a:srgbClr val="FAFCFA"/>
                    </a:solidFill>
                  </a:tcPr>
                </a:tc>
                <a:tc>
                  <a:txBody>
                    <a:bodyPr lIns="114300" tIns="76200" rIns="76200" bIns="76200">
                      <a:noAutofit/>
                    </a:bodyPr>
                    <a:lstStyle/>
                    <a:p>
                      <a:pPr algn="l">
                        <a:buNone/>
                      </a:pPr>
                      <a:r>
                        <a:rPr sz="1800" b="0">
                          <a:solidFill>
                            <a:srgbClr val="17343A"/>
                          </a:solidFill>
                          <a:latin typeface="Helvetica Neue"/>
                          <a:ea typeface="Helvetica Neue"/>
                          <a:cs typeface="Helvetica Neue"/>
                        </a:rPr>
                        <a:t>4 lignes, 2 colonnes</a:t>
                      </a:r>
                    </a:p>
                  </a:txBody>
                  <a:tcPr marL="91440" marR="91440" marT="45720" marB="45720" anchor="ctr">
                    <a:solidFill>
                      <a:srgbClr val="FAFCFA"/>
                    </a:solidFill>
                  </a:tcPr>
                </a:tc>
              </a:tr>
              <a:tr h="527050">
                <a:tc>
                  <a:txBody>
                    <a:bodyPr lIns="114300" tIns="76200" rIns="76200" bIns="76200">
                      <a:noAutofit/>
                    </a:bodyPr>
                    <a:lstStyle/>
                    <a:p>
                      <a:pPr algn="l">
                        <a:buNone/>
                      </a:pPr>
                      <a:r>
                        <a:rPr sz="1800" b="0">
                          <a:solidFill>
                            <a:srgbClr val="17343A"/>
                          </a:solidFill>
                          <a:latin typeface="Helvetica Neue"/>
                          <a:ea typeface="Helvetica Neue"/>
                          <a:cs typeface="Helvetica Neue"/>
                        </a:rPr>
                        <a:t>Type</a:t>
                      </a:r>
                    </a:p>
                  </a:txBody>
                  <a:tcPr marL="91440" marR="91440" marT="45720" marB="45720" anchor="ctr">
                    <a:solidFill>
                      <a:srgbClr val="FAFCFA"/>
                    </a:solidFill>
                  </a:tcPr>
                </a:tc>
                <a:tc>
                  <a:txBody>
                    <a:bodyPr lIns="114300" tIns="76200" rIns="76200" bIns="76200">
                      <a:noAutofit/>
                    </a:bodyPr>
                    <a:lstStyle/>
                    <a:p>
                      <a:pPr algn="l">
                        <a:buNone/>
                      </a:pPr>
                      <a:r>
                        <a:rPr sz="1800" b="0">
                          <a:solidFill>
                            <a:srgbClr val="17343A"/>
                          </a:solidFill>
                          <a:latin typeface="Helvetica Neue"/>
                          <a:ea typeface="Helvetica Neue"/>
                          <a:cs typeface="Helvetica Neue"/>
                        </a:rPr>
                        <a:t>float64 : 8 octets par valeur</a:t>
                      </a:r>
                    </a:p>
                  </a:txBody>
                  <a:tcPr marL="91440" marR="91440" marT="45720" marB="45720" anchor="ctr">
                    <a:solidFill>
                      <a:srgbClr val="FAFCFA"/>
                    </a:solidFill>
                  </a:tcPr>
                </a:tc>
              </a:tr>
              <a:tr h="527050">
                <a:tc>
                  <a:txBody>
                    <a:bodyPr lIns="114300" tIns="76200" rIns="76200" bIns="76200">
                      <a:noAutofit/>
                    </a:bodyPr>
                    <a:lstStyle/>
                    <a:p>
                      <a:pPr algn="l">
                        <a:buNone/>
                      </a:pPr>
                      <a:r>
                        <a:rPr sz="1800" b="0">
                          <a:solidFill>
                            <a:srgbClr val="17343A"/>
                          </a:solidFill>
                          <a:latin typeface="Helvetica Neue"/>
                          <a:ea typeface="Helvetica Neue"/>
                          <a:cs typeface="Helvetica Neue"/>
                        </a:rPr>
                        <a:t>Strides</a:t>
                      </a:r>
                    </a:p>
                  </a:txBody>
                  <a:tcPr marL="91440" marR="91440" marT="45720" marB="45720" anchor="ctr">
                    <a:solidFill>
                      <a:srgbClr val="FAFCFA"/>
                    </a:solidFill>
                  </a:tcPr>
                </a:tc>
                <a:tc>
                  <a:txBody>
                    <a:bodyPr lIns="114300" tIns="76200" rIns="76200" bIns="76200">
                      <a:noAutofit/>
                    </a:bodyPr>
                    <a:lstStyle/>
                    <a:p>
                      <a:pPr algn="l">
                        <a:buNone/>
                      </a:pPr>
                      <a:r>
                        <a:rPr sz="1800" b="0">
                          <a:solidFill>
                            <a:srgbClr val="17343A"/>
                          </a:solidFill>
                          <a:latin typeface="Helvetica Neue"/>
                          <a:ea typeface="Helvetica Neue"/>
                          <a:cs typeface="Helvetica Neue"/>
                        </a:rPr>
                        <a:t>16 octets par ligne, 8 par colonne</a:t>
                      </a:r>
                    </a:p>
                  </a:txBody>
                  <a:tcPr marL="91440" marR="91440" marT="45720" marB="45720" anchor="ctr">
                    <a:solidFill>
                      <a:srgbClr val="FAFCFA"/>
                    </a:solidFill>
                  </a:tcPr>
                </a:tc>
              </a:tr>
            </a:tbl>
          </a:graphicData>
        </a:graphic>
      </p:graphicFrame>
      <p:sp>
        <p:nvSpPr>
          <p:cNvPr id="10" name="buffer-label">
            <a:extLst xmlns:a="http://schemas.openxmlformats.org/drawingml/2006/main">
              <a:ext uri="{FF2B5EF4-FFF2-40B4-BE49-F238E27FC236}">
                <a16:creationId xmlns:a16="http://schemas.microsoft.com/office/drawing/2014/main" id="{7FC130FC-9385-409B-AD66-D218FE8388D2}"/>
              </a:ext>
            </a:extLst>
          </p:cNvPr>
          <p:cNvSpPr>
            <a:spLocks xmlns:a="http://schemas.openxmlformats.org/drawingml/2006/main" noGrp="1"/>
          </p:cNvSpPr>
          <p:nvPr/>
        </p:nvSpPr>
        <p:spPr>
          <a:xfrm xmlns:a="http://schemas.openxmlformats.org/drawingml/2006/main">
            <a:off x="685800" y="4552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17F77"/>
                </a:solidFill>
                <a:latin typeface="Helvetica Neue"/>
                <a:ea typeface="Helvetica Neue"/>
                <a:cs typeface="Helvetica Neue"/>
              </a:defRPr>
            </a:pPr>
            <a:r>
              <a:rPr sz="1800" b="0">
                <a:solidFill>
                  <a:srgbClr val="117F77"/>
                </a:solidFill>
                <a:latin typeface="Helvetica Neue"/>
                <a:ea typeface="Helvetica Neue"/>
                <a:cs typeface="Helvetica Neue"/>
              </a:rPr>
              <a:t>Valeurs en mémoire, ligne par ligne</a:t>
            </a:r>
          </a:p>
        </p:txBody>
      </p:sp>
      <p:graphicFrame>
        <p:nvGraphicFramePr>
          <p:cNvPr id="25" name=""/>
          <p:cNvGraphicFramePr/>
          <p:nvPr/>
        </p:nvGraphicFramePr>
        <p:xfrm>
          <a:off xmlns:a="http://schemas.openxmlformats.org/drawingml/2006/main" x="685800" y="4924425"/>
          <a:ext xmlns:a="http://schemas.openxmlformats.org/drawingml/2006/main" cx="10820400" cy="466725"/>
        </p:xfrm>
        <a:graphic xmlns:a="http://schemas.openxmlformats.org/drawingml/2006/main">
          <a:graphicData uri="http://schemas.openxmlformats.org/drawingml/2006/table">
            <a:tbl>
              <a:tblPr firstRow="0" bandRow="0"/>
              <a:tblGrid>
                <a:gridCol w="1352550"/>
                <a:gridCol w="1352550"/>
                <a:gridCol w="1352550"/>
                <a:gridCol w="1352550"/>
                <a:gridCol w="1352550"/>
                <a:gridCol w="1352550"/>
                <a:gridCol w="1352550"/>
                <a:gridCol w="1352550"/>
              </a:tblGrid>
              <a:tr h="466725">
                <a:tc>
                  <a:txBody>
                    <a:bodyPr lIns="114300" tIns="76200" rIns="76200" bIns="76200">
                      <a:noAutofit/>
                    </a:bodyPr>
                    <a:lstStyle/>
                    <a:p>
                      <a:pPr algn="l">
                        <a:buNone/>
                      </a:pPr>
                      <a:r>
                        <a:rPr sz="1875" b="0">
                          <a:solidFill>
                            <a:srgbClr val="17343A"/>
                          </a:solidFill>
                          <a:latin typeface="Helvetica Neue"/>
                          <a:ea typeface="Helvetica Neue"/>
                          <a:cs typeface="Helvetica Neue"/>
                        </a:rPr>
                        <a:t>1,4</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0,2</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4,7</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1,4</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4,5</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1,5</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6,0</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2,5</a:t>
                      </a:r>
                    </a:p>
                  </a:txBody>
                  <a:tcPr marL="91440" marR="91440" marT="45720" marB="45720" anchor="ctr">
                    <a:solidFill>
                      <a:srgbClr val="FAFCFA"/>
                    </a:solidFill>
                  </a:tcPr>
                </a:tc>
              </a:tr>
            </a:tbl>
          </a:graphicData>
        </a:graphic>
      </p:graphicFrame>
      <p:sp>
        <p:nvSpPr>
          <p:cNvPr id="13" name="">
            <a:extLst xmlns:a="http://schemas.openxmlformats.org/drawingml/2006/main">
              <a:ext uri="{FF2B5EF4-FFF2-40B4-BE49-F238E27FC236}">
                <a16:creationId xmlns:a16="http://schemas.microsoft.com/office/drawing/2014/main" id="{2AD3B042-0E1D-455C-AD57-049A65FE6221}"/>
              </a:ext>
            </a:extLst>
          </p:cNvPr>
          <p:cNvSpPr>
            <a:spLocks xmlns:a="http://schemas.openxmlformats.org/drawingml/2006/main" noGrp="1"/>
          </p:cNvSpPr>
          <p:nvPr/>
        </p:nvSpPr>
        <p:spPr>
          <a:xfrm xmlns:a="http://schemas.openxmlformats.org/drawingml/2006/main">
            <a:off x="6400800" y="2247900"/>
            <a:ext cx="510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Opérations compilées</a:t>
            </a:r>
          </a:p>
        </p:txBody>
      </p:sp>
      <p:sp>
        <p:nvSpPr>
          <p:cNvPr id="14" name="">
            <a:extLst xmlns:a="http://schemas.openxmlformats.org/drawingml/2006/main">
              <a:ext uri="{FF2B5EF4-FFF2-40B4-BE49-F238E27FC236}">
                <a16:creationId xmlns:a16="http://schemas.microsoft.com/office/drawing/2014/main" id="{5766DD09-2686-4476-9220-508B0F05AC50}"/>
              </a:ext>
            </a:extLst>
          </p:cNvPr>
          <p:cNvSpPr>
            <a:spLocks xmlns:a="http://schemas.openxmlformats.org/drawingml/2006/main" noGrp="1"/>
          </p:cNvSpPr>
          <p:nvPr/>
        </p:nvSpPr>
        <p:spPr>
          <a:xfrm xmlns:a="http://schemas.openxmlformats.org/drawingml/2006/main">
            <a:off x="6400800" y="2581275"/>
            <a:ext cx="5105400" cy="891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Python lance l’opération.</a:t>
            </a:r>
          </a:p>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Des boucles compilées traitent</a:t>
            </a:r>
          </a:p>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les valeurs typées.</a:t>
            </a:r>
          </a:p>
        </p:txBody>
      </p:sp>
      <p:sp>
        <p:nvSpPr>
          <p:cNvPr id="15" name="">
            <a:extLst xmlns:a="http://schemas.openxmlformats.org/drawingml/2006/main">
              <a:ext uri="{FF2B5EF4-FFF2-40B4-BE49-F238E27FC236}">
                <a16:creationId xmlns:a16="http://schemas.microsoft.com/office/drawing/2014/main" id="{195E38AB-CAFD-4E31-8166-FE9EFA2E15C9}"/>
              </a:ext>
            </a:extLst>
          </p:cNvPr>
          <p:cNvSpPr>
            <a:spLocks xmlns:a="http://schemas.openxmlformats.org/drawingml/2006/main" noGrp="1"/>
          </p:cNvSpPr>
          <p:nvPr/>
        </p:nvSpPr>
        <p:spPr>
          <a:xfrm xmlns:a="http://schemas.openxmlformats.org/drawingml/2006/main">
            <a:off x="6400800" y="3476625"/>
            <a:ext cx="510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Mémoire</a:t>
            </a:r>
          </a:p>
        </p:txBody>
      </p:sp>
      <p:sp>
        <p:nvSpPr>
          <p:cNvPr id="16" name="">
            <a:extLst xmlns:a="http://schemas.openxmlformats.org/drawingml/2006/main">
              <a:ext uri="{FF2B5EF4-FFF2-40B4-BE49-F238E27FC236}">
                <a16:creationId xmlns:a16="http://schemas.microsoft.com/office/drawing/2014/main" id="{074E742C-6A72-40B7-9E5E-F6B6C75DD6C7}"/>
              </a:ext>
            </a:extLst>
          </p:cNvPr>
          <p:cNvSpPr>
            <a:spLocks xmlns:a="http://schemas.openxmlformats.org/drawingml/2006/main" noGrp="1"/>
          </p:cNvSpPr>
          <p:nvPr/>
        </p:nvSpPr>
        <p:spPr>
          <a:xfrm xmlns:a="http://schemas.openxmlformats.org/drawingml/2006/main">
            <a:off x="6400800" y="3819525"/>
            <a:ext cx="51054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Les vues peuvent la partager.</a:t>
            </a:r>
          </a:p>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Un résultat peut en allouer.</a:t>
            </a:r>
          </a:p>
        </p:txBody>
      </p:sp>
    </p:spTree>
    <p:extLst>
      <p:ext uri="{BB962C8B-B14F-4D97-AF65-F5344CB8AC3E}">
        <p14:creationId xmlns:p14="http://schemas.microsoft.com/office/powerpoint/2010/main" val="27026374"/>
      </p:ext>
    </p:extLst>
  </p:cSld>
</p:sld>
</file>

<file path=ppt/slides/slide2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Les dimensions donnent un sens au résultat</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01 : axes, broadcasting et produit matriciel</a:t>
            </a:r>
          </a:p>
        </p:txBody>
      </p:sp>
      <p:graphicFrame>
        <p:nvGraphicFramePr>
          <p:cNvPr id="16" name=""/>
          <p:cNvGraphicFramePr/>
          <p:nvPr/>
        </p:nvGraphicFramePr>
        <p:xfrm>
          <a:off xmlns:a="http://schemas.openxmlformats.org/drawingml/2006/main" x="685800" y="1762125"/>
          <a:ext xmlns:a="http://schemas.openxmlformats.org/drawingml/2006/main" cx="10820400" cy="2762250"/>
        </p:xfrm>
        <a:graphic xmlns:a="http://schemas.openxmlformats.org/drawingml/2006/main">
          <a:graphicData uri="http://schemas.openxmlformats.org/drawingml/2006/table">
            <a:tbl>
              <a:tblPr/>
              <a:tblGrid>
                <a:gridCol w="5048250"/>
                <a:gridCol w="2095500"/>
                <a:gridCol w="3676650"/>
              </a:tblGrid>
              <a:tr h="690563">
                <a:tc>
                  <a:txBody>
                    <a:bodyPr/>
                    <a:lstStyle/>
                    <a:p>
                      <a:r>
                        <a:rPr sz="1875" b="1">
                          <a:solidFill>
                            <a:srgbClr val="17343A"/>
                          </a:solidFill>
                          <a:latin typeface="Helvetica Neue"/>
                          <a:ea typeface="Helvetica Neue"/>
                          <a:cs typeface="Helvetica Neue"/>
                        </a:rPr>
                        <a:t>Question pour X de shape (n, d)</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Shape attendue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Interprétation</a:t>
                      </a:r>
                    </a:p>
                  </a:txBody>
                  <a:tcPr marL="104775" marR="104775" marT="95250" marB="76200" anchor="t">
                    <a:solidFill>
                      <a:srgbClr val="E1EEEA"/>
                    </a:solidFill>
                  </a:tcPr>
                </a:tc>
              </a:tr>
              <a:tr h="690563">
                <a:tc>
                  <a:txBody>
                    <a:bodyPr/>
                    <a:lstStyle/>
                    <a:p>
                      <a:r>
                        <a:rPr sz="1875">
                          <a:solidFill>
                            <a:srgbClr val="17343A"/>
                          </a:solidFill>
                          <a:latin typeface="Helvetica Neue"/>
                          <a:ea typeface="Helvetica Neue"/>
                          <a:cs typeface="Helvetica Neue"/>
                        </a:rPr>
                        <a:t>Quelle est la moyenne de chaque variable?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(d,)</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Un résumé par variable</a:t>
                      </a:r>
                    </a:p>
                  </a:txBody>
                  <a:tcPr marL="104775" marR="104775" marT="95250" marB="76200" anchor="t">
                    <a:solidFill>
                      <a:srgbClr val="F8FBFA"/>
                    </a:solidFill>
                  </a:tcPr>
                </a:tc>
              </a:tr>
              <a:tr h="690563">
                <a:tc>
                  <a:txBody>
                    <a:bodyPr/>
                    <a:lstStyle/>
                    <a:p>
                      <a:r>
                        <a:rPr sz="1875">
                          <a:solidFill>
                            <a:srgbClr val="17343A"/>
                          </a:solidFill>
                          <a:latin typeface="Helvetica Neue"/>
                          <a:ea typeface="Helvetica Neue"/>
                          <a:cs typeface="Helvetica Neue"/>
                        </a:rPr>
                        <a:t>Quel score attribuer à chaque observation?</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(n,)</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Un résultat par observation</a:t>
                      </a:r>
                    </a:p>
                  </a:txBody>
                  <a:tcPr marL="104775" marR="104775" marT="95250" marB="76200" anchor="t">
                    <a:solidFill>
                      <a:srgbClr val="F8FBFA"/>
                    </a:solidFill>
                  </a:tcPr>
                </a:tc>
              </a:tr>
              <a:tr h="690563">
                <a:tc>
                  <a:txBody>
                    <a:bodyPr/>
                    <a:lstStyle/>
                    <a:p>
                      <a:r>
                        <a:rPr sz="1875">
                          <a:solidFill>
                            <a:srgbClr val="17343A"/>
                          </a:solidFill>
                          <a:latin typeface="Helvetica Neue"/>
                          <a:ea typeface="Helvetica Neue"/>
                          <a:cs typeface="Helvetica Neue"/>
                        </a:rPr>
                        <a:t>Quel est l’écart à la moyenne de sa variable?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(n, d)</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Une valeur centrée par mesure</a:t>
                      </a:r>
                    </a:p>
                  </a:txBody>
                  <a:tcPr marL="104775" marR="104775" marT="95250" marB="76200" anchor="t">
                    <a:solidFill>
                      <a:srgbClr val="F8FBFA"/>
                    </a:solidFill>
                  </a:tcPr>
                </a:tc>
              </a:tr>
            </a:tbl>
          </a:graphicData>
        </a:graphic>
      </p:graphicFrame>
      <p:sp>
        <p:nvSpPr>
          <p:cNvPr id="10" name="">
            <a:extLst xmlns:a="http://schemas.openxmlformats.org/drawingml/2006/main">
              <a:ext uri="{FF2B5EF4-FFF2-40B4-BE49-F238E27FC236}">
                <a16:creationId xmlns:a16="http://schemas.microsoft.com/office/drawing/2014/main" id="{54674C36-BDCF-4A62-BAC4-AF0D9193DE17}"/>
              </a:ext>
            </a:extLst>
          </p:cNvPr>
          <p:cNvSpPr>
            <a:spLocks xmlns:a="http://schemas.openxmlformats.org/drawingml/2006/main" noGrp="1"/>
          </p:cNvSpPr>
          <p:nvPr/>
        </p:nvSpPr>
        <p:spPr>
          <a:xfrm xmlns:a="http://schemas.openxmlformats.org/drawingml/2006/main">
            <a:off x="685800" y="4905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Un calcul peut s’exécuter tout en répondant à la mauvaise question.</a:t>
            </a:r>
          </a:p>
        </p:txBody>
      </p:sp>
      <p:sp>
        <p:nvSpPr>
          <p:cNvPr id="11" name="">
            <a:extLst xmlns:a="http://schemas.openxmlformats.org/drawingml/2006/main">
              <a:ext uri="{FF2B5EF4-FFF2-40B4-BE49-F238E27FC236}">
                <a16:creationId xmlns:a16="http://schemas.microsoft.com/office/drawing/2014/main" id="{D8B265B1-84AE-45A0-ACD4-021213D137B1}"/>
              </a:ext>
            </a:extLst>
          </p:cNvPr>
          <p:cNvSpPr>
            <a:spLocks xmlns:a="http://schemas.openxmlformats.org/drawingml/2006/main" noGrp="1"/>
          </p:cNvSpPr>
          <p:nvPr/>
        </p:nvSpPr>
        <p:spPr>
          <a:xfrm xmlns:a="http://schemas.openxmlformats.org/drawingml/2006/main">
            <a:off x="685800" y="56197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Les dimensions ne remplacent pas le sens des variables ni leurs unités.</a:t>
            </a:r>
          </a:p>
        </p:txBody>
      </p:sp>
    </p:spTree>
    <p:extLst>
      <p:ext uri="{BB962C8B-B14F-4D97-AF65-F5344CB8AC3E}">
        <p14:creationId xmlns:p14="http://schemas.microsoft.com/office/powerpoint/2010/main" val="1577667620"/>
      </p:ext>
    </p:extLst>
  </p:cSld>
</p:sld>
</file>

<file path=ppt/slides/slide2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6D5613-33E8-44C7-90DD-9294DC3C47BA}"/>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3A"/>
                </a:solidFill>
                <a:latin typeface="Helvetica Neue"/>
                <a:ea typeface="Helvetica Neue"/>
                <a:cs typeface="Helvetica Neue"/>
              </a:defRPr>
            </a:pPr>
            <a:r>
              <a:rPr sz="3450" b="1">
                <a:solidFill>
                  <a:srgbClr val="17343A"/>
                </a:solidFill>
                <a:latin typeface="Helvetica Neue"/>
                <a:ea typeface="Helvetica Neue"/>
                <a:cs typeface="Helvetica Neue"/>
              </a:rPr>
              <a:t>Pourquoi pandas : des tables étiquetées</a:t>
            </a:r>
          </a:p>
        </p:txBody>
      </p:sp>
      <p:sp>
        <p:nvSpPr>
          <p:cNvPr id="2" name="">
            <a:extLst xmlns:a="http://schemas.openxmlformats.org/drawingml/2006/main">
              <a:ext uri="{FF2B5EF4-FFF2-40B4-BE49-F238E27FC236}">
                <a16:creationId xmlns:a16="http://schemas.microsoft.com/office/drawing/2014/main" id="{CB6461B3-AC71-4227-B136-D63026CD8D33}"/>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24</a:t>
            </a:r>
          </a:p>
        </p:txBody>
      </p:sp>
      <p:sp>
        <p:nvSpPr>
          <p:cNvPr id="3" name="">
            <a:extLst xmlns:a="http://schemas.openxmlformats.org/drawingml/2006/main">
              <a:ext uri="{FF2B5EF4-FFF2-40B4-BE49-F238E27FC236}">
                <a16:creationId xmlns:a16="http://schemas.microsoft.com/office/drawing/2014/main" id="{F65A36D6-07B3-45F2-9D84-3C0F89683BCB}"/>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7F77"/>
                </a:solidFill>
                <a:latin typeface="Helvetica Neue"/>
                <a:ea typeface="Helvetica Neue"/>
                <a:cs typeface="Helvetica Neue"/>
              </a:defRPr>
            </a:pPr>
            <a:r>
              <a:rPr sz="1725" b="0">
                <a:solidFill>
                  <a:srgbClr val="117F77"/>
                </a:solidFill>
                <a:latin typeface="Helvetica Neue"/>
                <a:ea typeface="Helvetica Neue"/>
                <a:cs typeface="Helvetica Neue"/>
              </a:rPr>
              <a:t>Notebook 02 : inspection, nettoyage et résumés</a:t>
            </a:r>
          </a:p>
        </p:txBody>
      </p:sp>
      <p:sp>
        <p:nvSpPr>
          <p:cNvPr id="5" name="">
            <a:extLst xmlns:a="http://schemas.openxmlformats.org/drawingml/2006/main">
              <a:ext uri="{FF2B5EF4-FFF2-40B4-BE49-F238E27FC236}">
                <a16:creationId xmlns:a16="http://schemas.microsoft.com/office/drawing/2014/main" id="{4AFCC6C2-8DE3-448D-9935-F0F9C67291AD}"/>
              </a:ext>
            </a:extLst>
          </p:cNvPr>
          <p:cNvSpPr>
            <a:spLocks xmlns:a="http://schemas.openxmlformats.org/drawingml/2006/main" noGrp="1"/>
          </p:cNvSpPr>
          <p:nvPr/>
        </p:nvSpPr>
        <p:spPr>
          <a:xfrm xmlns:a="http://schemas.openxmlformats.org/drawingml/2006/main">
            <a:off x="685800" y="5286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7F77"/>
                </a:solidFill>
                <a:latin typeface="Helvetica Neue"/>
                <a:ea typeface="Helvetica Neue"/>
                <a:cs typeface="Helvetica Neue"/>
              </a:defRPr>
            </a:pPr>
            <a:r>
              <a:rPr sz="2325" b="1">
                <a:solidFill>
                  <a:srgbClr val="117F77"/>
                </a:solidFill>
                <a:latin typeface="Helvetica Neue"/>
                <a:ea typeface="Helvetica Neue"/>
                <a:cs typeface="Helvetica Neue"/>
              </a:rPr>
              <a:t>Les noms de colonnes identifient les mesures et les catégories.</a:t>
            </a:r>
          </a:p>
        </p:txBody>
      </p:sp>
      <p:sp>
        <p:nvSpPr>
          <p:cNvPr id="7" name="table-context">
            <a:extLst xmlns:a="http://schemas.openxmlformats.org/drawingml/2006/main">
              <a:ext uri="{FF2B5EF4-FFF2-40B4-BE49-F238E27FC236}">
                <a16:creationId xmlns:a16="http://schemas.microsoft.com/office/drawing/2014/main" id="{197BC94A-2534-4A6F-B976-F584808093A1}"/>
              </a:ext>
            </a:extLst>
          </p:cNvPr>
          <p:cNvSpPr>
            <a:spLocks xmlns:a="http://schemas.openxmlformats.org/drawingml/2006/main" noGrp="1"/>
          </p:cNvSpPr>
          <p:nvPr/>
        </p:nvSpPr>
        <p:spPr>
          <a:xfrm xmlns:a="http://schemas.openxmlformats.org/drawingml/2006/main">
            <a:off x="685800" y="17335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17F77"/>
                </a:solidFill>
                <a:latin typeface="Helvetica Neue"/>
                <a:ea typeface="Helvetica Neue"/>
                <a:cs typeface="Helvetica Neue"/>
              </a:defRPr>
            </a:pPr>
            <a:r>
              <a:rPr sz="2100" b="1">
                <a:solidFill>
                  <a:srgbClr val="117F77"/>
                </a:solidFill>
                <a:latin typeface="Helvetica Neue"/>
                <a:ea typeface="Helvetica Neue"/>
                <a:cs typeface="Helvetica Neue"/>
              </a:rPr>
              <a:t>Commandes, sondages et mesures</a:t>
            </a:r>
          </a:p>
        </p:txBody>
      </p:sp>
      <p:graphicFrame>
        <p:nvGraphicFramePr>
          <p:cNvPr id="16" name=""/>
          <p:cNvGraphicFramePr/>
          <p:nvPr/>
        </p:nvGraphicFramePr>
        <p:xfrm>
          <a:off xmlns:a="http://schemas.openxmlformats.org/drawingml/2006/main" x="685800" y="2400300"/>
          <a:ext xmlns:a="http://schemas.openxmlformats.org/drawingml/2006/main" cx="6048375" cy="2400300"/>
        </p:xfrm>
        <a:graphic xmlns:a="http://schemas.openxmlformats.org/drawingml/2006/main">
          <a:graphicData uri="http://schemas.openxmlformats.org/drawingml/2006/table">
            <a:tbl>
              <a:tblPr firstRow="1" bandRow="0"/>
              <a:tblGrid>
                <a:gridCol w="895350"/>
                <a:gridCol w="1571625"/>
                <a:gridCol w="1866900"/>
                <a:gridCol w="1714500"/>
              </a:tblGrid>
              <a:tr h="600075">
                <a:tc>
                  <a:txBody>
                    <a:bodyPr lIns="114300" tIns="76200" rIns="76200" bIns="76200">
                      <a:noAutofit/>
                    </a:bodyPr>
                    <a:lstStyle/>
                    <a:p>
                      <a:pPr algn="l">
                        <a:buNone/>
                      </a:pPr>
                      <a:r>
                        <a:rPr sz="1875" b="1">
                          <a:solidFill>
                            <a:srgbClr val="17343A"/>
                          </a:solidFill>
                          <a:latin typeface="Helvetica Neue"/>
                          <a:ea typeface="Helvetica Neue"/>
                          <a:cs typeface="Helvetica Neue"/>
                        </a:rPr>
                        <a:t>N°</a:t>
                      </a:r>
                    </a:p>
                  </a:txBody>
                  <a:tcPr marL="91440" marR="91440" marT="45720" marB="45720" anchor="ctr">
                    <a:solidFill>
                      <a:srgbClr val="E1EEEA"/>
                    </a:solidFill>
                  </a:tcPr>
                </a:tc>
                <a:tc>
                  <a:txBody>
                    <a:bodyPr lIns="114300" tIns="76200" rIns="76200" bIns="76200">
                      <a:noAutofit/>
                    </a:bodyPr>
                    <a:lstStyle/>
                    <a:p>
                      <a:pPr algn="l">
                        <a:buNone/>
                      </a:pPr>
                      <a:r>
                        <a:rPr sz="1875" b="1">
                          <a:solidFill>
                            <a:srgbClr val="17343A"/>
                          </a:solidFill>
                          <a:latin typeface="Helvetica Neue"/>
                          <a:ea typeface="Helvetica Neue"/>
                          <a:cs typeface="Helvetica Neue"/>
                        </a:rPr>
                        <a:t>Pays</a:t>
                      </a:r>
                    </a:p>
                  </a:txBody>
                  <a:tcPr marL="91440" marR="91440" marT="45720" marB="45720" anchor="ctr">
                    <a:solidFill>
                      <a:srgbClr val="E1EEEA"/>
                    </a:solidFill>
                  </a:tcPr>
                </a:tc>
                <a:tc>
                  <a:txBody>
                    <a:bodyPr lIns="114300" tIns="76200" rIns="76200" bIns="76200">
                      <a:noAutofit/>
                    </a:bodyPr>
                    <a:lstStyle/>
                    <a:p>
                      <a:pPr algn="l">
                        <a:buNone/>
                      </a:pPr>
                      <a:r>
                        <a:rPr sz="1875" b="1">
                          <a:solidFill>
                            <a:srgbClr val="17343A"/>
                          </a:solidFill>
                          <a:latin typeface="Helvetica Neue"/>
                          <a:ea typeface="Helvetica Neue"/>
                          <a:cs typeface="Helvetica Neue"/>
                        </a:rPr>
                        <a:t>Produit</a:t>
                      </a:r>
                    </a:p>
                  </a:txBody>
                  <a:tcPr marL="91440" marR="91440" marT="45720" marB="45720" anchor="ctr">
                    <a:solidFill>
                      <a:srgbClr val="E1EEEA"/>
                    </a:solidFill>
                  </a:tcPr>
                </a:tc>
                <a:tc>
                  <a:txBody>
                    <a:bodyPr lIns="114300" tIns="76200" rIns="76200" bIns="76200">
                      <a:noAutofit/>
                    </a:bodyPr>
                    <a:lstStyle/>
                    <a:p>
                      <a:pPr algn="l">
                        <a:buNone/>
                      </a:pPr>
                      <a:r>
                        <a:rPr sz="1875" b="1">
                          <a:solidFill>
                            <a:srgbClr val="17343A"/>
                          </a:solidFill>
                          <a:latin typeface="Helvetica Neue"/>
                          <a:ea typeface="Helvetica Neue"/>
                          <a:cs typeface="Helvetica Neue"/>
                        </a:rPr>
                        <a:t>Quantité</a:t>
                      </a:r>
                    </a:p>
                  </a:txBody>
                  <a:tcPr marL="91440" marR="91440" marT="45720" marB="45720" anchor="ctr">
                    <a:solidFill>
                      <a:srgbClr val="E1EEEA"/>
                    </a:solidFill>
                  </a:tcPr>
                </a:tc>
              </a:tr>
              <a:tr h="600075">
                <a:tc>
                  <a:txBody>
                    <a:bodyPr lIns="114300" tIns="76200" rIns="76200" bIns="76200">
                      <a:noAutofit/>
                    </a:bodyPr>
                    <a:lstStyle/>
                    <a:p>
                      <a:pPr algn="l">
                        <a:buNone/>
                      </a:pPr>
                      <a:r>
                        <a:rPr sz="1875" b="0">
                          <a:solidFill>
                            <a:srgbClr val="17343A"/>
                          </a:solidFill>
                          <a:latin typeface="Helvetica Neue"/>
                          <a:ea typeface="Helvetica Neue"/>
                          <a:cs typeface="Helvetica Neue"/>
                        </a:rPr>
                        <a:t>101</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Canada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Cahier</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4</a:t>
                      </a:r>
                    </a:p>
                  </a:txBody>
                  <a:tcPr marL="91440" marR="91440" marT="45720" marB="45720" anchor="ctr">
                    <a:solidFill>
                      <a:srgbClr val="FAFCFA"/>
                    </a:solidFill>
                  </a:tcPr>
                </a:tc>
              </a:tr>
              <a:tr h="600075">
                <a:tc>
                  <a:txBody>
                    <a:bodyPr lIns="114300" tIns="76200" rIns="76200" bIns="76200">
                      <a:noAutofit/>
                    </a:bodyPr>
                    <a:lstStyle/>
                    <a:p>
                      <a:pPr algn="l">
                        <a:buNone/>
                      </a:pPr>
                      <a:r>
                        <a:rPr sz="1875" b="0">
                          <a:solidFill>
                            <a:srgbClr val="17343A"/>
                          </a:solidFill>
                          <a:latin typeface="Helvetica Neue"/>
                          <a:ea typeface="Helvetica Neue"/>
                          <a:cs typeface="Helvetica Neue"/>
                        </a:rPr>
                        <a:t>102</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Canada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Stylo</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10</a:t>
                      </a:r>
                    </a:p>
                  </a:txBody>
                  <a:tcPr marL="91440" marR="91440" marT="45720" marB="45720" anchor="ctr">
                    <a:solidFill>
                      <a:srgbClr val="FAFCFA"/>
                    </a:solidFill>
                  </a:tcPr>
                </a:tc>
              </a:tr>
              <a:tr h="600075">
                <a:tc>
                  <a:txBody>
                    <a:bodyPr lIns="114300" tIns="76200" rIns="76200" bIns="76200">
                      <a:noAutofit/>
                    </a:bodyPr>
                    <a:lstStyle/>
                    <a:p>
                      <a:pPr algn="l">
                        <a:buNone/>
                      </a:pPr>
                      <a:r>
                        <a:rPr sz="1875" b="0">
                          <a:solidFill>
                            <a:srgbClr val="17343A"/>
                          </a:solidFill>
                          <a:latin typeface="Helvetica Neue"/>
                          <a:ea typeface="Helvetica Neue"/>
                          <a:cs typeface="Helvetica Neue"/>
                        </a:rPr>
                        <a:t>103</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Canada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Cahier</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6</a:t>
                      </a:r>
                    </a:p>
                  </a:txBody>
                  <a:tcPr marL="91440" marR="91440" marT="45720" marB="45720" anchor="ctr">
                    <a:solidFill>
                      <a:srgbClr val="FAFCFA"/>
                    </a:solidFill>
                  </a:tcPr>
                </a:tc>
              </a:tr>
            </a:tbl>
          </a:graphicData>
        </a:graphic>
      </p:graphicFrame>
      <p:sp>
        <p:nvSpPr>
          <p:cNvPr id="9" name="">
            <a:extLst xmlns:a="http://schemas.openxmlformats.org/drawingml/2006/main">
              <a:ext uri="{FF2B5EF4-FFF2-40B4-BE49-F238E27FC236}">
                <a16:creationId xmlns:a16="http://schemas.microsoft.com/office/drawing/2014/main" id="{95DA47C1-B69F-41F2-9A31-CC8465CCECF8}"/>
              </a:ext>
            </a:extLst>
          </p:cNvPr>
          <p:cNvSpPr>
            <a:spLocks xmlns:a="http://schemas.openxmlformats.org/drawingml/2006/main" noGrp="1"/>
          </p:cNvSpPr>
          <p:nvPr/>
        </p:nvSpPr>
        <p:spPr>
          <a:xfrm xmlns:a="http://schemas.openxmlformats.org/drawingml/2006/main">
            <a:off x="7229475" y="2343150"/>
            <a:ext cx="4314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D827B"/>
                </a:solidFill>
                <a:latin typeface="Helvetica Neue"/>
                <a:ea typeface="Helvetica Neue"/>
                <a:cs typeface="Helvetica Neue"/>
              </a:defRPr>
            </a:pPr>
            <a:r>
              <a:rPr sz="2100" b="1">
                <a:solidFill>
                  <a:srgbClr val="0D827B"/>
                </a:solidFill>
                <a:latin typeface="Helvetica Neue"/>
                <a:ea typeface="Helvetica Neue"/>
                <a:cs typeface="Helvetica Neue"/>
              </a:rPr>
              <a:t>Tâches courantes</a:t>
            </a:r>
          </a:p>
        </p:txBody>
      </p:sp>
      <p:sp>
        <p:nvSpPr>
          <p:cNvPr id="10" name="">
            <a:extLst xmlns:a="http://schemas.openxmlformats.org/drawingml/2006/main">
              <a:ext uri="{FF2B5EF4-FFF2-40B4-BE49-F238E27FC236}">
                <a16:creationId xmlns:a16="http://schemas.microsoft.com/office/drawing/2014/main" id="{A711002B-1363-4136-80BA-34CA45E43BD7}"/>
              </a:ext>
            </a:extLst>
          </p:cNvPr>
          <p:cNvSpPr>
            <a:spLocks xmlns:a="http://schemas.openxmlformats.org/drawingml/2006/main" noGrp="1"/>
          </p:cNvSpPr>
          <p:nvPr/>
        </p:nvSpPr>
        <p:spPr>
          <a:xfrm xmlns:a="http://schemas.openxmlformats.org/drawingml/2006/main">
            <a:off x="7229475" y="2705100"/>
            <a:ext cx="4314825" cy="1234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Lire des fichiers et des extractions.</a:t>
            </a:r>
          </a:p>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Traiter les valeurs manquantes.</a:t>
            </a:r>
          </a:p>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Repérer les doublons.</a:t>
            </a:r>
          </a:p>
          <a:p xmlns:a="http://schemas.openxmlformats.org/drawingml/2006/main">
            <a:pPr>
              <a:defRPr sz="2025" b="0">
                <a:solidFill>
                  <a:srgbClr val="17343A"/>
                </a:solidFill>
                <a:latin typeface="Helvetica Neue"/>
                <a:ea typeface="Helvetica Neue"/>
                <a:cs typeface="Helvetica Neue"/>
              </a:defRPr>
            </a:pPr>
            <a:r>
              <a:rPr sz="2025" b="0">
                <a:solidFill>
                  <a:srgbClr val="17343A"/>
                </a:solidFill>
                <a:latin typeface="Helvetica Neue"/>
                <a:ea typeface="Helvetica Neue"/>
                <a:cs typeface="Helvetica Neue"/>
              </a:rPr>
              <a:t>Joindre et résumer des tables.</a:t>
            </a:r>
          </a:p>
        </p:txBody>
      </p:sp>
    </p:spTree>
    <p:extLst>
      <p:ext uri="{BB962C8B-B14F-4D97-AF65-F5344CB8AC3E}">
        <p14:creationId xmlns:p14="http://schemas.microsoft.com/office/powerpoint/2010/main" val="991613436"/>
      </p:ext>
    </p:extLst>
  </p:cSld>
</p:sld>
</file>

<file path=ppt/slides/slide2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34C811-8413-4E01-BEB5-98BE115B77D7}"/>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3A"/>
                </a:solidFill>
                <a:latin typeface="Helvetica Neue"/>
                <a:ea typeface="Helvetica Neue"/>
                <a:cs typeface="Helvetica Neue"/>
              </a:defRPr>
            </a:pPr>
            <a:r>
              <a:rPr sz="3450" b="1">
                <a:solidFill>
                  <a:srgbClr val="17343A"/>
                </a:solidFill>
                <a:latin typeface="Helvetica Neue"/>
                <a:ea typeface="Helvetica Neue"/>
                <a:cs typeface="Helvetica Neue"/>
              </a:rPr>
              <a:t>pandas aligne les étiquettes dans les calculs</a:t>
            </a:r>
          </a:p>
        </p:txBody>
      </p:sp>
      <p:sp>
        <p:nvSpPr>
          <p:cNvPr id="2" name="">
            <a:extLst xmlns:a="http://schemas.openxmlformats.org/drawingml/2006/main">
              <a:ext uri="{FF2B5EF4-FFF2-40B4-BE49-F238E27FC236}">
                <a16:creationId xmlns:a16="http://schemas.microsoft.com/office/drawing/2014/main" id="{BF4047BA-9308-407D-B647-7637E8E26D1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2A2D5EA9-1999-4B3F-983B-4B999BB72792}"/>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117F77"/>
                </a:solidFill>
                <a:latin typeface="Helvetica Neue"/>
                <a:ea typeface="Helvetica Neue"/>
                <a:cs typeface="Helvetica Neue"/>
              </a:defRPr>
            </a:pPr>
            <a:r>
              <a:rPr sz="1725" b="0">
                <a:solidFill>
                  <a:srgbClr val="117F77"/>
                </a:solidFill>
                <a:latin typeface="Helvetica Neue"/>
                <a:ea typeface="Helvetica Neue"/>
                <a:cs typeface="Helvetica Neue"/>
              </a:rPr>
              <a:t>Notebook 02 : sélection par étiquette, résumés et graphiques</a:t>
            </a:r>
          </a:p>
        </p:txBody>
      </p:sp>
      <p:sp>
        <p:nvSpPr>
          <p:cNvPr id="4" name="">
            <a:extLst xmlns:a="http://schemas.openxmlformats.org/drawingml/2006/main">
              <a:ext uri="{FF2B5EF4-FFF2-40B4-BE49-F238E27FC236}">
                <a16:creationId xmlns:a16="http://schemas.microsoft.com/office/drawing/2014/main" id="{8202BF45-FD63-47CF-B3F0-0847291A3994}"/>
              </a:ext>
            </a:extLst>
          </p:cNvPr>
          <p:cNvSpPr>
            <a:spLocks xmlns:a="http://schemas.openxmlformats.org/drawingml/2006/main" noGrp="1"/>
          </p:cNvSpPr>
          <p:nvPr/>
        </p:nvSpPr>
        <p:spPr>
          <a:xfrm xmlns:a="http://schemas.openxmlformats.org/drawingml/2006/main">
            <a:off x="685800" y="15716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7343A"/>
                </a:solidFill>
                <a:latin typeface="Helvetica Neue"/>
                <a:ea typeface="Helvetica Neue"/>
                <a:cs typeface="Helvetica Neue"/>
              </a:defRPr>
            </a:pPr>
            <a:r>
              <a:rPr sz="2250" b="0">
                <a:solidFill>
                  <a:srgbClr val="17343A"/>
                </a:solidFill>
                <a:latin typeface="Helvetica Neue"/>
                <a:ea typeface="Helvetica Neue"/>
                <a:cs typeface="Helvetica Neue"/>
              </a:rPr>
              <a:t>Un DataFrame réunit des colonnes typées et des étiquettes.</a:t>
            </a:r>
          </a:p>
        </p:txBody>
      </p:sp>
      <p:sp>
        <p:nvSpPr>
          <p:cNvPr id="5" name="">
            <a:extLst xmlns:a="http://schemas.openxmlformats.org/drawingml/2006/main">
              <a:ext uri="{FF2B5EF4-FFF2-40B4-BE49-F238E27FC236}">
                <a16:creationId xmlns:a16="http://schemas.microsoft.com/office/drawing/2014/main" id="{AB199827-644B-416C-9572-A031E89E4685}"/>
              </a:ext>
            </a:extLst>
          </p:cNvPr>
          <p:cNvSpPr>
            <a:spLocks xmlns:a="http://schemas.openxmlformats.org/drawingml/2006/main" noGrp="1"/>
          </p:cNvSpPr>
          <p:nvPr/>
        </p:nvSpPr>
        <p:spPr>
          <a:xfrm xmlns:a="http://schemas.openxmlformats.org/drawingml/2006/main">
            <a:off x="685800" y="23717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17F77"/>
                </a:solidFill>
                <a:latin typeface="Helvetica Neue"/>
                <a:ea typeface="Helvetica Neue"/>
                <a:cs typeface="Helvetica Neue"/>
              </a:defRPr>
            </a:pPr>
            <a:r>
              <a:rPr sz="2100" b="1">
                <a:solidFill>
                  <a:srgbClr val="117F77"/>
                </a:solidFill>
                <a:latin typeface="Helvetica Neue"/>
                <a:ea typeface="Helvetica Neue"/>
                <a:cs typeface="Helvetica Neue"/>
              </a:rPr>
              <a:t>Les Series s’additionnent par étiquette</a:t>
            </a:r>
          </a:p>
        </p:txBody>
      </p:sp>
      <p:sp>
        <p:nvSpPr>
          <p:cNvPr id="7" name="">
            <a:extLst xmlns:a="http://schemas.openxmlformats.org/drawingml/2006/main">
              <a:ext uri="{FF2B5EF4-FFF2-40B4-BE49-F238E27FC236}">
                <a16:creationId xmlns:a16="http://schemas.microsoft.com/office/drawing/2014/main" id="{0DE4EC68-7890-483A-8677-525F65F3DA68}"/>
              </a:ext>
            </a:extLst>
          </p:cNvPr>
          <p:cNvSpPr>
            <a:spLocks xmlns:a="http://schemas.openxmlformats.org/drawingml/2006/main" noGrp="1"/>
          </p:cNvSpPr>
          <p:nvPr/>
        </p:nvSpPr>
        <p:spPr>
          <a:xfrm xmlns:a="http://schemas.openxmlformats.org/drawingml/2006/main">
            <a:off x="685800" y="54483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17F77"/>
                </a:solidFill>
                <a:latin typeface="Helvetica Neue"/>
                <a:ea typeface="Helvetica Neue"/>
                <a:cs typeface="Helvetica Neue"/>
              </a:defRPr>
            </a:pPr>
            <a:r>
              <a:rPr sz="2175" b="1">
                <a:solidFill>
                  <a:srgbClr val="117F77"/>
                </a:solidFill>
                <a:latin typeface="Helvetica Neue"/>
                <a:ea typeface="Helvetica Neue"/>
                <a:cs typeface="Helvetica Neue"/>
              </a:rPr>
              <a:t>Les étiquettes déterminent quelles valeurs se combinent.</a:t>
            </a:r>
          </a:p>
        </p:txBody>
      </p:sp>
      <p:sp>
        <p:nvSpPr>
          <p:cNvPr id="9" name="series-a">
            <a:extLst xmlns:a="http://schemas.openxmlformats.org/drawingml/2006/main">
              <a:ext uri="{FF2B5EF4-FFF2-40B4-BE49-F238E27FC236}">
                <a16:creationId xmlns:a16="http://schemas.microsoft.com/office/drawing/2014/main" id="{5FD57085-2CD7-4F95-A401-E8179D3EECA5}"/>
              </a:ext>
            </a:extLst>
          </p:cNvPr>
          <p:cNvSpPr>
            <a:spLocks xmlns:a="http://schemas.openxmlformats.org/drawingml/2006/main" noGrp="1"/>
          </p:cNvSpPr>
          <p:nvPr/>
        </p:nvSpPr>
        <p:spPr>
          <a:xfrm xmlns:a="http://schemas.openxmlformats.org/drawingml/2006/main">
            <a:off x="685800" y="299085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17343A"/>
                </a:solidFill>
                <a:latin typeface="Helvetica Neue"/>
                <a:ea typeface="Helvetica Neue"/>
                <a:cs typeface="Helvetica Neue"/>
              </a:defRPr>
            </a:pPr>
            <a:r>
              <a:rPr sz="1875" b="1">
                <a:solidFill>
                  <a:srgbClr val="17343A"/>
                </a:solidFill>
                <a:latin typeface="Helvetica Neue"/>
                <a:ea typeface="Helvetica Neue"/>
                <a:cs typeface="Helvetica Neue"/>
              </a:rPr>
              <a:t>Series A</a:t>
            </a:r>
          </a:p>
        </p:txBody>
      </p:sp>
      <p:sp>
        <p:nvSpPr>
          <p:cNvPr id="10" name="series-b">
            <a:extLst xmlns:a="http://schemas.openxmlformats.org/drawingml/2006/main">
              <a:ext uri="{FF2B5EF4-FFF2-40B4-BE49-F238E27FC236}">
                <a16:creationId xmlns:a16="http://schemas.microsoft.com/office/drawing/2014/main" id="{813E8B00-96F4-47BF-847C-08F96A073026}"/>
              </a:ext>
            </a:extLst>
          </p:cNvPr>
          <p:cNvSpPr>
            <a:spLocks xmlns:a="http://schemas.openxmlformats.org/drawingml/2006/main" noGrp="1"/>
          </p:cNvSpPr>
          <p:nvPr/>
        </p:nvSpPr>
        <p:spPr>
          <a:xfrm xmlns:a="http://schemas.openxmlformats.org/drawingml/2006/main">
            <a:off x="2876550" y="299085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17343A"/>
                </a:solidFill>
                <a:latin typeface="Helvetica Neue"/>
                <a:ea typeface="Helvetica Neue"/>
                <a:cs typeface="Helvetica Neue"/>
              </a:defRPr>
            </a:pPr>
            <a:r>
              <a:rPr sz="1875" b="1">
                <a:solidFill>
                  <a:srgbClr val="17343A"/>
                </a:solidFill>
                <a:latin typeface="Helvetica Neue"/>
                <a:ea typeface="Helvetica Neue"/>
                <a:cs typeface="Helvetica Neue"/>
              </a:rPr>
              <a:t>Series B</a:t>
            </a:r>
          </a:p>
        </p:txBody>
      </p:sp>
      <p:sp>
        <p:nvSpPr>
          <p:cNvPr id="11" name="series-sum">
            <a:extLst xmlns:a="http://schemas.openxmlformats.org/drawingml/2006/main">
              <a:ext uri="{FF2B5EF4-FFF2-40B4-BE49-F238E27FC236}">
                <a16:creationId xmlns:a16="http://schemas.microsoft.com/office/drawing/2014/main" id="{CEF7E193-BF2F-4607-A1B1-B647227812DB}"/>
              </a:ext>
            </a:extLst>
          </p:cNvPr>
          <p:cNvSpPr>
            <a:spLocks xmlns:a="http://schemas.openxmlformats.org/drawingml/2006/main" noGrp="1"/>
          </p:cNvSpPr>
          <p:nvPr/>
        </p:nvSpPr>
        <p:spPr>
          <a:xfrm xmlns:a="http://schemas.openxmlformats.org/drawingml/2006/main">
            <a:off x="5067300" y="299085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1">
                <a:solidFill>
                  <a:srgbClr val="17343A"/>
                </a:solidFill>
                <a:latin typeface="Helvetica Neue"/>
                <a:ea typeface="Helvetica Neue"/>
                <a:cs typeface="Helvetica Neue"/>
              </a:defRPr>
            </a:pPr>
            <a:r>
              <a:rPr sz="1875" b="1">
                <a:solidFill>
                  <a:srgbClr val="17343A"/>
                </a:solidFill>
                <a:latin typeface="Helvetica Neue"/>
                <a:ea typeface="Helvetica Neue"/>
                <a:cs typeface="Helvetica Neue"/>
              </a:rPr>
              <a:t>A + B</a:t>
            </a:r>
          </a:p>
        </p:txBody>
      </p:sp>
      <p:graphicFrame>
        <p:nvGraphicFramePr>
          <p:cNvPr id="28" name=""/>
          <p:cNvGraphicFramePr/>
          <p:nvPr/>
        </p:nvGraphicFramePr>
        <p:xfrm>
          <a:off xmlns:a="http://schemas.openxmlformats.org/drawingml/2006/main" x="685800" y="3419475"/>
          <a:ext xmlns:a="http://schemas.openxmlformats.org/drawingml/2006/main" cx="1828800" cy="1543050"/>
        </p:xfrm>
        <a:graphic xmlns:a="http://schemas.openxmlformats.org/drawingml/2006/main">
          <a:graphicData uri="http://schemas.openxmlformats.org/drawingml/2006/table">
            <a:tbl>
              <a:tblPr firstRow="1" bandRow="0"/>
              <a:tblGrid>
                <a:gridCol w="876300"/>
                <a:gridCol w="952500"/>
              </a:tblGrid>
              <a:tr h="514350">
                <a:tc>
                  <a:txBody>
                    <a:bodyPr lIns="114300" tIns="76200" rIns="76200" bIns="76200">
                      <a:noAutofit/>
                    </a:bodyPr>
                    <a:lstStyle/>
                    <a:p>
                      <a:pPr algn="l">
                        <a:buNone/>
                      </a:pPr>
                      <a:r>
                        <a:rPr sz="1650" b="1">
                          <a:solidFill>
                            <a:srgbClr val="17343A"/>
                          </a:solidFill>
                          <a:latin typeface="Helvetica Neue"/>
                          <a:ea typeface="Helvetica Neue"/>
                          <a:cs typeface="Helvetica Neue"/>
                        </a:rPr>
                        <a:t>Index</a:t>
                      </a:r>
                    </a:p>
                  </a:txBody>
                  <a:tcPr marL="91440" marR="91440" marT="45720" marB="45720" anchor="ctr">
                    <a:solidFill>
                      <a:srgbClr val="E1EEEA"/>
                    </a:solidFill>
                  </a:tcPr>
                </a:tc>
                <a:tc>
                  <a:txBody>
                    <a:bodyPr lIns="114300" tIns="76200" rIns="76200" bIns="76200">
                      <a:noAutofit/>
                    </a:bodyPr>
                    <a:lstStyle/>
                    <a:p>
                      <a:pPr algn="l">
                        <a:buNone/>
                      </a:pPr>
                      <a:r>
                        <a:rPr sz="1650" b="1">
                          <a:solidFill>
                            <a:srgbClr val="17343A"/>
                          </a:solidFill>
                          <a:latin typeface="Helvetica Neue"/>
                          <a:ea typeface="Helvetica Neue"/>
                          <a:cs typeface="Helvetica Neue"/>
                        </a:rPr>
                        <a:t>Valeur</a:t>
                      </a:r>
                    </a:p>
                  </a:txBody>
                  <a:tcPr marL="91440" marR="91440" marT="45720" marB="45720" anchor="ctr">
                    <a:solidFill>
                      <a:srgbClr val="E1EEE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10</a:t>
                      </a:r>
                    </a:p>
                  </a:txBody>
                  <a:tcPr marL="91440" marR="91440" marT="45720" marB="45720" anchor="ctr">
                    <a:solidFill>
                      <a:srgbClr val="FAFCF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b</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20</a:t>
                      </a:r>
                    </a:p>
                  </a:txBody>
                  <a:tcPr marL="91440" marR="91440" marT="45720" marB="45720" anchor="ctr">
                    <a:solidFill>
                      <a:srgbClr val="FAFCFA"/>
                    </a:solidFill>
                  </a:tcPr>
                </a:tc>
              </a:tr>
            </a:tbl>
          </a:graphicData>
        </a:graphic>
      </p:graphicFrame>
      <p:graphicFrame>
        <p:nvGraphicFramePr>
          <p:cNvPr id="29" name=""/>
          <p:cNvGraphicFramePr/>
          <p:nvPr/>
        </p:nvGraphicFramePr>
        <p:xfrm>
          <a:off xmlns:a="http://schemas.openxmlformats.org/drawingml/2006/main" x="2876550" y="3419475"/>
          <a:ext xmlns:a="http://schemas.openxmlformats.org/drawingml/2006/main" cx="1828800" cy="1543050"/>
        </p:xfrm>
        <a:graphic xmlns:a="http://schemas.openxmlformats.org/drawingml/2006/main">
          <a:graphicData uri="http://schemas.openxmlformats.org/drawingml/2006/table">
            <a:tbl>
              <a:tblPr firstRow="1" bandRow="0"/>
              <a:tblGrid>
                <a:gridCol w="876300"/>
                <a:gridCol w="952500"/>
              </a:tblGrid>
              <a:tr h="514350">
                <a:tc>
                  <a:txBody>
                    <a:bodyPr lIns="114300" tIns="76200" rIns="76200" bIns="76200">
                      <a:noAutofit/>
                    </a:bodyPr>
                    <a:lstStyle/>
                    <a:p>
                      <a:pPr algn="l">
                        <a:buNone/>
                      </a:pPr>
                      <a:r>
                        <a:rPr sz="1650" b="1">
                          <a:solidFill>
                            <a:srgbClr val="17343A"/>
                          </a:solidFill>
                          <a:latin typeface="Helvetica Neue"/>
                          <a:ea typeface="Helvetica Neue"/>
                          <a:cs typeface="Helvetica Neue"/>
                        </a:rPr>
                        <a:t>Index</a:t>
                      </a:r>
                    </a:p>
                  </a:txBody>
                  <a:tcPr marL="91440" marR="91440" marT="45720" marB="45720" anchor="ctr">
                    <a:solidFill>
                      <a:srgbClr val="E1EEEA"/>
                    </a:solidFill>
                  </a:tcPr>
                </a:tc>
                <a:tc>
                  <a:txBody>
                    <a:bodyPr lIns="114300" tIns="76200" rIns="76200" bIns="76200">
                      <a:noAutofit/>
                    </a:bodyPr>
                    <a:lstStyle/>
                    <a:p>
                      <a:pPr algn="l">
                        <a:buNone/>
                      </a:pPr>
                      <a:r>
                        <a:rPr sz="1650" b="1">
                          <a:solidFill>
                            <a:srgbClr val="17343A"/>
                          </a:solidFill>
                          <a:latin typeface="Helvetica Neue"/>
                          <a:ea typeface="Helvetica Neue"/>
                          <a:cs typeface="Helvetica Neue"/>
                        </a:rPr>
                        <a:t>Valeur</a:t>
                      </a:r>
                    </a:p>
                  </a:txBody>
                  <a:tcPr marL="91440" marR="91440" marT="45720" marB="45720" anchor="ctr">
                    <a:solidFill>
                      <a:srgbClr val="E1EEE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b</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2</a:t>
                      </a:r>
                    </a:p>
                  </a:txBody>
                  <a:tcPr marL="91440" marR="91440" marT="45720" marB="45720" anchor="ctr">
                    <a:solidFill>
                      <a:srgbClr val="FAFCF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a:t>
                      </a:r>
                    </a:p>
                  </a:txBody>
                  <a:tcPr marL="91440" marR="91440" marT="45720" marB="45720" anchor="ctr">
                    <a:solidFill>
                      <a:srgbClr val="FAFCFA"/>
                    </a:solidFill>
                  </a:tcPr>
                </a:tc>
              </a:tr>
            </a:tbl>
          </a:graphicData>
        </a:graphic>
      </p:graphicFrame>
      <p:graphicFrame>
        <p:nvGraphicFramePr>
          <p:cNvPr id="30" name=""/>
          <p:cNvGraphicFramePr/>
          <p:nvPr/>
        </p:nvGraphicFramePr>
        <p:xfrm>
          <a:off xmlns:a="http://schemas.openxmlformats.org/drawingml/2006/main" x="5067300" y="3419475"/>
          <a:ext xmlns:a="http://schemas.openxmlformats.org/drawingml/2006/main" cx="1828800" cy="1543050"/>
        </p:xfrm>
        <a:graphic xmlns:a="http://schemas.openxmlformats.org/drawingml/2006/main">
          <a:graphicData uri="http://schemas.openxmlformats.org/drawingml/2006/table">
            <a:tbl>
              <a:tblPr firstRow="1" bandRow="0"/>
              <a:tblGrid>
                <a:gridCol w="876300"/>
                <a:gridCol w="952500"/>
              </a:tblGrid>
              <a:tr h="514350">
                <a:tc>
                  <a:txBody>
                    <a:bodyPr lIns="114300" tIns="76200" rIns="76200" bIns="76200">
                      <a:noAutofit/>
                    </a:bodyPr>
                    <a:lstStyle/>
                    <a:p>
                      <a:pPr algn="l">
                        <a:buNone/>
                      </a:pPr>
                      <a:r>
                        <a:rPr sz="1650" b="1">
                          <a:solidFill>
                            <a:srgbClr val="17343A"/>
                          </a:solidFill>
                          <a:latin typeface="Helvetica Neue"/>
                          <a:ea typeface="Helvetica Neue"/>
                          <a:cs typeface="Helvetica Neue"/>
                        </a:rPr>
                        <a:t>Index</a:t>
                      </a:r>
                    </a:p>
                  </a:txBody>
                  <a:tcPr marL="91440" marR="91440" marT="45720" marB="45720" anchor="ctr">
                    <a:solidFill>
                      <a:srgbClr val="E1EEEA"/>
                    </a:solidFill>
                  </a:tcPr>
                </a:tc>
                <a:tc>
                  <a:txBody>
                    <a:bodyPr lIns="114300" tIns="76200" rIns="76200" bIns="76200">
                      <a:noAutofit/>
                    </a:bodyPr>
                    <a:lstStyle/>
                    <a:p>
                      <a:pPr algn="l">
                        <a:buNone/>
                      </a:pPr>
                      <a:r>
                        <a:rPr sz="1650" b="1">
                          <a:solidFill>
                            <a:srgbClr val="17343A"/>
                          </a:solidFill>
                          <a:latin typeface="Helvetica Neue"/>
                          <a:ea typeface="Helvetica Neue"/>
                          <a:cs typeface="Helvetica Neue"/>
                        </a:rPr>
                        <a:t>Somme</a:t>
                      </a:r>
                    </a:p>
                  </a:txBody>
                  <a:tcPr marL="91440" marR="91440" marT="45720" marB="45720" anchor="ctr">
                    <a:solidFill>
                      <a:srgbClr val="E1EEE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a</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11</a:t>
                      </a:r>
                    </a:p>
                  </a:txBody>
                  <a:tcPr marL="91440" marR="91440" marT="45720" marB="45720" anchor="ctr">
                    <a:solidFill>
                      <a:srgbClr val="FAFCFA"/>
                    </a:solidFill>
                  </a:tcPr>
                </a:tc>
              </a:tr>
              <a:tr h="514350">
                <a:tc>
                  <a:txBody>
                    <a:bodyPr lIns="114300" tIns="76200" rIns="76200" bIns="76200">
                      <a:noAutofit/>
                    </a:bodyPr>
                    <a:lstStyle/>
                    <a:p>
                      <a:pPr algn="l">
                        <a:buNone/>
                      </a:pPr>
                      <a:r>
                        <a:rPr sz="1875" b="0">
                          <a:solidFill>
                            <a:srgbClr val="17343A"/>
                          </a:solidFill>
                          <a:latin typeface="Helvetica Neue"/>
                          <a:ea typeface="Helvetica Neue"/>
                          <a:cs typeface="Helvetica Neue"/>
                        </a:rPr>
                        <a:t>b</a:t>
                      </a:r>
                    </a:p>
                  </a:txBody>
                  <a:tcPr marL="91440" marR="91440" marT="45720" marB="45720" anchor="ctr">
                    <a:solidFill>
                      <a:srgbClr val="FAFCFA"/>
                    </a:solidFill>
                  </a:tcPr>
                </a:tc>
                <a:tc>
                  <a:txBody>
                    <a:bodyPr lIns="114300" tIns="76200" rIns="76200" bIns="76200">
                      <a:noAutofit/>
                    </a:bodyPr>
                    <a:lstStyle/>
                    <a:p>
                      <a:pPr algn="l">
                        <a:buNone/>
                      </a:pPr>
                      <a:r>
                        <a:rPr sz="1875" b="0">
                          <a:solidFill>
                            <a:srgbClr val="17343A"/>
                          </a:solidFill>
                          <a:latin typeface="Helvetica Neue"/>
                          <a:ea typeface="Helvetica Neue"/>
                          <a:cs typeface="Helvetica Neue"/>
                        </a:rPr>
                        <a:t>22</a:t>
                      </a:r>
                    </a:p>
                  </a:txBody>
                  <a:tcPr marL="91440" marR="91440" marT="45720" marB="45720" anchor="ctr">
                    <a:solidFill>
                      <a:srgbClr val="FAFCFA"/>
                    </a:solidFill>
                  </a:tcPr>
                </a:tc>
              </a:tr>
            </a:tbl>
          </a:graphicData>
        </a:graphic>
      </p:graphicFrame>
      <p:sp>
        <p:nvSpPr>
          <p:cNvPr id="15" name="">
            <a:extLst xmlns:a="http://schemas.openxmlformats.org/drawingml/2006/main">
              <a:ext uri="{FF2B5EF4-FFF2-40B4-BE49-F238E27FC236}">
                <a16:creationId xmlns:a16="http://schemas.microsoft.com/office/drawing/2014/main" id="{DCE6E8A6-ACF3-46BD-83AE-0E91FDA01A8D}"/>
              </a:ext>
            </a:extLst>
          </p:cNvPr>
          <p:cNvSpPr>
            <a:spLocks xmlns:a="http://schemas.openxmlformats.org/drawingml/2006/main" noGrp="1"/>
          </p:cNvSpPr>
          <p:nvPr/>
        </p:nvSpPr>
        <p:spPr>
          <a:xfrm xmlns:a="http://schemas.openxmlformats.org/drawingml/2006/main">
            <a:off x="7486650" y="237172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Stockage des colonnes</a:t>
            </a:r>
          </a:p>
        </p:txBody>
      </p:sp>
      <p:sp>
        <p:nvSpPr>
          <p:cNvPr id="16" name="">
            <a:extLst xmlns:a="http://schemas.openxmlformats.org/drawingml/2006/main">
              <a:ext uri="{FF2B5EF4-FFF2-40B4-BE49-F238E27FC236}">
                <a16:creationId xmlns:a16="http://schemas.microsoft.com/office/drawing/2014/main" id="{7982F89C-BAD0-4FC3-9927-6927B05BF887}"/>
              </a:ext>
            </a:extLst>
          </p:cNvPr>
          <p:cNvSpPr>
            <a:spLocks xmlns:a="http://schemas.openxmlformats.org/drawingml/2006/main" noGrp="1"/>
          </p:cNvSpPr>
          <p:nvPr/>
        </p:nvSpPr>
        <p:spPr>
          <a:xfrm xmlns:a="http://schemas.openxmlformats.org/drawingml/2006/main">
            <a:off x="7486650" y="271462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Tableaux NumPy ou d’extension.</a:t>
            </a:r>
          </a:p>
        </p:txBody>
      </p:sp>
      <p:sp>
        <p:nvSpPr>
          <p:cNvPr id="17" name="">
            <a:extLst xmlns:a="http://schemas.openxmlformats.org/drawingml/2006/main">
              <a:ext uri="{FF2B5EF4-FFF2-40B4-BE49-F238E27FC236}">
                <a16:creationId xmlns:a16="http://schemas.microsoft.com/office/drawing/2014/main" id="{855C7063-778F-4C11-BBC0-835D195495F3}"/>
              </a:ext>
            </a:extLst>
          </p:cNvPr>
          <p:cNvSpPr>
            <a:spLocks xmlns:a="http://schemas.openxmlformats.org/drawingml/2006/main" noGrp="1"/>
          </p:cNvSpPr>
          <p:nvPr/>
        </p:nvSpPr>
        <p:spPr>
          <a:xfrm xmlns:a="http://schemas.openxmlformats.org/drawingml/2006/main">
            <a:off x="7486650" y="34671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Opérations</a:t>
            </a:r>
          </a:p>
        </p:txBody>
      </p:sp>
      <p:sp>
        <p:nvSpPr>
          <p:cNvPr id="18" name="">
            <a:extLst xmlns:a="http://schemas.openxmlformats.org/drawingml/2006/main">
              <a:ext uri="{FF2B5EF4-FFF2-40B4-BE49-F238E27FC236}">
                <a16:creationId xmlns:a16="http://schemas.microsoft.com/office/drawing/2014/main" id="{00345ED8-A128-4282-858B-73EA1CB73A5C}"/>
              </a:ext>
            </a:extLst>
          </p:cNvPr>
          <p:cNvSpPr>
            <a:spLocks xmlns:a="http://schemas.openxmlformats.org/drawingml/2006/main" noGrp="1"/>
          </p:cNvSpPr>
          <p:nvPr/>
        </p:nvSpPr>
        <p:spPr>
          <a:xfrm xmlns:a="http://schemas.openxmlformats.org/drawingml/2006/main">
            <a:off x="7486650" y="381000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7343A"/>
                </a:solidFill>
                <a:latin typeface="Helvetica Neue"/>
                <a:ea typeface="Helvetica Neue"/>
                <a:cs typeface="Helvetica Neue"/>
              </a:defRPr>
            </a:pPr>
            <a:r>
              <a:rPr sz="1875" b="0">
                <a:solidFill>
                  <a:srgbClr val="17343A"/>
                </a:solidFill>
                <a:latin typeface="Helvetica Neue"/>
                <a:ea typeface="Helvetica Neue"/>
                <a:cs typeface="Helvetica Neue"/>
              </a:rPr>
              <a:t>Les méthodes natives utilisent</a:t>
            </a:r>
          </a:p>
          <a:p xmlns:a="http://schemas.openxmlformats.org/drawingml/2006/main">
            <a:pPr>
              <a:defRPr sz="1875" b="0">
                <a:solidFill>
                  <a:srgbClr val="17343A"/>
                </a:solidFill>
                <a:latin typeface="Helvetica Neue"/>
                <a:ea typeface="Helvetica Neue"/>
                <a:cs typeface="Helvetica Neue"/>
              </a:defRPr>
            </a:pPr>
            <a:r>
              <a:rPr sz="1875" b="0">
                <a:solidFill>
                  <a:srgbClr val="17343A"/>
                </a:solidFill>
                <a:latin typeface="Helvetica Neue"/>
                <a:ea typeface="Helvetica Neue"/>
                <a:cs typeface="Helvetica Neue"/>
              </a:rPr>
              <a:t>souvent du code compilé.</a:t>
            </a:r>
          </a:p>
          <a:p xmlns:a="http://schemas.openxmlformats.org/drawingml/2006/main">
            <a:pPr>
              <a:defRPr sz="1875" b="0">
                <a:solidFill>
                  <a:srgbClr val="17343A"/>
                </a:solidFill>
                <a:latin typeface="Helvetica Neue"/>
                <a:ea typeface="Helvetica Neue"/>
                <a:cs typeface="Helvetica Neue"/>
              </a:defRPr>
            </a:pPr>
            <a:r>
              <a:rPr sz="1875" b="0">
                <a:solidFill>
                  <a:srgbClr val="17343A"/>
                </a:solidFill>
                <a:latin typeface="Helvetica Neue"/>
                <a:ea typeface="Helvetica Neue"/>
                <a:cs typeface="Helvetica Neue"/>
              </a:rPr>
              <a:t>Une fonction Python par ligne</a:t>
            </a:r>
          </a:p>
          <a:p xmlns:a="http://schemas.openxmlformats.org/drawingml/2006/main">
            <a:pPr>
              <a:defRPr sz="1875" b="0">
                <a:solidFill>
                  <a:srgbClr val="17343A"/>
                </a:solidFill>
                <a:latin typeface="Helvetica Neue"/>
                <a:ea typeface="Helvetica Neue"/>
                <a:cs typeface="Helvetica Neue"/>
              </a:defRPr>
            </a:pPr>
            <a:r>
              <a:rPr sz="1875" b="0">
                <a:solidFill>
                  <a:srgbClr val="17343A"/>
                </a:solidFill>
                <a:latin typeface="Helvetica Neue"/>
                <a:ea typeface="Helvetica Neue"/>
                <a:cs typeface="Helvetica Neue"/>
              </a:rPr>
              <a:t>peut ajouter du surcoût.</a:t>
            </a:r>
          </a:p>
        </p:txBody>
      </p:sp>
    </p:spTree>
    <p:extLst>
      <p:ext uri="{BB962C8B-B14F-4D97-AF65-F5344CB8AC3E}">
        <p14:creationId xmlns:p14="http://schemas.microsoft.com/office/powerpoint/2010/main" val="106972537"/>
      </p:ext>
    </p:extLst>
  </p:cSld>
</p:sld>
</file>

<file path=ppt/slides/slide26.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nettoyage influence l’analyse</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26</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02 : valeurs manquantes · Doublons dans les exercices personnels</a:t>
            </a:r>
          </a:p>
        </p:txBody>
      </p:sp>
      <p:graphicFrame>
        <p:nvGraphicFramePr>
          <p:cNvPr id="15" name=""/>
          <p:cNvGraphicFramePr/>
          <p:nvPr/>
        </p:nvGraphicFramePr>
        <p:xfrm>
          <a:off xmlns:a="http://schemas.openxmlformats.org/drawingml/2006/main" x="685800" y="1714500"/>
          <a:ext xmlns:a="http://schemas.openxmlformats.org/drawingml/2006/main" cx="10820400" cy="3381375"/>
        </p:xfrm>
        <a:graphic xmlns:a="http://schemas.openxmlformats.org/drawingml/2006/main">
          <a:graphicData uri="http://schemas.openxmlformats.org/drawingml/2006/table">
            <a:tbl>
              <a:tblPr/>
              <a:tblGrid>
                <a:gridCol w="4095750"/>
                <a:gridCol w="6724650"/>
              </a:tblGrid>
              <a:tr h="676275">
                <a:tc>
                  <a:txBody>
                    <a:bodyPr/>
                    <a:lstStyle/>
                    <a:p>
                      <a:r>
                        <a:rPr sz="1875" b="1">
                          <a:solidFill>
                            <a:srgbClr val="17343A"/>
                          </a:solidFill>
                          <a:latin typeface="Helvetica Neue"/>
                          <a:ea typeface="Helvetica Neue"/>
                          <a:cs typeface="Helvetica Neue"/>
                        </a:rPr>
                        <a:t>Observation</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Question avant de modifier la table</a:t>
                      </a:r>
                    </a:p>
                  </a:txBody>
                  <a:tcPr marL="104775" marR="104775" marT="95250" marB="76200" anchor="t">
                    <a:solidFill>
                      <a:srgbClr val="E1EEEA"/>
                    </a:solidFill>
                  </a:tcPr>
                </a:tc>
              </a:tr>
              <a:tr h="676275">
                <a:tc>
                  <a:txBody>
                    <a:bodyPr/>
                    <a:lstStyle/>
                    <a:p>
                      <a:r>
                        <a:rPr sz="1875">
                          <a:solidFill>
                            <a:srgbClr val="17343A"/>
                          </a:solidFill>
                          <a:latin typeface="Helvetica Neue"/>
                          <a:ea typeface="Helvetica Neue"/>
                          <a:cs typeface="Helvetica Neue"/>
                        </a:rPr>
                        <a:t>Une mesure manque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Pourquoi? Que perd-on si l’on retire cette ligne?</a:t>
                      </a:r>
                    </a:p>
                  </a:txBody>
                  <a:tcPr marL="104775" marR="104775" marT="95250" marB="76200" anchor="t">
                    <a:solidFill>
                      <a:srgbClr val="F8FBFA"/>
                    </a:solidFill>
                  </a:tcPr>
                </a:tc>
              </a:tr>
              <a:tr h="676275">
                <a:tc>
                  <a:txBody>
                    <a:bodyPr/>
                    <a:lstStyle/>
                    <a:p>
                      <a:r>
                        <a:rPr sz="1875">
                          <a:solidFill>
                            <a:srgbClr val="17343A"/>
                          </a:solidFill>
                          <a:latin typeface="Helvetica Neue"/>
                          <a:ea typeface="Helvetica Neue"/>
                          <a:cs typeface="Helvetica Neue"/>
                        </a:rPr>
                        <a:t>Deux lignes semblent identiques</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Même enregistrement ou observations distinctes?</a:t>
                      </a:r>
                    </a:p>
                  </a:txBody>
                  <a:tcPr marL="104775" marR="104775" marT="95250" marB="76200" anchor="t">
                    <a:solidFill>
                      <a:srgbClr val="F8FBFA"/>
                    </a:solidFill>
                  </a:tcPr>
                </a:tc>
              </a:tr>
              <a:tr h="676275">
                <a:tc>
                  <a:txBody>
                    <a:bodyPr/>
                    <a:lstStyle/>
                    <a:p>
                      <a:r>
                        <a:rPr sz="1875">
                          <a:solidFill>
                            <a:srgbClr val="17343A"/>
                          </a:solidFill>
                          <a:latin typeface="Helvetica Neue"/>
                          <a:ea typeface="Helvetica Neue"/>
                          <a:cs typeface="Helvetica Neue"/>
                        </a:rPr>
                        <a:t>Un nombre sert d’identifiant</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Est-ce une quantité ou une simple étiquette?</a:t>
                      </a:r>
                    </a:p>
                  </a:txBody>
                  <a:tcPr marL="104775" marR="104775" marT="95250" marB="76200" anchor="t">
                    <a:solidFill>
                      <a:srgbClr val="F8FBFA"/>
                    </a:solidFill>
                  </a:tcPr>
                </a:tc>
              </a:tr>
              <a:tr h="676275">
                <a:tc>
                  <a:txBody>
                    <a:bodyPr/>
                    <a:lstStyle/>
                    <a:p>
                      <a:r>
                        <a:rPr sz="1875">
                          <a:solidFill>
                            <a:srgbClr val="17343A"/>
                          </a:solidFill>
                          <a:latin typeface="Helvetica Neue"/>
                          <a:ea typeface="Helvetica Neue"/>
                          <a:cs typeface="Helvetica Neue"/>
                        </a:rPr>
                        <a:t>Une valeur semble inhabituelle</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Erreur de saisie ou observation rare mais réelle?</a:t>
                      </a:r>
                    </a:p>
                  </a:txBody>
                  <a:tcPr marL="104775" marR="104775" marT="95250" marB="76200" anchor="t">
                    <a:solidFill>
                      <a:srgbClr val="F8FBFA"/>
                    </a:solidFill>
                  </a:tcPr>
                </a:tc>
              </a:tr>
            </a:tbl>
          </a:graphicData>
        </a:graphic>
      </p:graphicFrame>
      <p:sp>
        <p:nvSpPr>
          <p:cNvPr id="10" name="">
            <a:extLst xmlns:a="http://schemas.openxmlformats.org/drawingml/2006/main">
              <a:ext uri="{FF2B5EF4-FFF2-40B4-BE49-F238E27FC236}">
                <a16:creationId xmlns:a16="http://schemas.microsoft.com/office/drawing/2014/main" id="{305D18B4-DFA3-4E92-A7F4-DE48A5FB1B86}"/>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Une absence n’est pas un zéro; une ressemblance ne prouve pas un doublon.</a:t>
            </a:r>
          </a:p>
        </p:txBody>
      </p:sp>
    </p:spTree>
    <p:extLst>
      <p:ext uri="{BB962C8B-B14F-4D97-AF65-F5344CB8AC3E}">
        <p14:creationId xmlns:p14="http://schemas.microsoft.com/office/powerpoint/2010/main" val="1577667620"/>
      </p:ext>
    </p:extLst>
  </p:cSld>
</p:sld>
</file>

<file path=ppt/slides/slide27.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La moyenne masque la dispersion</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27</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02 : barres groupées, nuage de points et histogramme</a:t>
            </a:r>
          </a:p>
        </p:txBody>
      </p:sp>
      <p:sp>
        <p:nvSpPr>
          <p:cNvPr id="9" name="">
            <a:extLst xmlns:a="http://schemas.openxmlformats.org/drawingml/2006/main">
              <a:ext uri="{FF2B5EF4-FFF2-40B4-BE49-F238E27FC236}">
                <a16:creationId xmlns:a16="http://schemas.microsoft.com/office/drawing/2014/main" id="{64A99697-FDAE-47C8-99CE-9DAAB091AAEC}"/>
              </a:ext>
            </a:extLst>
          </p:cNvPr>
          <p:cNvSpPr>
            <a:spLocks xmlns:a="http://schemas.openxmlformats.org/drawingml/2006/main" noGrp="1"/>
          </p:cNvSpPr>
          <p:nvPr/>
        </p:nvSpPr>
        <p:spPr>
          <a:xfrm xmlns:a="http://schemas.openxmlformats.org/drawingml/2006/main">
            <a:off x="685800" y="1714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Deux groupes de mesures fictives</a:t>
            </a:r>
          </a:p>
        </p:txBody>
      </p:sp>
      <p:graphicFrame>
        <p:nvGraphicFramePr>
          <p:cNvPr id="19" name=""/>
          <p:cNvGraphicFramePr/>
          <p:nvPr/>
        </p:nvGraphicFramePr>
        <p:xfrm>
          <a:off xmlns:a="http://schemas.openxmlformats.org/drawingml/2006/main" x="685800" y="2381250"/>
          <a:ext xmlns:a="http://schemas.openxmlformats.org/drawingml/2006/main" cx="6667500" cy="1952625"/>
        </p:xfrm>
        <a:graphic xmlns:a="http://schemas.openxmlformats.org/drawingml/2006/main">
          <a:graphicData uri="http://schemas.openxmlformats.org/drawingml/2006/table">
            <a:tbl>
              <a:tblPr/>
              <a:tblGrid>
                <a:gridCol w="1238250"/>
                <a:gridCol w="3429000"/>
                <a:gridCol w="2000250"/>
              </a:tblGrid>
              <a:tr h="650875">
                <a:tc>
                  <a:txBody>
                    <a:bodyPr/>
                    <a:lstStyle/>
                    <a:p>
                      <a:r>
                        <a:rPr sz="1875" b="1">
                          <a:solidFill>
                            <a:srgbClr val="17343A"/>
                          </a:solidFill>
                          <a:latin typeface="Helvetica Neue"/>
                          <a:ea typeface="Helvetica Neue"/>
                          <a:cs typeface="Helvetica Neue"/>
                        </a:rPr>
                        <a:t>Groupe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Mesures (cm)</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Moyenne (cm)</a:t>
                      </a:r>
                    </a:p>
                  </a:txBody>
                  <a:tcPr marL="104775" marR="104775" marT="95250" marB="76200" anchor="t">
                    <a:solidFill>
                      <a:srgbClr val="E1EEEA"/>
                    </a:solidFill>
                  </a:tcPr>
                </a:tc>
              </a:tr>
              <a:tr h="650875">
                <a:tc>
                  <a:txBody>
                    <a:bodyPr/>
                    <a:lstStyle/>
                    <a:p>
                      <a:r>
                        <a:rPr sz="1875">
                          <a:solidFill>
                            <a:srgbClr val="17343A"/>
                          </a:solidFill>
                          <a:latin typeface="Helvetica Neue"/>
                          <a:ea typeface="Helvetica Neue"/>
                          <a:cs typeface="Helvetica Neue"/>
                        </a:rPr>
                        <a:t>A</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4, 4, 6, 6</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5</a:t>
                      </a:r>
                    </a:p>
                  </a:txBody>
                  <a:tcPr marL="104775" marR="104775" marT="95250" marB="76200" anchor="t">
                    <a:solidFill>
                      <a:srgbClr val="F8FBFA"/>
                    </a:solidFill>
                  </a:tcPr>
                </a:tc>
              </a:tr>
              <a:tr h="650875">
                <a:tc>
                  <a:txBody>
                    <a:bodyPr/>
                    <a:lstStyle/>
                    <a:p>
                      <a:r>
                        <a:rPr sz="1875">
                          <a:solidFill>
                            <a:srgbClr val="17343A"/>
                          </a:solidFill>
                          <a:latin typeface="Helvetica Neue"/>
                          <a:ea typeface="Helvetica Neue"/>
                          <a:cs typeface="Helvetica Neue"/>
                        </a:rPr>
                        <a:t>B</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1, 1, 9, 9</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5</a:t>
                      </a:r>
                    </a:p>
                  </a:txBody>
                  <a:tcPr marL="104775" marR="104775" marT="95250" marB="76200" anchor="t">
                    <a:solidFill>
                      <a:srgbClr val="F8FBFA"/>
                    </a:solidFill>
                  </a:tcPr>
                </a:tc>
              </a:tr>
            </a:tbl>
          </a:graphicData>
        </a:graphic>
      </p:graphicFrame>
      <p:sp>
        <p:nvSpPr>
          <p:cNvPr id="11" name="">
            <a:extLst xmlns:a="http://schemas.openxmlformats.org/drawingml/2006/main">
              <a:ext uri="{FF2B5EF4-FFF2-40B4-BE49-F238E27FC236}">
                <a16:creationId xmlns:a16="http://schemas.microsoft.com/office/drawing/2014/main" id="{1FAB41C0-7756-4B3F-9CD6-E212CCA9713F}"/>
              </a:ext>
            </a:extLst>
          </p:cNvPr>
          <p:cNvSpPr>
            <a:spLocks xmlns:a="http://schemas.openxmlformats.org/drawingml/2006/main" noGrp="1"/>
          </p:cNvSpPr>
          <p:nvPr/>
        </p:nvSpPr>
        <p:spPr>
          <a:xfrm xmlns:a="http://schemas.openxmlformats.org/drawingml/2006/main">
            <a:off x="7810500" y="2428875"/>
            <a:ext cx="3619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0">
                <a:solidFill>
                  <a:srgbClr val="17343A"/>
                </a:solidFill>
                <a:latin typeface="Helvetica Neue"/>
                <a:ea typeface="Helvetica Neue"/>
                <a:cs typeface="Helvetica Neue"/>
              </a:defRPr>
            </a:pPr>
            <a:r>
              <a:rPr sz="2250" b="0">
                <a:solidFill>
                  <a:srgbClr val="17343A"/>
                </a:solidFill>
                <a:latin typeface="Helvetica Neue"/>
                <a:ea typeface="Helvetica Neue"/>
                <a:cs typeface="Helvetica Neue"/>
              </a:rPr>
              <a:t>Les moyennes sont égales.</a:t>
            </a:r>
          </a:p>
          <a:p xmlns:a="http://schemas.openxmlformats.org/drawingml/2006/main">
            <a:r>
              <a:t/>
            </a:r>
          </a:p>
          <a:p xmlns:a="http://schemas.openxmlformats.org/drawingml/2006/main">
            <a:pPr>
              <a:buNone/>
              <a:defRPr sz="2250" b="0">
                <a:solidFill>
                  <a:srgbClr val="17343A"/>
                </a:solidFill>
                <a:latin typeface="Helvetica Neue"/>
                <a:ea typeface="Helvetica Neue"/>
                <a:cs typeface="Helvetica Neue"/>
              </a:defRPr>
            </a:pPr>
            <a:r>
              <a:rPr sz="2250" b="0">
                <a:solidFill>
                  <a:srgbClr val="17343A"/>
                </a:solidFill>
                <a:latin typeface="Helvetica Neue"/>
                <a:ea typeface="Helvetica Neue"/>
                <a:cs typeface="Helvetica Neue"/>
              </a:rPr>
              <a:t>Les valeurs individuelles montrent des dispersions différentes.</a:t>
            </a:r>
          </a:p>
        </p:txBody>
      </p:sp>
      <p:sp>
        <p:nvSpPr>
          <p:cNvPr id="12" name="">
            <a:extLst xmlns:a="http://schemas.openxmlformats.org/drawingml/2006/main">
              <a:ext uri="{FF2B5EF4-FFF2-40B4-BE49-F238E27FC236}">
                <a16:creationId xmlns:a16="http://schemas.microsoft.com/office/drawing/2014/main" id="{96B16D5C-99CF-4ABF-B6F3-EC66F0BC1EC7}"/>
              </a:ext>
            </a:extLst>
          </p:cNvPr>
          <p:cNvSpPr>
            <a:spLocks xmlns:a="http://schemas.openxmlformats.org/drawingml/2006/main" noGrp="1"/>
          </p:cNvSpPr>
          <p:nvPr/>
        </p:nvSpPr>
        <p:spPr>
          <a:xfrm xmlns:a="http://schemas.openxmlformats.org/drawingml/2006/main">
            <a:off x="685800" y="4762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La table résume les groupes; le nuage de points montre les observations.</a:t>
            </a:r>
          </a:p>
        </p:txBody>
      </p:sp>
      <p:sp>
        <p:nvSpPr>
          <p:cNvPr id="13" name="">
            <a:extLst xmlns:a="http://schemas.openxmlformats.org/drawingml/2006/main">
              <a:ext uri="{FF2B5EF4-FFF2-40B4-BE49-F238E27FC236}">
                <a16:creationId xmlns:a16="http://schemas.microsoft.com/office/drawing/2014/main" id="{DF13D2F3-4314-472F-BBF9-490DCE17F24C}"/>
              </a:ext>
            </a:extLst>
          </p:cNvPr>
          <p:cNvSpPr>
            <a:spLocks xmlns:a="http://schemas.openxmlformats.org/drawingml/2006/main" noGrp="1"/>
          </p:cNvSpPr>
          <p:nvPr/>
        </p:nvSpPr>
        <p:spPr>
          <a:xfrm xmlns:a="http://schemas.openxmlformats.org/drawingml/2006/main">
            <a:off x="685800" y="56197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17343A"/>
                </a:solidFill>
                <a:latin typeface="Helvetica Neue"/>
                <a:ea typeface="Helvetica Neue"/>
                <a:cs typeface="Helvetica Neue"/>
              </a:defRPr>
            </a:pPr>
            <a:r>
              <a:rPr sz="1950" b="0">
                <a:solidFill>
                  <a:srgbClr val="17343A"/>
                </a:solidFill>
                <a:latin typeface="Helvetica Neue"/>
                <a:ea typeface="Helvetica Neue"/>
                <a:cs typeface="Helvetica Neue"/>
              </a:rPr>
              <a:t>L’histogramme compte les valeurs par intervalle; les bornes modifient l’affichage.</a:t>
            </a:r>
          </a:p>
        </p:txBody>
      </p:sp>
    </p:spTree>
    <p:extLst>
      <p:ext uri="{BB962C8B-B14F-4D97-AF65-F5344CB8AC3E}">
        <p14:creationId xmlns:p14="http://schemas.microsoft.com/office/powerpoint/2010/main" val="1577667620"/>
      </p:ext>
    </p:extLst>
  </p:cSld>
</p:sld>
</file>

<file path=ppt/slides/slide28.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Les étapes de l’apprentissage automatique</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entraînement et validation</a:t>
            </a:r>
          </a:p>
        </p:txBody>
      </p:sp>
      <p:graphicFrame>
        <p:nvGraphicFramePr>
          <p:cNvPr id="15" name=""/>
          <p:cNvGraphicFramePr/>
          <p:nvPr/>
        </p:nvGraphicFramePr>
        <p:xfrm>
          <a:off xmlns:a="http://schemas.openxmlformats.org/drawingml/2006/main" x="685800" y="1714500"/>
          <a:ext xmlns:a="http://schemas.openxmlformats.org/drawingml/2006/main" cx="10820400" cy="3676650"/>
        </p:xfrm>
        <a:graphic xmlns:a="http://schemas.openxmlformats.org/drawingml/2006/main">
          <a:graphicData uri="http://schemas.openxmlformats.org/drawingml/2006/table">
            <a:tbl>
              <a:tblPr/>
              <a:tblGrid>
                <a:gridCol w="3238500"/>
                <a:gridCol w="7581900"/>
              </a:tblGrid>
              <a:tr h="612775">
                <a:tc>
                  <a:txBody>
                    <a:bodyPr/>
                    <a:lstStyle/>
                    <a:p>
                      <a:r>
                        <a:rPr sz="1875" b="1">
                          <a:solidFill>
                            <a:srgbClr val="17343A"/>
                          </a:solidFill>
                          <a:latin typeface="Helvetica Neue"/>
                          <a:ea typeface="Helvetica Neue"/>
                          <a:cs typeface="Helvetica Neue"/>
                        </a:rPr>
                        <a:t>Étape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Objectif</a:t>
                      </a:r>
                    </a:p>
                  </a:txBody>
                  <a:tcPr marL="104775" marR="104775" marT="95250" marB="76200" anchor="t">
                    <a:solidFill>
                      <a:srgbClr val="E1EEEA"/>
                    </a:solidFill>
                  </a:tcPr>
                </a:tc>
              </a:tr>
              <a:tr h="612775">
                <a:tc>
                  <a:txBody>
                    <a:bodyPr/>
                    <a:lstStyle/>
                    <a:p>
                      <a:r>
                        <a:rPr sz="1875">
                          <a:solidFill>
                            <a:srgbClr val="17343A"/>
                          </a:solidFill>
                          <a:latin typeface="Helvetica Neue"/>
                          <a:ea typeface="Helvetica Neue"/>
                          <a:cs typeface="Helvetica Neue"/>
                        </a:rPr>
                        <a:t>1. Poser la question</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Définir la prédiction et les observations visées</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2. Préparer et séparer</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Définir X et y; réserver des lignes pour l’évaluation</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3. Entraîner</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Ajuster référence, prétraitement et modèle sur l’entraînement</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4. Valider</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Comparer les résultats et examiner les erreurs</a:t>
                      </a:r>
                    </a:p>
                  </a:txBody>
                  <a:tcPr marL="104775" marR="104775" marT="95250" marB="76200" anchor="t">
                    <a:solidFill>
                      <a:srgbClr val="F8FBFA"/>
                    </a:solidFill>
                  </a:tcPr>
                </a:tc>
              </a:tr>
              <a:tr h="612775">
                <a:tc>
                  <a:txBody>
                    <a:bodyPr/>
                    <a:lstStyle/>
                    <a:p>
                      <a:r>
                        <a:rPr sz="1875">
                          <a:solidFill>
                            <a:srgbClr val="17343A"/>
                          </a:solidFill>
                          <a:latin typeface="Helvetica Neue"/>
                          <a:ea typeface="Helvetica Neue"/>
                          <a:cs typeface="Helvetica Neue"/>
                        </a:rPr>
                        <a:t>5. Utiliser et réévaluer</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Prédire sur de nouvelles données; suivre les performances</a:t>
                      </a:r>
                    </a:p>
                  </a:txBody>
                  <a:tcPr marL="104775" marR="104775" marT="95250" marB="76200" anchor="t">
                    <a:solidFill>
                      <a:srgbClr val="F8FBFA"/>
                    </a:solidFill>
                  </a:tcPr>
                </a:tc>
              </a:tr>
            </a:tbl>
          </a:graphicData>
        </a:graphic>
      </p:graphicFrame>
      <p:sp>
        <p:nvSpPr>
          <p:cNvPr id="10" name="">
            <a:extLst xmlns:a="http://schemas.openxmlformats.org/drawingml/2006/main">
              <a:ext uri="{FF2B5EF4-FFF2-40B4-BE49-F238E27FC236}">
                <a16:creationId xmlns:a16="http://schemas.microsoft.com/office/drawing/2014/main" id="{5DD54281-E347-43DF-AA76-8FB257DC1B7A}"/>
              </a:ext>
            </a:extLst>
          </p:cNvPr>
          <p:cNvSpPr>
            <a:spLocks xmlns:a="http://schemas.openxmlformats.org/drawingml/2006/main" noGrp="1"/>
          </p:cNvSpPr>
          <p:nvPr/>
        </p:nvSpPr>
        <p:spPr>
          <a:xfrm xmlns:a="http://schemas.openxmlformats.org/drawingml/2006/main">
            <a:off x="685800" y="56292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Après la sélection du modèle, un jeu de test intact sert à l’évaluation finale.</a:t>
            </a:r>
          </a:p>
        </p:txBody>
      </p:sp>
    </p:spTree>
    <p:extLst>
      <p:ext uri="{BB962C8B-B14F-4D97-AF65-F5344CB8AC3E}">
        <p14:creationId xmlns:p14="http://schemas.microsoft.com/office/powerpoint/2010/main" val="1577667620"/>
      </p:ext>
    </p:extLst>
  </p:cSld>
</p:sld>
</file>

<file path=ppt/slides/slide29.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B966CD-B0D1-4C88-B220-08E11F034692}"/>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La question de prédiction</a:t>
            </a:r>
          </a:p>
        </p:txBody>
      </p:sp>
      <p:sp>
        <p:nvSpPr>
          <p:cNvPr id="2" name="">
            <a:extLst xmlns:a="http://schemas.openxmlformats.org/drawingml/2006/main">
              <a:ext uri="{FF2B5EF4-FFF2-40B4-BE49-F238E27FC236}">
                <a16:creationId xmlns:a16="http://schemas.microsoft.com/office/drawing/2014/main" id="{886F5983-28EE-4ED4-99BB-8AC96953FA4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29</a:t>
            </a:r>
          </a:p>
        </p:txBody>
      </p:sp>
      <p:sp>
        <p:nvSpPr>
          <p:cNvPr id="3" name="">
            <a:extLst xmlns:a="http://schemas.openxmlformats.org/drawingml/2006/main">
              <a:ext uri="{FF2B5EF4-FFF2-40B4-BE49-F238E27FC236}">
                <a16:creationId xmlns:a16="http://schemas.microsoft.com/office/drawing/2014/main" id="{E6067DD8-30DD-4B5B-83D8-093D20B6FA2F}"/>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données de départ</a:t>
            </a:r>
          </a:p>
        </p:txBody>
      </p:sp>
      <p:sp>
        <p:nvSpPr>
          <p:cNvPr id="4" name="">
            <a:extLst xmlns:a="http://schemas.openxmlformats.org/drawingml/2006/main">
              <a:ext uri="{FF2B5EF4-FFF2-40B4-BE49-F238E27FC236}">
                <a16:creationId xmlns:a16="http://schemas.microsoft.com/office/drawing/2014/main" id="{F73424D6-6CB3-4388-B9F5-E9F63EDCC704}"/>
              </a:ext>
            </a:extLst>
          </p:cNvPr>
          <p:cNvSpPr>
            <a:spLocks xmlns:a="http://schemas.openxmlformats.org/drawingml/2006/main" noGrp="1"/>
          </p:cNvSpPr>
          <p:nvPr/>
        </p:nvSpPr>
        <p:spPr>
          <a:xfrm xmlns:a="http://schemas.openxmlformats.org/drawingml/2006/main">
            <a:off x="685800" y="1619250"/>
            <a:ext cx="1066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63238"/>
                </a:solidFill>
                <a:latin typeface="Helvetica Neue"/>
                <a:ea typeface="Helvetica Neue"/>
                <a:cs typeface="Helvetica Neue"/>
              </a:defRPr>
            </a:pPr>
            <a:r>
              <a:rPr sz="3150" b="1">
                <a:solidFill>
                  <a:srgbClr val="163238"/>
                </a:solidFill>
                <a:latin typeface="Helvetica Neue"/>
                <a:ea typeface="Helvetica Neue"/>
                <a:cs typeface="Helvetica Neue"/>
              </a:rPr>
              <a:t>Les mesures des pétales distinguent-elles</a:t>
            </a:r>
          </a:p>
          <a:p xmlns:a="http://schemas.openxmlformats.org/drawingml/2006/main">
            <a:pPr>
              <a:buNone/>
              <a:defRPr sz="3150" b="1">
                <a:solidFill>
                  <a:srgbClr val="163238"/>
                </a:solidFill>
                <a:latin typeface="Helvetica Neue"/>
                <a:ea typeface="Helvetica Neue"/>
                <a:cs typeface="Helvetica Neue"/>
              </a:defRPr>
            </a:pPr>
            <a:r>
              <a:rPr sz="3150" b="1">
                <a:solidFill>
                  <a:srgbClr val="163238"/>
                </a:solidFill>
                <a:latin typeface="Helvetica Neue"/>
                <a:ea typeface="Helvetica Neue"/>
                <a:cs typeface="Helvetica Neue"/>
              </a:rPr>
              <a:t>versicolor de virginica?</a:t>
            </a:r>
          </a:p>
        </p:txBody>
      </p:sp>
      <p:sp>
        <p:nvSpPr>
          <p:cNvPr id="5" name="">
            <a:extLst xmlns:a="http://schemas.openxmlformats.org/drawingml/2006/main">
              <a:ext uri="{FF2B5EF4-FFF2-40B4-BE49-F238E27FC236}">
                <a16:creationId xmlns:a16="http://schemas.microsoft.com/office/drawing/2014/main" id="{A9D2732E-16A1-40E9-B889-46A3F10C43B8}"/>
              </a:ext>
            </a:extLst>
          </p:cNvPr>
          <p:cNvSpPr>
            <a:spLocks xmlns:a="http://schemas.openxmlformats.org/drawingml/2006/main" noGrp="1"/>
          </p:cNvSpPr>
          <p:nvPr/>
        </p:nvSpPr>
        <p:spPr>
          <a:xfrm xmlns:a="http://schemas.openxmlformats.org/drawingml/2006/main">
            <a:off x="685800" y="32861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Variables explicatives X</a:t>
            </a:r>
          </a:p>
        </p:txBody>
      </p:sp>
      <p:sp>
        <p:nvSpPr>
          <p:cNvPr id="6" name="">
            <a:extLst xmlns:a="http://schemas.openxmlformats.org/drawingml/2006/main">
              <a:ext uri="{FF2B5EF4-FFF2-40B4-BE49-F238E27FC236}">
                <a16:creationId xmlns:a16="http://schemas.microsoft.com/office/drawing/2014/main" id="{4C5CEAE8-A51B-4434-8FC1-707724955CB1}"/>
              </a:ext>
            </a:extLst>
          </p:cNvPr>
          <p:cNvSpPr>
            <a:spLocks xmlns:a="http://schemas.openxmlformats.org/drawingml/2006/main" noGrp="1"/>
          </p:cNvSpPr>
          <p:nvPr/>
        </p:nvSpPr>
        <p:spPr>
          <a:xfrm xmlns:a="http://schemas.openxmlformats.org/drawingml/2006/main">
            <a:off x="685800" y="39528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Longueur et largeur du pétale, en cm.</a:t>
            </a:r>
          </a:p>
        </p:txBody>
      </p:sp>
      <p:sp>
        <p:nvSpPr>
          <p:cNvPr id="7" name="">
            <a:extLst xmlns:a="http://schemas.openxmlformats.org/drawingml/2006/main">
              <a:ext uri="{FF2B5EF4-FFF2-40B4-BE49-F238E27FC236}">
                <a16:creationId xmlns:a16="http://schemas.microsoft.com/office/drawing/2014/main" id="{0DAD15B7-1054-430B-9A6F-D2CE09D4553F}"/>
              </a:ext>
            </a:extLst>
          </p:cNvPr>
          <p:cNvSpPr>
            <a:spLocks xmlns:a="http://schemas.openxmlformats.org/drawingml/2006/main" noGrp="1"/>
          </p:cNvSpPr>
          <p:nvPr/>
        </p:nvSpPr>
        <p:spPr>
          <a:xfrm xmlns:a="http://schemas.openxmlformats.org/drawingml/2006/main">
            <a:off x="685800" y="50196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Une ligne par fleur : shape (100, 2).</a:t>
            </a:r>
          </a:p>
        </p:txBody>
      </p:sp>
      <p:sp>
        <p:nvSpPr>
          <p:cNvPr id="8" name="">
            <a:extLst xmlns:a="http://schemas.openxmlformats.org/drawingml/2006/main">
              <a:ext uri="{FF2B5EF4-FFF2-40B4-BE49-F238E27FC236}">
                <a16:creationId xmlns:a16="http://schemas.microsoft.com/office/drawing/2014/main" id="{CE5E8D07-5CC9-4CD8-BD1F-F9D21F797E9D}"/>
              </a:ext>
            </a:extLst>
          </p:cNvPr>
          <p:cNvSpPr>
            <a:spLocks xmlns:a="http://schemas.openxmlformats.org/drawingml/2006/main" noGrp="1"/>
          </p:cNvSpPr>
          <p:nvPr/>
        </p:nvSpPr>
        <p:spPr>
          <a:xfrm xmlns:a="http://schemas.openxmlformats.org/drawingml/2006/main">
            <a:off x="6410325" y="32861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Cible y</a:t>
            </a:r>
          </a:p>
        </p:txBody>
      </p:sp>
      <p:sp>
        <p:nvSpPr>
          <p:cNvPr id="9" name="">
            <a:extLst xmlns:a="http://schemas.openxmlformats.org/drawingml/2006/main">
              <a:ext uri="{FF2B5EF4-FFF2-40B4-BE49-F238E27FC236}">
                <a16:creationId xmlns:a16="http://schemas.microsoft.com/office/drawing/2014/main" id="{86D32C60-8D69-4422-A44B-D157F6636084}"/>
              </a:ext>
            </a:extLst>
          </p:cNvPr>
          <p:cNvSpPr>
            <a:spLocks xmlns:a="http://schemas.openxmlformats.org/drawingml/2006/main" noGrp="1"/>
          </p:cNvSpPr>
          <p:nvPr/>
        </p:nvSpPr>
        <p:spPr>
          <a:xfrm xmlns:a="http://schemas.openxmlformats.org/drawingml/2006/main">
            <a:off x="6410325" y="39528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0 = versicolor</a:t>
            </a:r>
          </a:p>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1 = virginica</a:t>
            </a:r>
          </a:p>
        </p:txBody>
      </p:sp>
      <p:sp>
        <p:nvSpPr>
          <p:cNvPr id="10" name="">
            <a:extLst xmlns:a="http://schemas.openxmlformats.org/drawingml/2006/main">
              <a:ext uri="{FF2B5EF4-FFF2-40B4-BE49-F238E27FC236}">
                <a16:creationId xmlns:a16="http://schemas.microsoft.com/office/drawing/2014/main" id="{1E8E409E-3A3F-4B75-8F78-12033CDCA658}"/>
              </a:ext>
            </a:extLst>
          </p:cNvPr>
          <p:cNvSpPr>
            <a:spLocks xmlns:a="http://schemas.openxmlformats.org/drawingml/2006/main" noGrp="1"/>
          </p:cNvSpPr>
          <p:nvPr/>
        </p:nvSpPr>
        <p:spPr>
          <a:xfrm xmlns:a="http://schemas.openxmlformats.org/drawingml/2006/main">
            <a:off x="6410325" y="50196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Une étiquette par fleur : shape (100,).</a:t>
            </a:r>
          </a:p>
        </p:txBody>
      </p:sp>
    </p:spTree>
    <p:extLst>
      <p:ext uri="{BB962C8B-B14F-4D97-AF65-F5344CB8AC3E}">
        <p14:creationId xmlns:p14="http://schemas.microsoft.com/office/powerpoint/2010/main" val="1137746684"/>
      </p:ext>
    </p:extLst>
  </p:cSld>
</p:sld>
</file>

<file path=ppt/slides/slide30.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6C09B5-8A59-4447-BE03-4E0F63E0790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Entraînement et validation : des rôles distincts</a:t>
            </a:r>
          </a:p>
        </p:txBody>
      </p:sp>
      <p:sp>
        <p:nvSpPr>
          <p:cNvPr id="2" name="">
            <a:extLst xmlns:a="http://schemas.openxmlformats.org/drawingml/2006/main">
              <a:ext uri="{FF2B5EF4-FFF2-40B4-BE49-F238E27FC236}">
                <a16:creationId xmlns:a16="http://schemas.microsoft.com/office/drawing/2014/main" id="{11BECB3A-F4DC-4BE9-9E5A-E7666340A666}"/>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30</a:t>
            </a:r>
          </a:p>
        </p:txBody>
      </p:sp>
      <p:sp>
        <p:nvSpPr>
          <p:cNvPr id="3" name="">
            <a:extLst xmlns:a="http://schemas.openxmlformats.org/drawingml/2006/main">
              <a:ext uri="{FF2B5EF4-FFF2-40B4-BE49-F238E27FC236}">
                <a16:creationId xmlns:a16="http://schemas.microsoft.com/office/drawing/2014/main" id="{B71E8BB4-F2F2-4F51-9321-380B51BC761F}"/>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sections A–B</a:t>
            </a:r>
          </a:p>
        </p:txBody>
      </p:sp>
      <p:sp>
        <p:nvSpPr>
          <p:cNvPr id="4" name="">
            <a:extLst xmlns:a="http://schemas.openxmlformats.org/drawingml/2006/main">
              <a:ext uri="{FF2B5EF4-FFF2-40B4-BE49-F238E27FC236}">
                <a16:creationId xmlns:a16="http://schemas.microsoft.com/office/drawing/2014/main" id="{CF57B0AD-7095-49FC-86B9-B35A12F4880E}"/>
              </a:ext>
            </a:extLst>
          </p:cNvPr>
          <p:cNvSpPr>
            <a:spLocks xmlns:a="http://schemas.openxmlformats.org/drawingml/2006/main" noGrp="1"/>
          </p:cNvSpPr>
          <p:nvPr/>
        </p:nvSpPr>
        <p:spPr>
          <a:xfrm xmlns:a="http://schemas.openxmlformats.org/drawingml/2006/main">
            <a:off x="685800"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75 fleurs d’entraînement</a:t>
            </a:r>
          </a:p>
        </p:txBody>
      </p:sp>
      <p:sp>
        <p:nvSpPr>
          <p:cNvPr id="5" name="">
            <a:extLst xmlns:a="http://schemas.openxmlformats.org/drawingml/2006/main">
              <a:ext uri="{FF2B5EF4-FFF2-40B4-BE49-F238E27FC236}">
                <a16:creationId xmlns:a16="http://schemas.microsoft.com/office/drawing/2014/main" id="{5C574CB0-0A75-4153-B335-E0230EB7507E}"/>
              </a:ext>
            </a:extLst>
          </p:cNvPr>
          <p:cNvSpPr>
            <a:spLocks xmlns:a="http://schemas.openxmlformats.org/drawingml/2006/main" noGrp="1"/>
          </p:cNvSpPr>
          <p:nvPr/>
        </p:nvSpPr>
        <p:spPr>
          <a:xfrm xmlns:a="http://schemas.openxmlformats.org/drawingml/2006/main">
            <a:off x="685800"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Ajuster la référence : classe majoritaire.</a:t>
            </a:r>
          </a:p>
        </p:txBody>
      </p:sp>
      <p:sp>
        <p:nvSpPr>
          <p:cNvPr id="6" name="">
            <a:extLst xmlns:a="http://schemas.openxmlformats.org/drawingml/2006/main">
              <a:ext uri="{FF2B5EF4-FFF2-40B4-BE49-F238E27FC236}">
                <a16:creationId xmlns:a16="http://schemas.microsoft.com/office/drawing/2014/main" id="{62B037E6-A213-413E-BA5B-2761BAAF436B}"/>
              </a:ext>
            </a:extLst>
          </p:cNvPr>
          <p:cNvSpPr>
            <a:spLocks xmlns:a="http://schemas.openxmlformats.org/drawingml/2006/main" noGrp="1"/>
          </p:cNvSpPr>
          <p:nvPr/>
        </p:nvSpPr>
        <p:spPr>
          <a:xfrm xmlns:a="http://schemas.openxmlformats.org/drawingml/2006/main">
            <a:off x="685800"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Ajuster la standardisation et la régression logistique sur ces lignes.</a:t>
            </a:r>
          </a:p>
        </p:txBody>
      </p:sp>
      <p:sp>
        <p:nvSpPr>
          <p:cNvPr id="7" name="">
            <a:extLst xmlns:a="http://schemas.openxmlformats.org/drawingml/2006/main">
              <a:ext uri="{FF2B5EF4-FFF2-40B4-BE49-F238E27FC236}">
                <a16:creationId xmlns:a16="http://schemas.microsoft.com/office/drawing/2014/main" id="{E44F2409-572F-415D-BC67-C1D6C01DD7F8}"/>
              </a:ext>
            </a:extLst>
          </p:cNvPr>
          <p:cNvSpPr>
            <a:spLocks xmlns:a="http://schemas.openxmlformats.org/drawingml/2006/main" noGrp="1"/>
          </p:cNvSpPr>
          <p:nvPr/>
        </p:nvSpPr>
        <p:spPr>
          <a:xfrm xmlns:a="http://schemas.openxmlformats.org/drawingml/2006/main">
            <a:off x="6410325" y="1647825"/>
            <a:ext cx="5010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25 fleurs de validation</a:t>
            </a:r>
          </a:p>
        </p:txBody>
      </p:sp>
      <p:sp>
        <p:nvSpPr>
          <p:cNvPr id="8" name="">
            <a:extLst xmlns:a="http://schemas.openxmlformats.org/drawingml/2006/main">
              <a:ext uri="{FF2B5EF4-FFF2-40B4-BE49-F238E27FC236}">
                <a16:creationId xmlns:a16="http://schemas.microsoft.com/office/drawing/2014/main" id="{E4CADF5B-F48C-4CB7-81D2-F7E33AAB4A9B}"/>
              </a:ext>
            </a:extLst>
          </p:cNvPr>
          <p:cNvSpPr>
            <a:spLocks xmlns:a="http://schemas.openxmlformats.org/drawingml/2006/main" noGrp="1"/>
          </p:cNvSpPr>
          <p:nvPr/>
        </p:nvSpPr>
        <p:spPr>
          <a:xfrm xmlns:a="http://schemas.openxmlformats.org/drawingml/2006/main">
            <a:off x="6410325" y="23145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Appliquer les transformations apprises.</a:t>
            </a:r>
          </a:p>
        </p:txBody>
      </p:sp>
      <p:sp>
        <p:nvSpPr>
          <p:cNvPr id="9" name="">
            <a:extLst xmlns:a="http://schemas.openxmlformats.org/drawingml/2006/main">
              <a:ext uri="{FF2B5EF4-FFF2-40B4-BE49-F238E27FC236}">
                <a16:creationId xmlns:a16="http://schemas.microsoft.com/office/drawing/2014/main" id="{146E15E0-5A76-4BC7-97C4-0CA88B4D9933}"/>
              </a:ext>
            </a:extLst>
          </p:cNvPr>
          <p:cNvSpPr>
            <a:spLocks xmlns:a="http://schemas.openxmlformats.org/drawingml/2006/main" noGrp="1"/>
          </p:cNvSpPr>
          <p:nvPr/>
        </p:nvSpPr>
        <p:spPr>
          <a:xfrm xmlns:a="http://schemas.openxmlformats.org/drawingml/2006/main">
            <a:off x="6410325" y="3381375"/>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3238"/>
                </a:solidFill>
                <a:latin typeface="Helvetica Neue"/>
                <a:ea typeface="Helvetica Neue"/>
                <a:cs typeface="Helvetica Neue"/>
              </a:defRPr>
            </a:pPr>
            <a:r>
              <a:rPr sz="2100" b="0">
                <a:solidFill>
                  <a:srgbClr val="163238"/>
                </a:solidFill>
                <a:latin typeface="Helvetica Neue"/>
                <a:ea typeface="Helvetica Neue"/>
                <a:cs typeface="Helvetica Neue"/>
              </a:rPr>
              <a:t>Comparer le taux de bonnes prédictions. Examiner probabilités et erreurs.</a:t>
            </a:r>
          </a:p>
        </p:txBody>
      </p:sp>
      <p:sp>
        <p:nvSpPr>
          <p:cNvPr id="10" name="">
            <a:extLst xmlns:a="http://schemas.openxmlformats.org/drawingml/2006/main">
              <a:ext uri="{FF2B5EF4-FFF2-40B4-BE49-F238E27FC236}">
                <a16:creationId xmlns:a16="http://schemas.microsoft.com/office/drawing/2014/main" id="{215FDC9D-7534-4364-B9B5-3F90F6462B90}"/>
              </a:ext>
            </a:extLst>
          </p:cNvPr>
          <p:cNvSpPr>
            <a:spLocks xmlns:a="http://schemas.openxmlformats.org/drawingml/2006/main" noGrp="1"/>
          </p:cNvSpPr>
          <p:nvPr/>
        </p:nvSpPr>
        <p:spPr>
          <a:xfrm xmlns:a="http://schemas.openxmlformats.org/drawingml/2006/main">
            <a:off x="685800" y="53149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7C72"/>
                </a:solidFill>
                <a:latin typeface="Helvetica Neue"/>
                <a:ea typeface="Helvetica Neue"/>
                <a:cs typeface="Helvetica Neue"/>
              </a:defRPr>
            </a:pPr>
            <a:r>
              <a:rPr sz="2175" b="1">
                <a:solidFill>
                  <a:srgbClr val="147C72"/>
                </a:solidFill>
                <a:latin typeface="Helvetica Neue"/>
                <a:ea typeface="Helvetica Neue"/>
                <a:cs typeface="Helvetica Neue"/>
              </a:rPr>
              <a:t>Cette démonstration réserve une validation, mais aucun jeu de test final.</a:t>
            </a:r>
          </a:p>
        </p:txBody>
      </p:sp>
    </p:spTree>
    <p:extLst>
      <p:ext uri="{BB962C8B-B14F-4D97-AF65-F5344CB8AC3E}">
        <p14:creationId xmlns:p14="http://schemas.microsoft.com/office/powerpoint/2010/main" val="685547738"/>
      </p:ext>
    </p:extLst>
  </p:cSld>
</p:sld>
</file>

<file path=ppt/slides/slide31.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 prétraitement peut créer une fuite de données</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31</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StandardScaler dans le pipeline d’entraînement</a:t>
            </a:r>
          </a:p>
        </p:txBody>
      </p:sp>
      <p:sp>
        <p:nvSpPr>
          <p:cNvPr id="9" name="">
            <a:extLst xmlns:a="http://schemas.openxmlformats.org/drawingml/2006/main">
              <a:ext uri="{FF2B5EF4-FFF2-40B4-BE49-F238E27FC236}">
                <a16:creationId xmlns:a16="http://schemas.microsoft.com/office/drawing/2014/main" id="{72A52F8F-E3C8-4CF3-A83E-AC2C247CCFE3}"/>
              </a:ext>
            </a:extLst>
          </p:cNvPr>
          <p:cNvSpPr>
            <a:spLocks xmlns:a="http://schemas.openxmlformats.org/drawingml/2006/main" noGrp="1"/>
          </p:cNvSpPr>
          <p:nvPr/>
        </p:nvSpPr>
        <p:spPr>
          <a:xfrm xmlns:a="http://schemas.openxmlformats.org/drawingml/2006/main">
            <a:off x="685800" y="17621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Un raccourci tentant</a:t>
            </a:r>
          </a:p>
        </p:txBody>
      </p:sp>
      <p:sp>
        <p:nvSpPr>
          <p:cNvPr id="10" name="">
            <a:extLst xmlns:a="http://schemas.openxmlformats.org/drawingml/2006/main">
              <a:ext uri="{FF2B5EF4-FFF2-40B4-BE49-F238E27FC236}">
                <a16:creationId xmlns:a16="http://schemas.microsoft.com/office/drawing/2014/main" id="{514F9FE5-1646-4557-91FE-5D421B217900}"/>
              </a:ext>
            </a:extLst>
          </p:cNvPr>
          <p:cNvSpPr>
            <a:spLocks xmlns:a="http://schemas.openxmlformats.org/drawingml/2006/main" noGrp="1"/>
          </p:cNvSpPr>
          <p:nvPr/>
        </p:nvSpPr>
        <p:spPr>
          <a:xfrm xmlns:a="http://schemas.openxmlformats.org/drawingml/2006/main">
            <a:off x="685800" y="2476500"/>
            <a:ext cx="5048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Calculer les moyennes sur les 100 fleurs.</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Puis séparer les données et entraîner le modèle.</a:t>
            </a:r>
          </a:p>
        </p:txBody>
      </p:sp>
      <p:sp>
        <p:nvSpPr>
          <p:cNvPr id="11" name="">
            <a:extLst xmlns:a="http://schemas.openxmlformats.org/drawingml/2006/main">
              <a:ext uri="{FF2B5EF4-FFF2-40B4-BE49-F238E27FC236}">
                <a16:creationId xmlns:a16="http://schemas.microsoft.com/office/drawing/2014/main" id="{BABAFDB9-6133-4BBC-96AA-D8A0B112338A}"/>
              </a:ext>
            </a:extLst>
          </p:cNvPr>
          <p:cNvSpPr>
            <a:spLocks xmlns:a="http://schemas.openxmlformats.org/drawingml/2006/main" noGrp="1"/>
          </p:cNvSpPr>
          <p:nvPr/>
        </p:nvSpPr>
        <p:spPr>
          <a:xfrm xmlns:a="http://schemas.openxmlformats.org/drawingml/2006/main">
            <a:off x="6477000" y="1762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Le pipeline de la démonstration</a:t>
            </a:r>
          </a:p>
        </p:txBody>
      </p:sp>
      <p:sp>
        <p:nvSpPr>
          <p:cNvPr id="12" name="">
            <a:extLst xmlns:a="http://schemas.openxmlformats.org/drawingml/2006/main">
              <a:ext uri="{FF2B5EF4-FFF2-40B4-BE49-F238E27FC236}">
                <a16:creationId xmlns:a16="http://schemas.microsoft.com/office/drawing/2014/main" id="{987FF645-2EAF-4831-B0A1-A4E9C41B1211}"/>
              </a:ext>
            </a:extLst>
          </p:cNvPr>
          <p:cNvSpPr>
            <a:spLocks xmlns:a="http://schemas.openxmlformats.org/drawingml/2006/main" noGrp="1"/>
          </p:cNvSpPr>
          <p:nvPr/>
        </p:nvSpPr>
        <p:spPr>
          <a:xfrm xmlns:a="http://schemas.openxmlformats.org/drawingml/2006/main">
            <a:off x="6477000" y="24765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Apprendre moyennes et échelles sur les 75 fleurs d’entraînement.</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Les réutiliser pour les 25 fleurs de validation.</a:t>
            </a:r>
          </a:p>
        </p:txBody>
      </p:sp>
      <p:sp>
        <p:nvSpPr>
          <p:cNvPr id="13" name="">
            <a:extLst xmlns:a="http://schemas.openxmlformats.org/drawingml/2006/main">
              <a:ext uri="{FF2B5EF4-FFF2-40B4-BE49-F238E27FC236}">
                <a16:creationId xmlns:a16="http://schemas.microsoft.com/office/drawing/2014/main" id="{01F58B90-5121-49E4-8ECA-70A33B69D88B}"/>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La validation ne doit pas servir à ajuster le processus que l’on évalue.</a:t>
            </a:r>
          </a:p>
        </p:txBody>
      </p:sp>
    </p:spTree>
    <p:extLst>
      <p:ext uri="{BB962C8B-B14F-4D97-AF65-F5344CB8AC3E}">
        <p14:creationId xmlns:p14="http://schemas.microsoft.com/office/powerpoint/2010/main" val="1577667620"/>
      </p:ext>
    </p:extLst>
  </p:cSld>
</p:sld>
</file>

<file path=ppt/slides/slide32.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Probabilité estimée et classe prédite</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32</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probabilités de virginica</a:t>
            </a:r>
          </a:p>
        </p:txBody>
      </p:sp>
      <p:graphicFrame>
        <p:nvGraphicFramePr>
          <p:cNvPr id="16" name=""/>
          <p:cNvGraphicFramePr/>
          <p:nvPr/>
        </p:nvGraphicFramePr>
        <p:xfrm>
          <a:off xmlns:a="http://schemas.openxmlformats.org/drawingml/2006/main" x="685800" y="1714500"/>
          <a:ext xmlns:a="http://schemas.openxmlformats.org/drawingml/2006/main" cx="10820400" cy="2857500"/>
        </p:xfrm>
        <a:graphic xmlns:a="http://schemas.openxmlformats.org/drawingml/2006/main">
          <a:graphicData uri="http://schemas.openxmlformats.org/drawingml/2006/table">
            <a:tbl>
              <a:tblPr/>
              <a:tblGrid>
                <a:gridCol w="3238500"/>
                <a:gridCol w="2476500"/>
                <a:gridCol w="5105400"/>
              </a:tblGrid>
              <a:tr h="714375">
                <a:tc>
                  <a:txBody>
                    <a:bodyPr/>
                    <a:lstStyle/>
                    <a:p>
                      <a:r>
                        <a:rPr sz="1875" b="1">
                          <a:solidFill>
                            <a:srgbClr val="17343A"/>
                          </a:solidFill>
                          <a:latin typeface="Helvetica Neue"/>
                          <a:ea typeface="Helvetica Neue"/>
                          <a:cs typeface="Helvetica Neue"/>
                        </a:rPr>
                        <a:t>P(virginica) estimée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Classe prédite</a:t>
                      </a:r>
                    </a:p>
                  </a:txBody>
                  <a:tcPr marL="104775" marR="104775" marT="95250" marB="76200" anchor="t">
                    <a:solidFill>
                      <a:srgbClr val="E1EEEA"/>
                    </a:solidFill>
                  </a:tcPr>
                </a:tc>
                <a:tc>
                  <a:txBody>
                    <a:bodyPr/>
                    <a:lstStyle/>
                    <a:p>
                      <a:r>
                        <a:rPr sz="1875" b="1">
                          <a:solidFill>
                            <a:srgbClr val="17343A"/>
                          </a:solidFill>
                          <a:latin typeface="Helvetica Neue"/>
                          <a:ea typeface="Helvetica Neue"/>
                          <a:cs typeface="Helvetica Neue"/>
                        </a:rPr>
                        <a:t>Interprétation</a:t>
                      </a:r>
                    </a:p>
                  </a:txBody>
                  <a:tcPr marL="104775" marR="104775" marT="95250" marB="76200" anchor="t">
                    <a:solidFill>
                      <a:srgbClr val="E1EEEA"/>
                    </a:solidFill>
                  </a:tcPr>
                </a:tc>
              </a:tr>
              <a:tr h="714375">
                <a:tc>
                  <a:txBody>
                    <a:bodyPr/>
                    <a:lstStyle/>
                    <a:p>
                      <a:r>
                        <a:rPr sz="1875">
                          <a:solidFill>
                            <a:srgbClr val="17343A"/>
                          </a:solidFill>
                          <a:latin typeface="Helvetica Neue"/>
                          <a:ea typeface="Helvetica Neue"/>
                          <a:cs typeface="Helvetica Neue"/>
                        </a:rPr>
                        <a:t>0,49</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versicolor</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Près du seuil de décision</a:t>
                      </a:r>
                    </a:p>
                  </a:txBody>
                  <a:tcPr marL="104775" marR="104775" marT="95250" marB="76200" anchor="t">
                    <a:solidFill>
                      <a:srgbClr val="F8FBFA"/>
                    </a:solidFill>
                  </a:tcPr>
                </a:tc>
              </a:tr>
              <a:tr h="714375">
                <a:tc>
                  <a:txBody>
                    <a:bodyPr/>
                    <a:lstStyle/>
                    <a:p>
                      <a:r>
                        <a:rPr sz="1875">
                          <a:solidFill>
                            <a:srgbClr val="17343A"/>
                          </a:solidFill>
                          <a:latin typeface="Helvetica Neue"/>
                          <a:ea typeface="Helvetica Neue"/>
                          <a:cs typeface="Helvetica Neue"/>
                        </a:rPr>
                        <a:t>0,51</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virginica</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Probabilité très proche, classe différente</a:t>
                      </a:r>
                    </a:p>
                  </a:txBody>
                  <a:tcPr marL="104775" marR="104775" marT="95250" marB="76200" anchor="t">
                    <a:solidFill>
                      <a:srgbClr val="F8FBFA"/>
                    </a:solidFill>
                  </a:tcPr>
                </a:tc>
              </a:tr>
              <a:tr h="714375">
                <a:tc>
                  <a:txBody>
                    <a:bodyPr/>
                    <a:lstStyle/>
                    <a:p>
                      <a:r>
                        <a:rPr sz="1875">
                          <a:solidFill>
                            <a:srgbClr val="17343A"/>
                          </a:solidFill>
                          <a:latin typeface="Helvetica Neue"/>
                          <a:ea typeface="Helvetica Neue"/>
                          <a:cs typeface="Helvetica Neue"/>
                        </a:rPr>
                        <a:t>0,90</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virginica</a:t>
                      </a:r>
                    </a:p>
                  </a:txBody>
                  <a:tcPr marL="104775" marR="104775" marT="95250" marB="76200" anchor="t">
                    <a:solidFill>
                      <a:srgbClr val="F8FBFA"/>
                    </a:solidFill>
                  </a:tcPr>
                </a:tc>
                <a:tc>
                  <a:txBody>
                    <a:bodyPr/>
                    <a:lstStyle/>
                    <a:p>
                      <a:r>
                        <a:rPr sz="1875">
                          <a:solidFill>
                            <a:srgbClr val="17343A"/>
                          </a:solidFill>
                          <a:latin typeface="Helvetica Neue"/>
                          <a:ea typeface="Helvetica Neue"/>
                          <a:cs typeface="Helvetica Neue"/>
                        </a:rPr>
                        <a:t>Estimation plus forte, mais erreur toujours possible</a:t>
                      </a:r>
                    </a:p>
                  </a:txBody>
                  <a:tcPr marL="104775" marR="104775" marT="95250" marB="76200" anchor="t">
                    <a:solidFill>
                      <a:srgbClr val="F8FBFA"/>
                    </a:solidFill>
                  </a:tcPr>
                </a:tc>
              </a:tr>
            </a:tbl>
          </a:graphicData>
        </a:graphic>
      </p:graphicFrame>
      <p:sp>
        <p:nvSpPr>
          <p:cNvPr id="10" name="">
            <a:extLst xmlns:a="http://schemas.openxmlformats.org/drawingml/2006/main">
              <a:ext uri="{FF2B5EF4-FFF2-40B4-BE49-F238E27FC236}">
                <a16:creationId xmlns:a16="http://schemas.microsoft.com/office/drawing/2014/main" id="{6F101E70-F190-44F9-971E-E83E91502038}"/>
              </a:ext>
            </a:extLst>
          </p:cNvPr>
          <p:cNvSpPr>
            <a:spLocks xmlns:a="http://schemas.openxmlformats.org/drawingml/2006/main" noGrp="1"/>
          </p:cNvSpPr>
          <p:nvPr/>
        </p:nvSpPr>
        <p:spPr>
          <a:xfrm xmlns:a="http://schemas.openxmlformats.org/drawingml/2006/main">
            <a:off x="685800" y="50006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Taux de réussite : classes prédites. Perte logarithmique : probabilités.</a:t>
            </a:r>
          </a:p>
        </p:txBody>
      </p:sp>
      <p:sp>
        <p:nvSpPr>
          <p:cNvPr id="11" name="">
            <a:extLst xmlns:a="http://schemas.openxmlformats.org/drawingml/2006/main">
              <a:ext uri="{FF2B5EF4-FFF2-40B4-BE49-F238E27FC236}">
                <a16:creationId xmlns:a16="http://schemas.microsoft.com/office/drawing/2014/main" id="{F9DE1F55-B302-45CC-A8C5-5833A6EA24D9}"/>
              </a:ext>
            </a:extLst>
          </p:cNvPr>
          <p:cNvSpPr>
            <a:spLocks xmlns:a="http://schemas.openxmlformats.org/drawingml/2006/main" noGrp="1"/>
          </p:cNvSpPr>
          <p:nvPr/>
        </p:nvSpPr>
        <p:spPr>
          <a:xfrm xmlns:a="http://schemas.openxmlformats.org/drawingml/2006/main">
            <a:off x="685800" y="5743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0">
                <a:solidFill>
                  <a:srgbClr val="17343A"/>
                </a:solidFill>
                <a:latin typeface="Helvetica Neue"/>
                <a:ea typeface="Helvetica Neue"/>
                <a:cs typeface="Helvetica Neue"/>
              </a:defRPr>
            </a:pPr>
            <a:r>
              <a:rPr sz="1800" b="0">
                <a:solidFill>
                  <a:srgbClr val="17343A"/>
                </a:solidFill>
                <a:latin typeface="Helvetica Neue"/>
                <a:ea typeface="Helvetica Neue"/>
                <a:cs typeface="Helvetica Neue"/>
              </a:rPr>
              <a:t>Probabilités fictives · Classe 1 lorsque P(virginica) &gt; 0,5 dans cet exemple</a:t>
            </a:r>
          </a:p>
        </p:txBody>
      </p:sp>
    </p:spTree>
    <p:extLst>
      <p:ext uri="{BB962C8B-B14F-4D97-AF65-F5344CB8AC3E}">
        <p14:creationId xmlns:p14="http://schemas.microsoft.com/office/powerpoint/2010/main" val="1577667620"/>
      </p:ext>
    </p:extLst>
  </p:cSld>
</p:sld>
</file>

<file path=ppt/slides/slide33.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695E03-685D-47AD-A567-263BCA757AE1}"/>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Un score a besoin d’un point de comparaison</a:t>
            </a:r>
          </a:p>
        </p:txBody>
      </p:sp>
      <p:sp>
        <p:nvSpPr>
          <p:cNvPr id="2" name="">
            <a:extLst xmlns:a="http://schemas.openxmlformats.org/drawingml/2006/main">
              <a:ext uri="{FF2B5EF4-FFF2-40B4-BE49-F238E27FC236}">
                <a16:creationId xmlns:a16="http://schemas.microsoft.com/office/drawing/2014/main" id="{394ECAFF-402F-430E-A0B8-78B743764BCB}"/>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33</a:t>
            </a:r>
          </a:p>
        </p:txBody>
      </p:sp>
      <p:sp>
        <p:nvSpPr>
          <p:cNvPr id="3" name="">
            <a:extLst xmlns:a="http://schemas.openxmlformats.org/drawingml/2006/main">
              <a:ext uri="{FF2B5EF4-FFF2-40B4-BE49-F238E27FC236}">
                <a16:creationId xmlns:a16="http://schemas.microsoft.com/office/drawing/2014/main" id="{99B58480-85C6-43C9-AD5D-62BE63646BFC}"/>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référence majoritaire et taux de réussite</a:t>
            </a:r>
          </a:p>
        </p:txBody>
      </p:sp>
      <p:sp>
        <p:nvSpPr>
          <p:cNvPr id="9" name="">
            <a:extLst xmlns:a="http://schemas.openxmlformats.org/drawingml/2006/main">
              <a:ext uri="{FF2B5EF4-FFF2-40B4-BE49-F238E27FC236}">
                <a16:creationId xmlns:a16="http://schemas.microsoft.com/office/drawing/2014/main" id="{849E4177-F2F4-426C-B2AF-938C8C9603F1}"/>
              </a:ext>
            </a:extLst>
          </p:cNvPr>
          <p:cNvSpPr>
            <a:spLocks xmlns:a="http://schemas.openxmlformats.org/drawingml/2006/main" noGrp="1"/>
          </p:cNvSpPr>
          <p:nvPr/>
        </p:nvSpPr>
        <p:spPr>
          <a:xfrm xmlns:a="http://schemas.openxmlformats.org/drawingml/2006/main">
            <a:off x="685800" y="17621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Pourquoi une référence?</a:t>
            </a:r>
          </a:p>
        </p:txBody>
      </p:sp>
      <p:sp>
        <p:nvSpPr>
          <p:cNvPr id="10" name="">
            <a:extLst xmlns:a="http://schemas.openxmlformats.org/drawingml/2006/main">
              <a:ext uri="{FF2B5EF4-FFF2-40B4-BE49-F238E27FC236}">
                <a16:creationId xmlns:a16="http://schemas.microsoft.com/office/drawing/2014/main" id="{25A2A79C-01CE-44CB-AC08-651179BF87E9}"/>
              </a:ext>
            </a:extLst>
          </p:cNvPr>
          <p:cNvSpPr>
            <a:spLocks xmlns:a="http://schemas.openxmlformats.org/drawingml/2006/main" noGrp="1"/>
          </p:cNvSpPr>
          <p:nvPr/>
        </p:nvSpPr>
        <p:spPr>
          <a:xfrm xmlns:a="http://schemas.openxmlformats.org/drawingml/2006/main">
            <a:off x="685800" y="2476500"/>
            <a:ext cx="5048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Imaginons que 95 observations sur 100 appartiennent à une même classe.</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Prédire toujours cette classe donne</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95 % de bonnes réponses.</a:t>
            </a:r>
          </a:p>
        </p:txBody>
      </p:sp>
      <p:sp>
        <p:nvSpPr>
          <p:cNvPr id="11" name="">
            <a:extLst xmlns:a="http://schemas.openxmlformats.org/drawingml/2006/main">
              <a:ext uri="{FF2B5EF4-FFF2-40B4-BE49-F238E27FC236}">
                <a16:creationId xmlns:a16="http://schemas.microsoft.com/office/drawing/2014/main" id="{E7910C36-CA2A-432B-AFF2-03EC55BC5C24}"/>
              </a:ext>
            </a:extLst>
          </p:cNvPr>
          <p:cNvSpPr>
            <a:spLocks xmlns:a="http://schemas.openxmlformats.org/drawingml/2006/main" noGrp="1"/>
          </p:cNvSpPr>
          <p:nvPr/>
        </p:nvSpPr>
        <p:spPr>
          <a:xfrm xmlns:a="http://schemas.openxmlformats.org/drawingml/2006/main">
            <a:off x="6477000" y="1762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Combien d’observations?</a:t>
            </a:r>
          </a:p>
        </p:txBody>
      </p:sp>
      <p:sp>
        <p:nvSpPr>
          <p:cNvPr id="12" name="">
            <a:extLst xmlns:a="http://schemas.openxmlformats.org/drawingml/2006/main">
              <a:ext uri="{FF2B5EF4-FFF2-40B4-BE49-F238E27FC236}">
                <a16:creationId xmlns:a16="http://schemas.microsoft.com/office/drawing/2014/main" id="{67AA0578-81FF-4092-9C81-3AE58B4F54EA}"/>
              </a:ext>
            </a:extLst>
          </p:cNvPr>
          <p:cNvSpPr>
            <a:spLocks xmlns:a="http://schemas.openxmlformats.org/drawingml/2006/main" noGrp="1"/>
          </p:cNvSpPr>
          <p:nvPr/>
        </p:nvSpPr>
        <p:spPr>
          <a:xfrm xmlns:a="http://schemas.openxmlformats.org/drawingml/2006/main">
            <a:off x="6477000" y="24765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Notre validation contient 25 fleurs.</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Une bonne prédiction de plus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4 points de pourcentage gagnés.</a:t>
            </a:r>
          </a:p>
        </p:txBody>
      </p:sp>
      <p:sp>
        <p:nvSpPr>
          <p:cNvPr id="13" name="">
            <a:extLst xmlns:a="http://schemas.openxmlformats.org/drawingml/2006/main">
              <a:ext uri="{FF2B5EF4-FFF2-40B4-BE49-F238E27FC236}">
                <a16:creationId xmlns:a16="http://schemas.microsoft.com/office/drawing/2014/main" id="{6AB1A558-EDE8-46AD-B78F-85568BFC331D}"/>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0D827B"/>
                </a:solidFill>
                <a:latin typeface="Helvetica Neue"/>
                <a:ea typeface="Helvetica Neue"/>
                <a:cs typeface="Helvetica Neue"/>
              </a:defRPr>
            </a:pPr>
            <a:r>
              <a:rPr sz="2175" b="1">
                <a:solidFill>
                  <a:srgbClr val="0D827B"/>
                </a:solidFill>
                <a:latin typeface="Helvetica Neue"/>
                <a:ea typeface="Helvetica Neue"/>
                <a:cs typeface="Helvetica Neue"/>
              </a:rPr>
              <a:t>Un modèle utile devrait améliorer une règle de référence pertinente.</a:t>
            </a:r>
          </a:p>
        </p:txBody>
      </p:sp>
    </p:spTree>
    <p:extLst>
      <p:ext uri="{BB962C8B-B14F-4D97-AF65-F5344CB8AC3E}">
        <p14:creationId xmlns:p14="http://schemas.microsoft.com/office/powerpoint/2010/main" val="1577667620"/>
      </p:ext>
    </p:extLst>
  </p:cSld>
</p:sld>
</file>

<file path=ppt/slides/slide34.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FF7671-33E0-426A-8E6D-9FCD14981322}"/>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Les erreurs orientent les vérifications</a:t>
            </a:r>
          </a:p>
        </p:txBody>
      </p:sp>
      <p:sp>
        <p:nvSpPr>
          <p:cNvPr id="2" name="">
            <a:extLst xmlns:a="http://schemas.openxmlformats.org/drawingml/2006/main">
              <a:ext uri="{FF2B5EF4-FFF2-40B4-BE49-F238E27FC236}">
                <a16:creationId xmlns:a16="http://schemas.microsoft.com/office/drawing/2014/main" id="{A474E412-30A3-408D-AE16-EB6AAF2CDF7C}"/>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34</a:t>
            </a:r>
          </a:p>
        </p:txBody>
      </p:sp>
      <p:sp>
        <p:nvSpPr>
          <p:cNvPr id="3" name="">
            <a:extLst xmlns:a="http://schemas.openxmlformats.org/drawingml/2006/main">
              <a:ext uri="{FF2B5EF4-FFF2-40B4-BE49-F238E27FC236}">
                <a16:creationId xmlns:a16="http://schemas.microsoft.com/office/drawing/2014/main" id="{938DBDDD-51D3-4403-887C-3E41130B3965}"/>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Notebook 03 : exercice G · Les 25 lignes de prédiction</a:t>
            </a:r>
          </a:p>
        </p:txBody>
      </p:sp>
      <p:sp>
        <p:nvSpPr>
          <p:cNvPr id="9" name="">
            <a:extLst xmlns:a="http://schemas.openxmlformats.org/drawingml/2006/main">
              <a:ext uri="{FF2B5EF4-FFF2-40B4-BE49-F238E27FC236}">
                <a16:creationId xmlns:a16="http://schemas.microsoft.com/office/drawing/2014/main" id="{A3BCCDB7-BD28-4363-964E-56F70F26922D}"/>
              </a:ext>
            </a:extLst>
          </p:cNvPr>
          <p:cNvSpPr>
            <a:spLocks xmlns:a="http://schemas.openxmlformats.org/drawingml/2006/main" noGrp="1"/>
          </p:cNvSpPr>
          <p:nvPr/>
        </p:nvSpPr>
        <p:spPr>
          <a:xfrm xmlns:a="http://schemas.openxmlformats.org/drawingml/2006/main">
            <a:off x="685800" y="17145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17343A"/>
                </a:solidFill>
                <a:latin typeface="Helvetica Neue"/>
                <a:ea typeface="Helvetica Neue"/>
                <a:cs typeface="Helvetica Neue"/>
              </a:defRPr>
            </a:pPr>
            <a:r>
              <a:rPr sz="2550" b="1">
                <a:solidFill>
                  <a:srgbClr val="17343A"/>
                </a:solidFill>
                <a:latin typeface="Helvetica Neue"/>
                <a:ea typeface="Helvetica Neue"/>
                <a:cs typeface="Helvetica Neue"/>
              </a:rPr>
              <a:t>Une mauvaise prédiction invite à chercher une explication.</a:t>
            </a:r>
          </a:p>
        </p:txBody>
      </p:sp>
      <p:sp>
        <p:nvSpPr>
          <p:cNvPr id="10" name="">
            <a:extLst xmlns:a="http://schemas.openxmlformats.org/drawingml/2006/main">
              <a:ext uri="{FF2B5EF4-FFF2-40B4-BE49-F238E27FC236}">
                <a16:creationId xmlns:a16="http://schemas.microsoft.com/office/drawing/2014/main" id="{3397F8BA-7B91-46FC-A31F-82248DE3BE27}"/>
              </a:ext>
            </a:extLst>
          </p:cNvPr>
          <p:cNvSpPr>
            <a:spLocks xmlns:a="http://schemas.openxmlformats.org/drawingml/2006/main" noGrp="1"/>
          </p:cNvSpPr>
          <p:nvPr/>
        </p:nvSpPr>
        <p:spPr>
          <a:xfrm xmlns:a="http://schemas.openxmlformats.org/drawingml/2006/main">
            <a:off x="685800" y="27146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La fleur concernée</a:t>
            </a:r>
          </a:p>
        </p:txBody>
      </p:sp>
      <p:sp>
        <p:nvSpPr>
          <p:cNvPr id="11" name="">
            <a:extLst xmlns:a="http://schemas.openxmlformats.org/drawingml/2006/main">
              <a:ext uri="{FF2B5EF4-FFF2-40B4-BE49-F238E27FC236}">
                <a16:creationId xmlns:a16="http://schemas.microsoft.com/office/drawing/2014/main" id="{C74F779A-4177-4AEC-8533-CA71D9607EA9}"/>
              </a:ext>
            </a:extLst>
          </p:cNvPr>
          <p:cNvSpPr>
            <a:spLocks xmlns:a="http://schemas.openxmlformats.org/drawingml/2006/main" noGrp="1"/>
          </p:cNvSpPr>
          <p:nvPr/>
        </p:nvSpPr>
        <p:spPr>
          <a:xfrm xmlns:a="http://schemas.openxmlformats.org/drawingml/2006/main">
            <a:off x="685800" y="3333750"/>
            <a:ext cx="5048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La probabilité est-elle près de 0,5?</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Les mesures sont-elles plausibles?</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Les classes se chevauchent-elles?</a:t>
            </a:r>
          </a:p>
        </p:txBody>
      </p:sp>
      <p:sp>
        <p:nvSpPr>
          <p:cNvPr id="12" name="">
            <a:extLst xmlns:a="http://schemas.openxmlformats.org/drawingml/2006/main">
              <a:ext uri="{FF2B5EF4-FFF2-40B4-BE49-F238E27FC236}">
                <a16:creationId xmlns:a16="http://schemas.microsoft.com/office/drawing/2014/main" id="{21716905-CFEC-4635-A568-231520163B69}"/>
              </a:ext>
            </a:extLst>
          </p:cNvPr>
          <p:cNvSpPr>
            <a:spLocks xmlns:a="http://schemas.openxmlformats.org/drawingml/2006/main" noGrp="1"/>
          </p:cNvSpPr>
          <p:nvPr/>
        </p:nvSpPr>
        <p:spPr>
          <a:xfrm xmlns:a="http://schemas.openxmlformats.org/drawingml/2006/main">
            <a:off x="6477000" y="27146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250" b="1">
                <a:solidFill>
                  <a:srgbClr val="0D827B"/>
                </a:solidFill>
                <a:latin typeface="Helvetica Neue"/>
                <a:ea typeface="Helvetica Neue"/>
                <a:cs typeface="Helvetica Neue"/>
              </a:defRPr>
            </a:pPr>
            <a:r>
              <a:rPr sz="2250" b="1">
                <a:solidFill>
                  <a:srgbClr val="0D827B"/>
                </a:solidFill>
                <a:latin typeface="Helvetica Neue"/>
                <a:ea typeface="Helvetica Neue"/>
                <a:cs typeface="Helvetica Neue"/>
              </a:rPr>
              <a:t>L’ensemble des erreurs</a:t>
            </a:r>
          </a:p>
        </p:txBody>
      </p:sp>
      <p:sp>
        <p:nvSpPr>
          <p:cNvPr id="13" name="">
            <a:extLst xmlns:a="http://schemas.openxmlformats.org/drawingml/2006/main">
              <a:ext uri="{FF2B5EF4-FFF2-40B4-BE49-F238E27FC236}">
                <a16:creationId xmlns:a16="http://schemas.microsoft.com/office/drawing/2014/main" id="{C92275A3-F84C-4242-BA3A-9F7EE856F3FB}"/>
              </a:ext>
            </a:extLst>
          </p:cNvPr>
          <p:cNvSpPr>
            <a:spLocks xmlns:a="http://schemas.openxmlformats.org/drawingml/2006/main" noGrp="1"/>
          </p:cNvSpPr>
          <p:nvPr/>
        </p:nvSpPr>
        <p:spPr>
          <a:xfrm xmlns:a="http://schemas.openxmlformats.org/drawingml/2006/main">
            <a:off x="6477000" y="33337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Une classe échoue-t-elle davantage?</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Une autre mesure serait-elle utile?</a:t>
            </a:r>
          </a:p>
          <a:p xmlns:a="http://schemas.openxmlformats.org/drawingml/2006/main">
            <a:r>
              <a:t/>
            </a:r>
          </a:p>
          <a:p xmlns:a="http://schemas.openxmlformats.org/drawingml/2006/main">
            <a:pPr>
              <a:buNone/>
              <a:defRPr sz="2175" b="0">
                <a:solidFill>
                  <a:srgbClr val="17343A"/>
                </a:solidFill>
                <a:latin typeface="Helvetica Neue"/>
                <a:ea typeface="Helvetica Neue"/>
                <a:cs typeface="Helvetica Neue"/>
              </a:defRPr>
            </a:pPr>
            <a:r>
              <a:rPr sz="2175" b="0">
                <a:solidFill>
                  <a:srgbClr val="17343A"/>
                </a:solidFill>
                <a:latin typeface="Helvetica Neue"/>
                <a:ea typeface="Helvetica Neue"/>
                <a:cs typeface="Helvetica Neue"/>
              </a:rPr>
              <a:t>Les données sont-elles représentatives?</a:t>
            </a:r>
          </a:p>
        </p:txBody>
      </p:sp>
      <p:sp>
        <p:nvSpPr>
          <p:cNvPr id="14" name="">
            <a:extLst xmlns:a="http://schemas.openxmlformats.org/drawingml/2006/main">
              <a:ext uri="{FF2B5EF4-FFF2-40B4-BE49-F238E27FC236}">
                <a16:creationId xmlns:a16="http://schemas.microsoft.com/office/drawing/2014/main" id="{72DC636A-0037-48AB-8612-F26E2AEE00AF}"/>
              </a:ext>
            </a:extLst>
          </p:cNvPr>
          <p:cNvSpPr>
            <a:spLocks xmlns:a="http://schemas.openxmlformats.org/drawingml/2006/main" noGrp="1"/>
          </p:cNvSpPr>
          <p:nvPr/>
        </p:nvSpPr>
        <p:spPr>
          <a:xfrm xmlns:a="http://schemas.openxmlformats.org/drawingml/2006/main">
            <a:off x="685800" y="56578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1">
                <a:solidFill>
                  <a:srgbClr val="0D827B"/>
                </a:solidFill>
                <a:latin typeface="Helvetica Neue"/>
                <a:ea typeface="Helvetica Neue"/>
                <a:cs typeface="Helvetica Neue"/>
              </a:defRPr>
            </a:pPr>
            <a:r>
              <a:rPr sz="1950" b="1">
                <a:solidFill>
                  <a:srgbClr val="0D827B"/>
                </a:solidFill>
                <a:latin typeface="Helvetica Neue"/>
                <a:ea typeface="Helvetica Neue"/>
                <a:cs typeface="Helvetica Neue"/>
              </a:rPr>
              <a:t>Choisir les variables à partir de ces erreurs utilise la validation pour la sélection.</a:t>
            </a:r>
          </a:p>
        </p:txBody>
      </p:sp>
    </p:spTree>
    <p:extLst>
      <p:ext uri="{BB962C8B-B14F-4D97-AF65-F5344CB8AC3E}">
        <p14:creationId xmlns:p14="http://schemas.microsoft.com/office/powerpoint/2010/main" val="2142656369"/>
      </p:ext>
    </p:extLst>
  </p:cSld>
</p:sld>
</file>

<file path=ppt/slides/slide35.xml><?xml version="1.0" encoding="utf-8"?>
<p:sld xmlns:p="http://schemas.openxmlformats.org/presentationml/2006/main">
  <p:cSld>
    <p:bg>
      <p:bgPr>
        <a:solidFill xmlns:a="http://schemas.openxmlformats.org/drawingml/2006/main">
          <a:srgbClr val="FA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6BCA2B-0809-4BDD-824A-48BB287457F7}"/>
              </a:ext>
            </a:extLst>
          </p:cNvPr>
          <p:cNvSpPr>
            <a:spLocks xmlns:a="http://schemas.openxmlformats.org/drawingml/2006/main" noGrp="1"/>
          </p:cNvSpPr>
          <p:nvPr/>
        </p:nvSpPr>
        <p:spPr>
          <a:xfrm xmlns:a="http://schemas.openxmlformats.org/drawingml/2006/main">
            <a:off x="685800" y="47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63238"/>
                </a:solidFill>
                <a:latin typeface="Helvetica Neue"/>
                <a:ea typeface="Helvetica Neue"/>
                <a:cs typeface="Helvetica Neue"/>
              </a:defRPr>
            </a:pPr>
            <a:r>
              <a:rPr sz="3450" b="1">
                <a:solidFill>
                  <a:srgbClr val="163238"/>
                </a:solidFill>
                <a:latin typeface="Helvetica Neue"/>
                <a:ea typeface="Helvetica Neue"/>
                <a:cs typeface="Helvetica Neue"/>
              </a:rPr>
              <a:t>Annexe : uv avec un fichier requirements</a:t>
            </a:r>
          </a:p>
        </p:txBody>
      </p:sp>
      <p:sp>
        <p:nvSpPr>
          <p:cNvPr id="2" name="">
            <a:extLst xmlns:a="http://schemas.openxmlformats.org/drawingml/2006/main">
              <a:ext uri="{FF2B5EF4-FFF2-40B4-BE49-F238E27FC236}">
                <a16:creationId xmlns:a16="http://schemas.microsoft.com/office/drawing/2014/main" id="{F0FC53DF-8C1F-47F3-BA7C-685E7EABA1E5}"/>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68"/>
                </a:solidFill>
                <a:latin typeface="Helvetica Neue"/>
                <a:ea typeface="Helvetica Neue"/>
                <a:cs typeface="Helvetica Neue"/>
              </a:defRPr>
            </a:pPr>
            <a:r>
              <a:rPr sz="1500" b="0">
                <a:solidFill>
                  <a:srgbClr val="536568"/>
                </a:solidFill>
                <a:latin typeface="Helvetica Neue"/>
                <a:ea typeface="Helvetica Neue"/>
                <a:cs typeface="Helvetica Neue"/>
              </a:rPr>
              <a:t>35</a:t>
            </a:r>
          </a:p>
        </p:txBody>
      </p:sp>
      <p:sp>
        <p:nvSpPr>
          <p:cNvPr id="3" name="">
            <a:extLst xmlns:a="http://schemas.openxmlformats.org/drawingml/2006/main">
              <a:ext uri="{FF2B5EF4-FFF2-40B4-BE49-F238E27FC236}">
                <a16:creationId xmlns:a16="http://schemas.microsoft.com/office/drawing/2014/main" id="{83A11582-3EB7-40E7-8970-709F84CBCD4A}"/>
              </a:ext>
            </a:extLst>
          </p:cNvPr>
          <p:cNvSpPr>
            <a:spLocks xmlns:a="http://schemas.openxmlformats.org/drawingml/2006/main" noGrp="1"/>
          </p:cNvSpPr>
          <p:nvPr/>
        </p:nvSpPr>
        <p:spPr>
          <a:xfrm xmlns:a="http://schemas.openxmlformats.org/drawingml/2006/main">
            <a:off x="685800" y="6153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47C72"/>
                </a:solidFill>
                <a:latin typeface="Helvetica Neue"/>
                <a:ea typeface="Helvetica Neue"/>
                <a:cs typeface="Helvetica Neue"/>
              </a:defRPr>
            </a:pPr>
            <a:r>
              <a:rPr sz="1725" b="0">
                <a:solidFill>
                  <a:srgbClr val="147C72"/>
                </a:solidFill>
                <a:latin typeface="Helvetica Neue"/>
                <a:ea typeface="Helvetica Neue"/>
                <a:cs typeface="Helvetica Neue"/>
              </a:rPr>
              <a:t>Référence facultative · Une méthode distincte</a:t>
            </a:r>
          </a:p>
        </p:txBody>
      </p:sp>
      <p:sp>
        <p:nvSpPr>
          <p:cNvPr id="4" name="">
            <a:extLst xmlns:a="http://schemas.openxmlformats.org/drawingml/2006/main">
              <a:ext uri="{FF2B5EF4-FFF2-40B4-BE49-F238E27FC236}">
                <a16:creationId xmlns:a16="http://schemas.microsoft.com/office/drawing/2014/main" id="{DBDEB361-2141-4C4B-8964-5CF2D692A891}"/>
              </a:ext>
            </a:extLst>
          </p:cNvPr>
          <p:cNvSpPr>
            <a:spLocks xmlns:a="http://schemas.openxmlformats.org/drawingml/2006/main" noGrp="1"/>
          </p:cNvSpPr>
          <p:nvPr/>
        </p:nvSpPr>
        <p:spPr>
          <a:xfrm xmlns:a="http://schemas.openxmlformats.org/drawingml/2006/main">
            <a:off x="685800" y="1866900"/>
            <a:ext cx="10763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venv --python 3</a:t>
            </a:r>
          </a:p>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pip install numpy pandas</a:t>
            </a:r>
          </a:p>
          <a:p xmlns:a="http://schemas.openxmlformats.org/drawingml/2006/main">
            <a:pPr>
              <a:buNone/>
              <a:defRPr sz="2250" b="0">
                <a:solidFill>
                  <a:srgbClr val="163238"/>
                </a:solidFill>
                <a:latin typeface="Menlo"/>
                <a:ea typeface="Menlo"/>
                <a:cs typeface="Menlo"/>
              </a:defRPr>
            </a:pPr>
            <a:r>
              <a:rPr sz="2250" b="0">
                <a:solidFill>
                  <a:srgbClr val="163238"/>
                </a:solidFill>
                <a:latin typeface="Menlo"/>
                <a:ea typeface="Menlo"/>
                <a:cs typeface="Menlo"/>
              </a:rPr>
              <a:t>uv pip freeze &gt; requirements.txt</a:t>
            </a:r>
          </a:p>
        </p:txBody>
      </p:sp>
      <p:sp>
        <p:nvSpPr>
          <p:cNvPr id="5" name="">
            <a:extLst xmlns:a="http://schemas.openxmlformats.org/drawingml/2006/main">
              <a:ext uri="{FF2B5EF4-FFF2-40B4-BE49-F238E27FC236}">
                <a16:creationId xmlns:a16="http://schemas.microsoft.com/office/drawing/2014/main" id="{770CF08B-8DED-4C37-AEA5-80A9A93E65E4}"/>
              </a:ext>
            </a:extLst>
          </p:cNvPr>
          <p:cNvSpPr>
            <a:spLocks xmlns:a="http://schemas.openxmlformats.org/drawingml/2006/main" noGrp="1"/>
          </p:cNvSpPr>
          <p:nvPr/>
        </p:nvSpPr>
        <p:spPr>
          <a:xfrm xmlns:a="http://schemas.openxmlformats.org/drawingml/2006/main">
            <a:off x="685800" y="44005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Crée .venv et un relevé explicite des versions installées.</a:t>
            </a:r>
          </a:p>
        </p:txBody>
      </p:sp>
      <p:sp>
        <p:nvSpPr>
          <p:cNvPr id="6" name="">
            <a:extLst xmlns:a="http://schemas.openxmlformats.org/drawingml/2006/main">
              <a:ext uri="{FF2B5EF4-FFF2-40B4-BE49-F238E27FC236}">
                <a16:creationId xmlns:a16="http://schemas.microsoft.com/office/drawing/2014/main" id="{078F90C5-AAAF-4139-A861-59985103F920}"/>
              </a:ext>
            </a:extLst>
          </p:cNvPr>
          <p:cNvSpPr>
            <a:spLocks xmlns:a="http://schemas.openxmlformats.org/drawingml/2006/main" noGrp="1"/>
          </p:cNvSpPr>
          <p:nvPr/>
        </p:nvSpPr>
        <p:spPr>
          <a:xfrm xmlns:a="http://schemas.openxmlformats.org/drawingml/2006/main">
            <a:off x="685800" y="5267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63238"/>
                </a:solidFill>
                <a:latin typeface="Helvetica Neue"/>
                <a:ea typeface="Helvetica Neue"/>
                <a:cs typeface="Helvetica Neue"/>
              </a:defRPr>
            </a:pPr>
            <a:r>
              <a:rPr sz="2250" b="0">
                <a:solidFill>
                  <a:srgbClr val="163238"/>
                </a:solidFill>
                <a:latin typeface="Helvetica Neue"/>
                <a:ea typeface="Helvetica Neue"/>
                <a:cs typeface="Helvetica Neue"/>
              </a:rPr>
              <a:t>Ces commandes ne créent ni pyproject.toml ni uv.lock.</a:t>
            </a:r>
          </a:p>
        </p:txBody>
      </p:sp>
    </p:spTree>
    <p:extLst>
      <p:ext uri="{BB962C8B-B14F-4D97-AF65-F5344CB8AC3E}">
        <p14:creationId xmlns:p14="http://schemas.microsoft.com/office/powerpoint/2010/main" val="1679821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2026-09-14T18:32:14.3320000Z</dcterms:created>
  <dcterms:modified xsi:type="dcterms:W3CDTF">2026-09-14T18:32:14.3320000Z</dcterms:modified>
</coreProperties>
</file>