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embeddedFontLst>
    <p:embeddedFont>
      <p:font typeface="Old Standard TT"/>
      <p:regular r:id="rId37"/>
      <p:bold r:id="rId38"/>
      <p: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OldStandardTT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OldStandardTT-italic.fntdata"/><Relationship Id="rId16" Type="http://schemas.openxmlformats.org/officeDocument/2006/relationships/slide" Target="slides/slide12.xml"/><Relationship Id="rId38" Type="http://schemas.openxmlformats.org/officeDocument/2006/relationships/font" Target="fonts/OldStandardTT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repo on github, show the license and clone it.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AUTOLAYOUT_1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3"/>
            <a:ext cx="91440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ctrTitle"/>
          </p:nvPr>
        </p:nvSpPr>
        <p:spPr>
          <a:xfrm>
            <a:off x="3868225" y="1416600"/>
            <a:ext cx="44826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AUTOLAYOUT_7">
    <p:bg>
      <p:bgPr>
        <a:solidFill>
          <a:srgbClr val="37474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0"/>
            <a:ext cx="4568400" cy="5143500"/>
          </a:xfrm>
          <a:prstGeom prst="rect">
            <a:avLst/>
          </a:pr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6795047" y="584570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6795047" y="4415195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5"/>
          <p:cNvCxnSpPr/>
          <p:nvPr/>
        </p:nvCxnSpPr>
        <p:spPr>
          <a:xfrm>
            <a:off x="4895600" y="656926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5"/>
          <p:cNvCxnSpPr/>
          <p:nvPr/>
        </p:nvCxnSpPr>
        <p:spPr>
          <a:xfrm>
            <a:off x="4895600" y="4487700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AUTOLAYOUT_16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0" y="0"/>
            <a:ext cx="4583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3750" y="554850"/>
            <a:ext cx="3855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947374" y="554850"/>
            <a:ext cx="3855900" cy="4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AUTOLAYOUT_1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2530550" y="1194000"/>
            <a:ext cx="6303300" cy="113400"/>
          </a:xfrm>
          <a:prstGeom prst="rect">
            <a:avLst/>
          </a:prstGeom>
          <a:solidFill>
            <a:srgbClr val="FFFFFF">
              <a:alpha val="3725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307875" y="1194000"/>
            <a:ext cx="2024100" cy="1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07875" y="1444550"/>
            <a:ext cx="2024100" cy="29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2530550" y="1444550"/>
            <a:ext cx="63033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AUTOLAYOUT_9">
    <p:bg>
      <p:bgPr>
        <a:solidFill>
          <a:srgbClr val="37474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0" y="0"/>
            <a:ext cx="4568400" cy="5143500"/>
          </a:xfrm>
          <a:prstGeom prst="rect">
            <a:avLst/>
          </a:pr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795047" y="584570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795047" y="4415195"/>
            <a:ext cx="143700" cy="1437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8"/>
          <p:cNvCxnSpPr/>
          <p:nvPr/>
        </p:nvCxnSpPr>
        <p:spPr>
          <a:xfrm>
            <a:off x="4895600" y="656926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8"/>
          <p:cNvCxnSpPr/>
          <p:nvPr/>
        </p:nvCxnSpPr>
        <p:spPr>
          <a:xfrm>
            <a:off x="4895600" y="4487700"/>
            <a:ext cx="3942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8"/>
          <p:cNvSpPr txBox="1"/>
          <p:nvPr>
            <p:ph type="title"/>
          </p:nvPr>
        </p:nvSpPr>
        <p:spPr>
          <a:xfrm>
            <a:off x="312850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4891175" y="1069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AUTOLAYOUT_18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0" y="4665575"/>
            <a:ext cx="9144000" cy="47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349300" y="334525"/>
            <a:ext cx="7407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49300" y="1147425"/>
            <a:ext cx="7407000" cy="3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5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b="0" i="0" sz="18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Un tutoriel sur Git et Github</a:t>
            </a:r>
            <a:endParaRPr/>
          </a:p>
        </p:txBody>
      </p:sp>
      <p:sp>
        <p:nvSpPr>
          <p:cNvPr id="103" name="Google Shape;103;p19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Par Reyhane Askari et Arnaud Bergeron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250" y="1"/>
            <a:ext cx="3433749" cy="17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2262025" y="83500"/>
            <a:ext cx="37167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Table des matières: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2916275" y="1294575"/>
            <a:ext cx="5881200" cy="29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Systèmes de contrôle de version et git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Bases de Git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Gestion de succursale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Git Merge, Update et Rebase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Conflits Git et comment les résoudre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Interaction avec les référentiels distants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Cachette Git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Quelques conseils utiles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Aide-mémoire Git</a:t>
            </a:r>
            <a:endParaRPr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36475" y="407400"/>
            <a:ext cx="34353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Système de contrôle des versions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750" y="57150"/>
            <a:ext cx="3345587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5585938" y="4829375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accent1"/>
                </a:solidFill>
              </a:rPr>
              <a:t>Source : https://xkcd.com/1597/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466725" y="3462350"/>
            <a:ext cx="838200" cy="395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 txBox="1"/>
          <p:nvPr>
            <p:ph idx="4294967295" type="body"/>
          </p:nvPr>
        </p:nvSpPr>
        <p:spPr>
          <a:xfrm>
            <a:off x="322375" y="1179175"/>
            <a:ext cx="3463500" cy="3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Gérez plusieurs versions de votre code source.</a:t>
            </a:r>
            <a:endParaRPr b="1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Excellente façon de travailler en équipe où vous travaillez simultanément.</a:t>
            </a:r>
            <a:endParaRPr b="1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Faites des allers-retours entre les versions de votre code.</a:t>
            </a:r>
            <a:endParaRPr b="1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245850" y="167050"/>
            <a:ext cx="20259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Bases de Git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702625" y="1145400"/>
            <a:ext cx="41313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clone /url/to/repository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config user.name &lt;nom d'utilisateur&gt;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config user.email &lt;email&gt;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&lt;nom de fichier&gt;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statut 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diff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&lt;nom de fichier&gt; -p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distant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Mise en scène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Copie de travail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local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30" name="Google Shape;130;p22"/>
          <p:cNvCxnSpPr>
            <a:stCxn id="129" idx="1"/>
            <a:endCxn id="127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31" name="Google Shape;131;p22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2" name="Google Shape;132;p22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Commettre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Ajouter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4" name="Google Shape;134;p22"/>
          <p:cNvCxnSpPr>
            <a:stCxn id="129" idx="3"/>
            <a:endCxn id="128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5" name="Google Shape;135;p22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Vérifier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6" name="Google Shape;136;p22"/>
          <p:cNvCxnSpPr>
            <a:stCxn id="126" idx="1"/>
            <a:endCxn id="129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7" name="Google Shape;137;p22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Pousser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8" name="Google Shape;138;p22"/>
          <p:cNvCxnSpPr>
            <a:stCxn id="126" idx="3"/>
            <a:endCxn id="128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22"/>
          <p:cNvSpPr txBox="1"/>
          <p:nvPr/>
        </p:nvSpPr>
        <p:spPr>
          <a:xfrm>
            <a:off x="3127838" y="2110600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Extraire/cloner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0" name="Google Shape;140;p22"/>
          <p:cNvCxnSpPr>
            <a:stCxn id="126" idx="2"/>
            <a:endCxn id="129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22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Aller chercher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4891175" y="11454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"Message de validation"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statut 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journal 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pousser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tirer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1245850" y="167050"/>
            <a:ext cx="20259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Bases de Git</a:t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distant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Mise en scène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Copie de travail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local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52" name="Google Shape;152;p23"/>
          <p:cNvCxnSpPr>
            <a:stCxn id="151" idx="1"/>
            <a:endCxn id="149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54" name="Google Shape;154;p23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Commettre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Ajouter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6" name="Google Shape;156;p23"/>
          <p:cNvCxnSpPr>
            <a:stCxn id="151" idx="3"/>
            <a:endCxn id="150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23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Vérifier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8" name="Google Shape;158;p23"/>
          <p:cNvCxnSpPr>
            <a:stCxn id="148" idx="1"/>
            <a:endCxn id="151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59" name="Google Shape;159;p23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Pousser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0" name="Google Shape;160;p23"/>
          <p:cNvCxnSpPr>
            <a:stCxn id="148" idx="3"/>
            <a:endCxn id="150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23"/>
          <p:cNvSpPr txBox="1"/>
          <p:nvPr/>
        </p:nvSpPr>
        <p:spPr>
          <a:xfrm>
            <a:off x="3127838" y="2110600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Extraire/cloner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2" name="Google Shape;162;p23"/>
          <p:cNvCxnSpPr>
            <a:stCxn id="148" idx="2"/>
            <a:endCxn id="151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23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Aller chercher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/>
              <a:t>Le code et l'historique complets du projet s'appellent un référentiel.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/>
              <a:t>Un commit est un instantané de votre code à différentes étapes du projet.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/>
              <a:t>De plus, une branche est un pointeur vers un commit que vous pouvez modifier.</a:t>
            </a:r>
            <a:endParaRPr sz="1800"/>
          </a:p>
        </p:txBody>
      </p:sp>
      <p:sp>
        <p:nvSpPr>
          <p:cNvPr id="170" name="Google Shape;170;p24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24"/>
          <p:cNvCxnSpPr>
            <a:stCxn id="170" idx="6"/>
            <a:endCxn id="171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4" name="Google Shape;174;p24"/>
          <p:cNvCxnSpPr>
            <a:stCxn id="171" idx="6"/>
            <a:endCxn id="172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5" name="Google Shape;175;p24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24"/>
          <p:cNvCxnSpPr>
            <a:stCxn id="175" idx="2"/>
            <a:endCxn id="172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Etat initial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25"/>
          <p:cNvCxnSpPr>
            <a:stCxn id="183" idx="6"/>
            <a:endCxn id="184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7" name="Google Shape;187;p25"/>
          <p:cNvCxnSpPr>
            <a:stCxn id="184" idx="6"/>
            <a:endCxn id="185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8" name="Google Shape;188;p25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25"/>
          <p:cNvCxnSpPr>
            <a:stCxn id="188" idx="2"/>
            <a:endCxn id="185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Créez une nouvelle branche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branche git new_branch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96" name="Google Shape;196;p26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>
            <a:stCxn id="196" idx="6"/>
            <a:endCxn id="197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0" name="Google Shape;200;p26"/>
          <p:cNvCxnSpPr>
            <a:stCxn id="197" idx="6"/>
            <a:endCxn id="198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1" name="Google Shape;201;p26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26"/>
          <p:cNvCxnSpPr>
            <a:stCxn id="201" idx="2"/>
            <a:endCxn id="198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26"/>
          <p:cNvSpPr txBox="1"/>
          <p:nvPr/>
        </p:nvSpPr>
        <p:spPr>
          <a:xfrm>
            <a:off x="3333775" y="3097950"/>
            <a:ext cx="10227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nouvelle branche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26"/>
          <p:cNvCxnSpPr>
            <a:stCxn id="203" idx="0"/>
            <a:endCxn id="198" idx="4"/>
          </p:cNvCxnSpPr>
          <p:nvPr/>
        </p:nvCxnSpPr>
        <p:spPr>
          <a:xfrm flipH="1" rot="10800000">
            <a:off x="3845125" y="2676150"/>
            <a:ext cx="263400" cy="42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Créez une nouvelle branche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branche git new_branch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Déplacez-vous entre les succursales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/>
              <a:t>git checkout new_branch</a:t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27"/>
          <p:cNvCxnSpPr>
            <a:stCxn id="211" idx="6"/>
            <a:endCxn id="212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5" name="Google Shape;215;p27"/>
          <p:cNvCxnSpPr>
            <a:stCxn id="212" idx="6"/>
            <a:endCxn id="213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6" name="Google Shape;216;p27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7"/>
          <p:cNvCxnSpPr>
            <a:stCxn id="216" idx="2"/>
            <a:endCxn id="213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27"/>
          <p:cNvSpPr txBox="1"/>
          <p:nvPr/>
        </p:nvSpPr>
        <p:spPr>
          <a:xfrm>
            <a:off x="3333775" y="3097950"/>
            <a:ext cx="10227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nouvelle branche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7"/>
          <p:cNvCxnSpPr>
            <a:stCxn id="218" idx="0"/>
            <a:endCxn id="213" idx="4"/>
          </p:cNvCxnSpPr>
          <p:nvPr/>
        </p:nvCxnSpPr>
        <p:spPr>
          <a:xfrm flipH="1" rot="10800000">
            <a:off x="3845125" y="2676150"/>
            <a:ext cx="263400" cy="42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Créez une nouvelle branche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branche git new_branch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Déplacez-vous entre les succursales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git checkout new_branch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Créez une nouvelle branche et vérifiez-la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git checkout -b nouvelle_branche</a:t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28"/>
          <p:cNvCxnSpPr>
            <a:stCxn id="226" idx="6"/>
            <a:endCxn id="227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0" name="Google Shape;230;p28"/>
          <p:cNvCxnSpPr>
            <a:stCxn id="227" idx="6"/>
            <a:endCxn id="228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1" name="Google Shape;231;p28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8"/>
          <p:cNvCxnSpPr>
            <a:stCxn id="231" idx="2"/>
            <a:endCxn id="228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28"/>
          <p:cNvSpPr txBox="1"/>
          <p:nvPr/>
        </p:nvSpPr>
        <p:spPr>
          <a:xfrm>
            <a:off x="3333775" y="3097950"/>
            <a:ext cx="10227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nouvelle branche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28"/>
          <p:cNvCxnSpPr>
            <a:stCxn id="233" idx="0"/>
            <a:endCxn id="228" idx="4"/>
          </p:cNvCxnSpPr>
          <p:nvPr/>
        </p:nvCxnSpPr>
        <p:spPr>
          <a:xfrm flipH="1" rot="10800000">
            <a:off x="3845125" y="2676150"/>
            <a:ext cx="263400" cy="42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240" name="Google Shape;240;p29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Créez une nouvelle branche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branche git new_branch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Déplacez-vous entre les succursales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git checkout new_branch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Créez une nouvelle branche et vérifiez-la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git checkout -b nouvelle_branche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Supprimer une branche 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/>
              <a:t>git branch -d nouvelle_branche</a:t>
            </a:r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211708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3969813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29"/>
          <p:cNvCxnSpPr>
            <a:stCxn id="241" idx="6"/>
            <a:endCxn id="242" idx="2"/>
          </p:cNvCxnSpPr>
          <p:nvPr/>
        </p:nvCxnSpPr>
        <p:spPr>
          <a:xfrm>
            <a:off x="818638" y="2537400"/>
            <a:ext cx="129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5" name="Google Shape;245;p29"/>
          <p:cNvCxnSpPr>
            <a:stCxn id="242" idx="6"/>
            <a:endCxn id="243" idx="2"/>
          </p:cNvCxnSpPr>
          <p:nvPr/>
        </p:nvCxnSpPr>
        <p:spPr>
          <a:xfrm>
            <a:off x="2394288" y="2537400"/>
            <a:ext cx="1575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6" name="Google Shape;246;p29"/>
          <p:cNvSpPr txBox="1"/>
          <p:nvPr/>
        </p:nvSpPr>
        <p:spPr>
          <a:xfrm>
            <a:off x="3570825" y="17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9"/>
          <p:cNvCxnSpPr>
            <a:stCxn id="246" idx="2"/>
            <a:endCxn id="243" idx="0"/>
          </p:cNvCxnSpPr>
          <p:nvPr/>
        </p:nvCxnSpPr>
        <p:spPr>
          <a:xfrm>
            <a:off x="3908925" y="1952000"/>
            <a:ext cx="199500" cy="44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4947375" y="2190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30"/>
          <p:cNvCxnSpPr>
            <a:stCxn id="254" idx="6"/>
            <a:endCxn id="255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8" name="Google Shape;258;p30"/>
          <p:cNvCxnSpPr>
            <a:stCxn id="255" idx="6"/>
            <a:endCxn id="256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9" name="Google Shape;259;p30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30"/>
          <p:cNvCxnSpPr>
            <a:stCxn id="259" idx="2"/>
            <a:endCxn id="256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30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30"/>
          <p:cNvCxnSpPr>
            <a:stCxn id="261" idx="0"/>
            <a:endCxn id="256" idx="4"/>
          </p:cNvCxnSpPr>
          <p:nvPr/>
        </p:nvCxnSpPr>
        <p:spPr>
          <a:xfrm flipH="1" rot="10800000">
            <a:off x="1816875" y="2676000"/>
            <a:ext cx="3285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Ajouter du code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"Fonctionnalité sympa"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31"/>
          <p:cNvCxnSpPr>
            <a:stCxn id="269" idx="6"/>
            <a:endCxn id="270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3" name="Google Shape;273;p31"/>
          <p:cNvCxnSpPr>
            <a:stCxn id="270" idx="6"/>
            <a:endCxn id="271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4" name="Google Shape;274;p31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31"/>
          <p:cNvCxnSpPr>
            <a:stCxn id="274" idx="2"/>
            <a:endCxn id="271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31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31"/>
          <p:cNvCxnSpPr>
            <a:stCxn id="276" idx="0"/>
            <a:endCxn id="278" idx="4"/>
          </p:cNvCxnSpPr>
          <p:nvPr/>
        </p:nvCxnSpPr>
        <p:spPr>
          <a:xfrm flipH="1" rot="10800000">
            <a:off x="1816875" y="2676000"/>
            <a:ext cx="10614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31"/>
          <p:cNvSpPr/>
          <p:nvPr/>
        </p:nvSpPr>
        <p:spPr>
          <a:xfrm>
            <a:off x="2739550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1"/>
          <p:cNvCxnSpPr>
            <a:stCxn id="271" idx="6"/>
            <a:endCxn id="278" idx="2"/>
          </p:cNvCxnSpPr>
          <p:nvPr/>
        </p:nvCxnSpPr>
        <p:spPr>
          <a:xfrm>
            <a:off x="22840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285" name="Google Shape;285;p32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Ajouter du code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"Fonctionnalité sympa"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maître de caisse 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32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32"/>
          <p:cNvCxnSpPr>
            <a:stCxn id="286" idx="6"/>
            <a:endCxn id="287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0" name="Google Shape;290;p32"/>
          <p:cNvCxnSpPr>
            <a:stCxn id="287" idx="6"/>
            <a:endCxn id="288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1" name="Google Shape;291;p32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32"/>
          <p:cNvCxnSpPr>
            <a:stCxn id="291" idx="2"/>
            <a:endCxn id="288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32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32"/>
          <p:cNvCxnSpPr>
            <a:stCxn id="293" idx="0"/>
            <a:endCxn id="295" idx="4"/>
          </p:cNvCxnSpPr>
          <p:nvPr/>
        </p:nvCxnSpPr>
        <p:spPr>
          <a:xfrm flipH="1" rot="10800000">
            <a:off x="1816875" y="2676000"/>
            <a:ext cx="10614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" name="Google Shape;295;p32"/>
          <p:cNvSpPr/>
          <p:nvPr/>
        </p:nvSpPr>
        <p:spPr>
          <a:xfrm>
            <a:off x="2739550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32"/>
          <p:cNvCxnSpPr>
            <a:stCxn id="288" idx="6"/>
            <a:endCxn id="295" idx="2"/>
          </p:cNvCxnSpPr>
          <p:nvPr/>
        </p:nvCxnSpPr>
        <p:spPr>
          <a:xfrm>
            <a:off x="22840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302" name="Google Shape;302;p33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Ajouter du code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"Fonctionnalité sympa"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maître de caisse 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feature_2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33"/>
          <p:cNvCxnSpPr>
            <a:stCxn id="303" idx="6"/>
            <a:endCxn id="304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33"/>
          <p:cNvCxnSpPr>
            <a:stCxn id="304" idx="6"/>
            <a:endCxn id="305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8" name="Google Shape;308;p33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33"/>
          <p:cNvCxnSpPr>
            <a:stCxn id="308" idx="2"/>
            <a:endCxn id="305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33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33"/>
          <p:cNvCxnSpPr>
            <a:stCxn id="310" idx="0"/>
            <a:endCxn id="312" idx="4"/>
          </p:cNvCxnSpPr>
          <p:nvPr/>
        </p:nvCxnSpPr>
        <p:spPr>
          <a:xfrm flipH="1" rot="10800000">
            <a:off x="1816875" y="2676000"/>
            <a:ext cx="10614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33"/>
          <p:cNvSpPr/>
          <p:nvPr/>
        </p:nvSpPr>
        <p:spPr>
          <a:xfrm>
            <a:off x="2739550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33"/>
          <p:cNvCxnSpPr>
            <a:stCxn id="305" idx="6"/>
            <a:endCxn id="312" idx="2"/>
          </p:cNvCxnSpPr>
          <p:nvPr/>
        </p:nvCxnSpPr>
        <p:spPr>
          <a:xfrm>
            <a:off x="22840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4" name="Google Shape;314;p33"/>
          <p:cNvSpPr txBox="1"/>
          <p:nvPr/>
        </p:nvSpPr>
        <p:spPr>
          <a:xfrm>
            <a:off x="2475250" y="1730700"/>
            <a:ext cx="8058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feature_2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33"/>
          <p:cNvCxnSpPr>
            <a:stCxn id="314" idx="2"/>
            <a:endCxn id="305" idx="0"/>
          </p:cNvCxnSpPr>
          <p:nvPr/>
        </p:nvCxnSpPr>
        <p:spPr>
          <a:xfrm flipH="1">
            <a:off x="2145550" y="1961100"/>
            <a:ext cx="732600" cy="43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Gestion de succursale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cool_feature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Ajouter du code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"Fonctionnalité sympa"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maître de caisse git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checkout -b feature_2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Ajouter un peu plus de code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commit -m "Deuxième fonctionnalité"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34"/>
          <p:cNvCxnSpPr>
            <a:stCxn id="322" idx="6"/>
            <a:endCxn id="323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6" name="Google Shape;326;p34"/>
          <p:cNvCxnSpPr>
            <a:stCxn id="323" idx="6"/>
            <a:endCxn id="324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7" name="Google Shape;327;p34"/>
          <p:cNvSpPr txBox="1"/>
          <p:nvPr/>
        </p:nvSpPr>
        <p:spPr>
          <a:xfrm>
            <a:off x="1675350" y="18216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34"/>
          <p:cNvCxnSpPr>
            <a:stCxn id="327" idx="2"/>
            <a:endCxn id="324" idx="0"/>
          </p:cNvCxnSpPr>
          <p:nvPr/>
        </p:nvCxnSpPr>
        <p:spPr>
          <a:xfrm>
            <a:off x="2013450" y="2052000"/>
            <a:ext cx="132000" cy="3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34"/>
          <p:cNvSpPr txBox="1"/>
          <p:nvPr/>
        </p:nvSpPr>
        <p:spPr>
          <a:xfrm>
            <a:off x="1304925" y="302280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34"/>
          <p:cNvCxnSpPr>
            <a:stCxn id="329" idx="0"/>
            <a:endCxn id="331" idx="4"/>
          </p:cNvCxnSpPr>
          <p:nvPr/>
        </p:nvCxnSpPr>
        <p:spPr>
          <a:xfrm flipH="1" rot="10800000">
            <a:off x="1816875" y="2953200"/>
            <a:ext cx="1037400" cy="6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34"/>
          <p:cNvSpPr/>
          <p:nvPr/>
        </p:nvSpPr>
        <p:spPr>
          <a:xfrm>
            <a:off x="2715725" y="26760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34"/>
          <p:cNvCxnSpPr>
            <a:stCxn id="324" idx="6"/>
            <a:endCxn id="331" idx="2"/>
          </p:cNvCxnSpPr>
          <p:nvPr/>
        </p:nvCxnSpPr>
        <p:spPr>
          <a:xfrm>
            <a:off x="2284038" y="2537400"/>
            <a:ext cx="431700" cy="277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3" name="Google Shape;333;p34"/>
          <p:cNvSpPr txBox="1"/>
          <p:nvPr/>
        </p:nvSpPr>
        <p:spPr>
          <a:xfrm>
            <a:off x="2475250" y="1730700"/>
            <a:ext cx="8058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feature_2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34"/>
          <p:cNvCxnSpPr>
            <a:stCxn id="333" idx="2"/>
            <a:endCxn id="335" idx="0"/>
          </p:cNvCxnSpPr>
          <p:nvPr/>
        </p:nvCxnSpPr>
        <p:spPr>
          <a:xfrm flipH="1">
            <a:off x="2854450" y="1961100"/>
            <a:ext cx="23700" cy="160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34"/>
          <p:cNvSpPr/>
          <p:nvPr/>
        </p:nvSpPr>
        <p:spPr>
          <a:xfrm>
            <a:off x="2715725" y="21216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34"/>
          <p:cNvCxnSpPr>
            <a:stCxn id="324" idx="6"/>
            <a:endCxn id="335" idx="2"/>
          </p:cNvCxnSpPr>
          <p:nvPr/>
        </p:nvCxnSpPr>
        <p:spPr>
          <a:xfrm flipH="1" rot="10800000">
            <a:off x="2284038" y="2260200"/>
            <a:ext cx="431700" cy="277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Fusionner</a:t>
            </a:r>
            <a:endParaRPr/>
          </a:p>
        </p:txBody>
      </p:sp>
      <p:sp>
        <p:nvSpPr>
          <p:cNvPr id="342" name="Google Shape;342;p35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Vous venez d'apporter des modifications, mais quelqu'un d'autre l'a fait également. Que faire?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5"/>
          <p:cNvCxnSpPr>
            <a:stCxn id="343" idx="6"/>
            <a:endCxn id="344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7" name="Google Shape;347;p35"/>
          <p:cNvCxnSpPr>
            <a:stCxn id="344" idx="6"/>
            <a:endCxn id="345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8" name="Google Shape;348;p35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5"/>
          <p:cNvCxnSpPr>
            <a:stCxn id="348" idx="2"/>
            <a:endCxn id="350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35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35"/>
          <p:cNvCxnSpPr>
            <a:stCxn id="351" idx="0"/>
            <a:endCxn id="353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35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5"/>
          <p:cNvCxnSpPr>
            <a:stCxn id="345" idx="6"/>
            <a:endCxn id="353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0" name="Google Shape;350;p35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35"/>
          <p:cNvCxnSpPr>
            <a:stCxn id="345" idx="6"/>
            <a:endCxn id="350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Fusionner</a:t>
            </a:r>
            <a:endParaRPr/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Vous venez d'apporter des modifications, mais quelqu'un d'autre l'a fait également. Que faire?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maître de fusion git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36"/>
          <p:cNvCxnSpPr>
            <a:stCxn id="362" idx="6"/>
            <a:endCxn id="363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6" name="Google Shape;366;p36"/>
          <p:cNvCxnSpPr>
            <a:stCxn id="363" idx="6"/>
            <a:endCxn id="364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7" name="Google Shape;367;p36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36"/>
          <p:cNvCxnSpPr>
            <a:stCxn id="367" idx="2"/>
            <a:endCxn id="369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36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36"/>
          <p:cNvCxnSpPr>
            <a:stCxn id="370" idx="0"/>
            <a:endCxn id="372" idx="4"/>
          </p:cNvCxnSpPr>
          <p:nvPr/>
        </p:nvCxnSpPr>
        <p:spPr>
          <a:xfrm flipH="1" rot="10800000">
            <a:off x="2840825" y="3276750"/>
            <a:ext cx="6801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36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36"/>
          <p:cNvCxnSpPr>
            <a:stCxn id="364" idx="6"/>
            <a:endCxn id="373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9" name="Google Shape;369;p36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36"/>
          <p:cNvCxnSpPr>
            <a:stCxn id="364" idx="6"/>
            <a:endCxn id="369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2" name="Google Shape;372;p36"/>
          <p:cNvSpPr/>
          <p:nvPr/>
        </p:nvSpPr>
        <p:spPr>
          <a:xfrm>
            <a:off x="3382450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36"/>
          <p:cNvCxnSpPr>
            <a:stCxn id="373" idx="6"/>
            <a:endCxn id="372" idx="2"/>
          </p:cNvCxnSpPr>
          <p:nvPr/>
        </p:nvCxnSpPr>
        <p:spPr>
          <a:xfrm>
            <a:off x="3050075" y="3138000"/>
            <a:ext cx="332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7" name="Google Shape;377;p36"/>
          <p:cNvCxnSpPr>
            <a:stCxn id="369" idx="6"/>
            <a:endCxn id="372" idx="0"/>
          </p:cNvCxnSpPr>
          <p:nvPr/>
        </p:nvCxnSpPr>
        <p:spPr>
          <a:xfrm>
            <a:off x="3092925" y="2537400"/>
            <a:ext cx="428100" cy="462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Fusionner</a:t>
            </a:r>
            <a:endParaRPr/>
          </a:p>
        </p:txBody>
      </p:sp>
      <p:sp>
        <p:nvSpPr>
          <p:cNvPr id="383" name="Google Shape;383;p37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Vous venez d'apporter des modifications, mais quelqu'un d'autre l'a fait également. Que faire?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maître de caisse git</a:t>
            </a:r>
            <a:endParaRPr/>
          </a:p>
        </p:txBody>
      </p:sp>
      <p:sp>
        <p:nvSpPr>
          <p:cNvPr id="384" name="Google Shape;384;p37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37"/>
          <p:cNvCxnSpPr>
            <a:stCxn id="384" idx="6"/>
            <a:endCxn id="385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88" name="Google Shape;388;p37"/>
          <p:cNvCxnSpPr>
            <a:stCxn id="385" idx="6"/>
            <a:endCxn id="386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9" name="Google Shape;389;p37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37"/>
          <p:cNvCxnSpPr>
            <a:stCxn id="389" idx="2"/>
            <a:endCxn id="391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" name="Google Shape;392;p37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7"/>
          <p:cNvCxnSpPr>
            <a:stCxn id="392" idx="0"/>
            <a:endCxn id="394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37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37"/>
          <p:cNvCxnSpPr>
            <a:stCxn id="386" idx="6"/>
            <a:endCxn id="394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1" name="Google Shape;391;p37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37"/>
          <p:cNvCxnSpPr>
            <a:stCxn id="386" idx="6"/>
            <a:endCxn id="391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Fusionner</a:t>
            </a:r>
            <a:endParaRPr/>
          </a:p>
        </p:txBody>
      </p:sp>
      <p:sp>
        <p:nvSpPr>
          <p:cNvPr id="402" name="Google Shape;402;p38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Vous venez d'apporter des modifications, mais quelqu'un d'autre l'a fait également. Que faire?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maître de caisse git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git fusionner cool_feature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03" name="Google Shape;403;p38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38"/>
          <p:cNvCxnSpPr>
            <a:stCxn id="403" idx="6"/>
            <a:endCxn id="404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7" name="Google Shape;407;p38"/>
          <p:cNvCxnSpPr>
            <a:stCxn id="404" idx="6"/>
            <a:endCxn id="405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8" name="Google Shape;408;p38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38"/>
          <p:cNvCxnSpPr>
            <a:stCxn id="408" idx="2"/>
            <a:endCxn id="410" idx="0"/>
          </p:cNvCxnSpPr>
          <p:nvPr/>
        </p:nvCxnSpPr>
        <p:spPr>
          <a:xfrm>
            <a:off x="2689725" y="1891800"/>
            <a:ext cx="1045500" cy="50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38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38"/>
          <p:cNvCxnSpPr>
            <a:stCxn id="411" idx="0"/>
            <a:endCxn id="413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3" name="Google Shape;413;p38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8"/>
          <p:cNvCxnSpPr>
            <a:stCxn id="405" idx="6"/>
            <a:endCxn id="413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5" name="Google Shape;415;p38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38"/>
          <p:cNvCxnSpPr>
            <a:stCxn id="405" idx="6"/>
            <a:endCxn id="415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0" name="Google Shape;410;p38"/>
          <p:cNvSpPr/>
          <p:nvPr/>
        </p:nvSpPr>
        <p:spPr>
          <a:xfrm>
            <a:off x="35966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38"/>
          <p:cNvCxnSpPr>
            <a:stCxn id="413" idx="6"/>
            <a:endCxn id="410" idx="4"/>
          </p:cNvCxnSpPr>
          <p:nvPr/>
        </p:nvCxnSpPr>
        <p:spPr>
          <a:xfrm flipH="1" rot="10800000">
            <a:off x="3050075" y="2676000"/>
            <a:ext cx="685200" cy="462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8" name="Google Shape;418;p38"/>
          <p:cNvCxnSpPr>
            <a:stCxn id="415" idx="6"/>
            <a:endCxn id="410" idx="2"/>
          </p:cNvCxnSpPr>
          <p:nvPr/>
        </p:nvCxnSpPr>
        <p:spPr>
          <a:xfrm>
            <a:off x="3092925" y="2537400"/>
            <a:ext cx="5037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Rebase</a:t>
            </a:r>
            <a:endParaRPr/>
          </a:p>
        </p:txBody>
      </p:sp>
      <p:sp>
        <p:nvSpPr>
          <p:cNvPr id="424" name="Google Shape;424;p39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Vous venez d'apporter des modifications, mais quelqu'un d'autre l'a fait également. Que faire?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25" name="Google Shape;425;p39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39"/>
          <p:cNvCxnSpPr>
            <a:stCxn id="425" idx="6"/>
            <a:endCxn id="426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9" name="Google Shape;429;p39"/>
          <p:cNvCxnSpPr>
            <a:stCxn id="426" idx="6"/>
            <a:endCxn id="427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0" name="Google Shape;430;p39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39"/>
          <p:cNvCxnSpPr>
            <a:stCxn id="430" idx="2"/>
            <a:endCxn id="432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3" name="Google Shape;433;p39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39"/>
          <p:cNvCxnSpPr>
            <a:stCxn id="433" idx="0"/>
            <a:endCxn id="435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5" name="Google Shape;435;p39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39"/>
          <p:cNvCxnSpPr>
            <a:stCxn id="427" idx="6"/>
            <a:endCxn id="435" idx="2"/>
          </p:cNvCxnSpPr>
          <p:nvPr/>
        </p:nvCxnSpPr>
        <p:spPr>
          <a:xfrm>
            <a:off x="2284038" y="2537400"/>
            <a:ext cx="488700" cy="600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2" name="Google Shape;432;p39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9"/>
          <p:cNvCxnSpPr>
            <a:stCxn id="427" idx="6"/>
            <a:endCxn id="432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title"/>
          </p:nvPr>
        </p:nvSpPr>
        <p:spPr>
          <a:xfrm>
            <a:off x="0" y="0"/>
            <a:ext cx="4576800" cy="101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Rebase</a:t>
            </a:r>
            <a:endParaRPr/>
          </a:p>
        </p:txBody>
      </p:sp>
      <p:sp>
        <p:nvSpPr>
          <p:cNvPr id="443" name="Google Shape;443;p40"/>
          <p:cNvSpPr txBox="1"/>
          <p:nvPr>
            <p:ph idx="1" type="body"/>
          </p:nvPr>
        </p:nvSpPr>
        <p:spPr>
          <a:xfrm>
            <a:off x="4947375" y="295275"/>
            <a:ext cx="38559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Vous venez d'apporter des modifications, mais quelqu'un d'autre l'a fait également. Que faire?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rPr lang="en"/>
              <a:t>maître de rebase git</a:t>
            </a:r>
            <a:endParaRPr/>
          </a:p>
        </p:txBody>
      </p:sp>
      <p:sp>
        <p:nvSpPr>
          <p:cNvPr id="444" name="Google Shape;444;p40"/>
          <p:cNvSpPr/>
          <p:nvPr/>
        </p:nvSpPr>
        <p:spPr>
          <a:xfrm>
            <a:off x="5414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12741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2006838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40"/>
          <p:cNvCxnSpPr>
            <a:stCxn id="444" idx="6"/>
            <a:endCxn id="445" idx="2"/>
          </p:cNvCxnSpPr>
          <p:nvPr/>
        </p:nvCxnSpPr>
        <p:spPr>
          <a:xfrm>
            <a:off x="8186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40"/>
          <p:cNvCxnSpPr>
            <a:stCxn id="445" idx="6"/>
            <a:endCxn id="446" idx="2"/>
          </p:cNvCxnSpPr>
          <p:nvPr/>
        </p:nvCxnSpPr>
        <p:spPr>
          <a:xfrm>
            <a:off x="1551338" y="2537400"/>
            <a:ext cx="4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9" name="Google Shape;449;p40"/>
          <p:cNvSpPr txBox="1"/>
          <p:nvPr/>
        </p:nvSpPr>
        <p:spPr>
          <a:xfrm>
            <a:off x="2351625" y="1661400"/>
            <a:ext cx="676200" cy="230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Maître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40"/>
          <p:cNvCxnSpPr>
            <a:stCxn id="449" idx="2"/>
            <a:endCxn id="451" idx="1"/>
          </p:cNvCxnSpPr>
          <p:nvPr/>
        </p:nvCxnSpPr>
        <p:spPr>
          <a:xfrm>
            <a:off x="2689725" y="1891800"/>
            <a:ext cx="166500" cy="54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40"/>
          <p:cNvSpPr txBox="1"/>
          <p:nvPr/>
        </p:nvSpPr>
        <p:spPr>
          <a:xfrm>
            <a:off x="2328875" y="3785550"/>
            <a:ext cx="1023900" cy="2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cool_feature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40"/>
          <p:cNvCxnSpPr>
            <a:stCxn id="452" idx="0"/>
            <a:endCxn id="454" idx="4"/>
          </p:cNvCxnSpPr>
          <p:nvPr/>
        </p:nvCxnSpPr>
        <p:spPr>
          <a:xfrm flipH="1" rot="10800000">
            <a:off x="2840825" y="3276750"/>
            <a:ext cx="70800" cy="50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4" name="Google Shape;454;p40"/>
          <p:cNvSpPr/>
          <p:nvPr/>
        </p:nvSpPr>
        <p:spPr>
          <a:xfrm>
            <a:off x="2772875" y="29994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40"/>
          <p:cNvCxnSpPr>
            <a:stCxn id="451" idx="4"/>
            <a:endCxn id="454" idx="0"/>
          </p:cNvCxnSpPr>
          <p:nvPr/>
        </p:nvCxnSpPr>
        <p:spPr>
          <a:xfrm flipH="1">
            <a:off x="2911425" y="2676000"/>
            <a:ext cx="42900" cy="323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1" name="Google Shape;451;p40"/>
          <p:cNvSpPr/>
          <p:nvPr/>
        </p:nvSpPr>
        <p:spPr>
          <a:xfrm>
            <a:off x="2815725" y="2398800"/>
            <a:ext cx="277200" cy="27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40"/>
          <p:cNvCxnSpPr>
            <a:stCxn id="446" idx="6"/>
            <a:endCxn id="451" idx="2"/>
          </p:cNvCxnSpPr>
          <p:nvPr/>
        </p:nvCxnSpPr>
        <p:spPr>
          <a:xfrm>
            <a:off x="2284038" y="2537400"/>
            <a:ext cx="531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 txBox="1"/>
          <p:nvPr>
            <p:ph idx="1" type="body"/>
          </p:nvPr>
        </p:nvSpPr>
        <p:spPr>
          <a:xfrm>
            <a:off x="413450" y="1444550"/>
            <a:ext cx="84204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Trouvez quels fichiers ont des conflits en utilisant 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statut git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2" name="Google Shape;4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325" y="2574775"/>
            <a:ext cx="67627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>
            <p:ph type="title"/>
          </p:nvPr>
        </p:nvSpPr>
        <p:spPr>
          <a:xfrm>
            <a:off x="307875" y="134675"/>
            <a:ext cx="8420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3000"/>
              <a:t>Comment résoudre les conflits Git ?</a:t>
            </a:r>
            <a:endParaRPr b="0" sz="3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>
            <p:ph idx="1" type="body"/>
          </p:nvPr>
        </p:nvSpPr>
        <p:spPr>
          <a:xfrm>
            <a:off x="413450" y="1444550"/>
            <a:ext cx="84204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Accédez à ce fichier, recherchez le conflit et choisissez la ligne que vous souhaitez conserver.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9" name="Google Shape;46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25" y="2460449"/>
            <a:ext cx="8652799" cy="1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2"/>
          <p:cNvSpPr txBox="1"/>
          <p:nvPr>
            <p:ph type="title"/>
          </p:nvPr>
        </p:nvSpPr>
        <p:spPr>
          <a:xfrm>
            <a:off x="307875" y="134675"/>
            <a:ext cx="8420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3000"/>
              <a:t>Comment résoudre les conflits Git ?</a:t>
            </a:r>
            <a:endParaRPr b="0"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3"/>
          <p:cNvSpPr txBox="1"/>
          <p:nvPr>
            <p:ph type="title"/>
          </p:nvPr>
        </p:nvSpPr>
        <p:spPr>
          <a:xfrm>
            <a:off x="307875" y="134675"/>
            <a:ext cx="84204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3000"/>
              <a:t>Comment résoudre les conflits Git ?</a:t>
            </a:r>
            <a:endParaRPr b="0" sz="3000"/>
          </a:p>
        </p:txBody>
      </p:sp>
      <p:sp>
        <p:nvSpPr>
          <p:cNvPr id="476" name="Google Shape;476;p43"/>
          <p:cNvSpPr txBox="1"/>
          <p:nvPr>
            <p:ph idx="1" type="body"/>
          </p:nvPr>
        </p:nvSpPr>
        <p:spPr>
          <a:xfrm>
            <a:off x="413450" y="1444550"/>
            <a:ext cx="8420400" cy="28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Résolvez tous les conflits et ajoutez-les 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 add path/to/files/with/conflicts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Validez ensuite vos modifications 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 commet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Continuez à rebaser ou à fusionner 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 rebase --continuer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 merge --continuer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Ou abandonnez la rebase/fusion au cas où vous voudriez arrêter d'appliquer les modifications 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 rebase --abort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 merge --abort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680100" y="176350"/>
            <a:ext cx="30732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Mise à jour Git</a:t>
            </a:r>
            <a:endParaRPr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4891175" y="14502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Récupérez les modifications d'un dépôt, mais ne les fusionnez pas :</a:t>
            </a:r>
            <a:endParaRPr>
              <a:solidFill>
                <a:schemeClr val="accent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git fetch repo/branche</a:t>
            </a:r>
            <a:endParaRPr>
              <a:solidFill>
                <a:schemeClr val="accent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Mettez à jour le dépôt local vers le commit le plus récent :</a:t>
            </a:r>
            <a:endParaRPr>
              <a:solidFill>
                <a:schemeClr val="accent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git pull dépôt/branche</a:t>
            </a:r>
            <a:endParaRPr>
              <a:solidFill>
                <a:schemeClr val="accent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83" name="Google Shape;483;p44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distant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4" name="Google Shape;484;p44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Mise en scène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5" name="Google Shape;485;p44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Copie de travail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local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487" name="Google Shape;487;p44"/>
          <p:cNvCxnSpPr>
            <a:stCxn id="486" idx="1"/>
            <a:endCxn id="484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88" name="Google Shape;488;p44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89" name="Google Shape;489;p44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Commettre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0" name="Google Shape;490;p44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Ajouter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1" name="Google Shape;491;p44"/>
          <p:cNvCxnSpPr>
            <a:stCxn id="486" idx="3"/>
            <a:endCxn id="485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44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Vérifier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3" name="Google Shape;493;p44"/>
          <p:cNvCxnSpPr>
            <a:stCxn id="483" idx="1"/>
            <a:endCxn id="486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94" name="Google Shape;494;p44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Pousser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5" name="Google Shape;495;p44"/>
          <p:cNvCxnSpPr>
            <a:stCxn id="483" idx="3"/>
            <a:endCxn id="485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6" name="Google Shape;496;p44"/>
          <p:cNvSpPr txBox="1"/>
          <p:nvPr/>
        </p:nvSpPr>
        <p:spPr>
          <a:xfrm>
            <a:off x="3184113" y="2111125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Tirer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97" name="Google Shape;497;p44"/>
          <p:cNvCxnSpPr>
            <a:stCxn id="483" idx="2"/>
            <a:endCxn id="486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8" name="Google Shape;498;p44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Aller chercher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>
            <p:ph type="title"/>
          </p:nvPr>
        </p:nvSpPr>
        <p:spPr>
          <a:xfrm>
            <a:off x="680100" y="176350"/>
            <a:ext cx="30732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Interaction avec les référentiels distants</a:t>
            </a:r>
            <a:endParaRPr/>
          </a:p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4891175" y="1221600"/>
            <a:ext cx="39426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Consultez vos dépôts distants 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       git distant -v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Ajoutez un dépôt distant 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       git remote add [nom] [url]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Envoyez les modifications d'un dépôt local à un dépôt distant 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git push repo/branche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Poussez et forcez les modifications locales sur la télécommande :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sz="1300">
                <a:solidFill>
                  <a:schemeClr val="accent1"/>
                </a:solidFill>
              </a:rPr>
              <a:t>git push -f dépôt/branche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1431250" y="12854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distant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1431250" y="32837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Mise en scène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7" name="Google Shape;507;p45"/>
          <p:cNvSpPr/>
          <p:nvPr/>
        </p:nvSpPr>
        <p:spPr>
          <a:xfrm>
            <a:off x="1444450" y="4269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Copie de travail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08" name="Google Shape;508;p45"/>
          <p:cNvSpPr/>
          <p:nvPr/>
        </p:nvSpPr>
        <p:spPr>
          <a:xfrm>
            <a:off x="1431250" y="2276050"/>
            <a:ext cx="1476300" cy="437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Référentiel local</a:t>
            </a:r>
            <a:endParaRPr b="0" i="0" sz="1400" u="none" cap="none" strike="noStrik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509" name="Google Shape;509;p45"/>
          <p:cNvCxnSpPr>
            <a:stCxn id="508" idx="1"/>
            <a:endCxn id="506" idx="1"/>
          </p:cNvCxnSpPr>
          <p:nvPr/>
        </p:nvCxnSpPr>
        <p:spPr>
          <a:xfrm>
            <a:off x="1431250" y="2494900"/>
            <a:ext cx="600" cy="10077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10" name="Google Shape;510;p45"/>
          <p:cNvCxnSpPr/>
          <p:nvPr/>
        </p:nvCxnSpPr>
        <p:spPr>
          <a:xfrm flipH="1" rot="-5400000">
            <a:off x="940300" y="4006150"/>
            <a:ext cx="1007700" cy="6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11" name="Google Shape;511;p45"/>
          <p:cNvSpPr txBox="1"/>
          <p:nvPr/>
        </p:nvSpPr>
        <p:spPr>
          <a:xfrm>
            <a:off x="292175" y="2810875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Commettre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2" name="Google Shape;512;p45"/>
          <p:cNvSpPr txBox="1"/>
          <p:nvPr/>
        </p:nvSpPr>
        <p:spPr>
          <a:xfrm>
            <a:off x="292175" y="381430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Ajouter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3" name="Google Shape;513;p45"/>
          <p:cNvCxnSpPr>
            <a:stCxn id="508" idx="3"/>
            <a:endCxn id="507" idx="3"/>
          </p:cNvCxnSpPr>
          <p:nvPr/>
        </p:nvCxnSpPr>
        <p:spPr>
          <a:xfrm>
            <a:off x="2907550" y="2494900"/>
            <a:ext cx="13200" cy="19929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4" name="Google Shape;514;p45"/>
          <p:cNvSpPr txBox="1"/>
          <p:nvPr/>
        </p:nvSpPr>
        <p:spPr>
          <a:xfrm>
            <a:off x="3202538" y="3214900"/>
            <a:ext cx="1205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Vérifier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5" name="Google Shape;515;p45"/>
          <p:cNvCxnSpPr>
            <a:stCxn id="505" idx="1"/>
            <a:endCxn id="508" idx="1"/>
          </p:cNvCxnSpPr>
          <p:nvPr/>
        </p:nvCxnSpPr>
        <p:spPr>
          <a:xfrm>
            <a:off x="1431250" y="1504300"/>
            <a:ext cx="600" cy="9906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16" name="Google Shape;516;p45"/>
          <p:cNvSpPr txBox="1"/>
          <p:nvPr/>
        </p:nvSpPr>
        <p:spPr>
          <a:xfrm>
            <a:off x="292175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Pousser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7" name="Google Shape;517;p45"/>
          <p:cNvCxnSpPr>
            <a:stCxn id="505" idx="3"/>
            <a:endCxn id="507" idx="3"/>
          </p:cNvCxnSpPr>
          <p:nvPr/>
        </p:nvCxnSpPr>
        <p:spPr>
          <a:xfrm>
            <a:off x="2907550" y="1504300"/>
            <a:ext cx="13200" cy="2983500"/>
          </a:xfrm>
          <a:prstGeom prst="curvedConnector3">
            <a:avLst>
              <a:gd fmla="val 1903977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8" name="Google Shape;518;p45"/>
          <p:cNvSpPr txBox="1"/>
          <p:nvPr/>
        </p:nvSpPr>
        <p:spPr>
          <a:xfrm>
            <a:off x="3184113" y="2111125"/>
            <a:ext cx="1354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Tirer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9" name="Google Shape;519;p45"/>
          <p:cNvCxnSpPr>
            <a:stCxn id="505" idx="2"/>
            <a:endCxn id="508" idx="0"/>
          </p:cNvCxnSpPr>
          <p:nvPr/>
        </p:nvCxnSpPr>
        <p:spPr>
          <a:xfrm flipH="1" rot="-5400000">
            <a:off x="1893250" y="1999300"/>
            <a:ext cx="5529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45"/>
          <p:cNvSpPr txBox="1"/>
          <p:nvPr/>
        </p:nvSpPr>
        <p:spPr>
          <a:xfrm>
            <a:off x="2215100" y="1807450"/>
            <a:ext cx="863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Aller chercher</a:t>
            </a:r>
            <a:endParaRPr b="0" i="0" sz="1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 txBox="1"/>
          <p:nvPr>
            <p:ph type="title"/>
          </p:nvPr>
        </p:nvSpPr>
        <p:spPr>
          <a:xfrm>
            <a:off x="0" y="-148000"/>
            <a:ext cx="9144000" cy="11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Flux de travail pour contribuer à d'autres dépôts</a:t>
            </a:r>
            <a:endParaRPr/>
          </a:p>
        </p:txBody>
      </p:sp>
      <p:sp>
        <p:nvSpPr>
          <p:cNvPr id="526" name="Google Shape;526;p46"/>
          <p:cNvSpPr txBox="1"/>
          <p:nvPr>
            <p:ph idx="1" type="body"/>
          </p:nvPr>
        </p:nvSpPr>
        <p:spPr>
          <a:xfrm>
            <a:off x="100" y="1009200"/>
            <a:ext cx="9144000" cy="36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Fourchez le dépôt pour contribuer à</a:t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Vérifiez votre dépôt fourchu</a:t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Ajouter une télécommande pointant vers le référentiel pour contribuer à</a:t>
            </a:r>
            <a:endParaRPr sz="1800"/>
          </a:p>
          <a:p>
            <a:pPr indent="-3429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Créer une demande d'extraction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/>
          <p:nvPr>
            <p:ph type="title"/>
          </p:nvPr>
        </p:nvSpPr>
        <p:spPr>
          <a:xfrm>
            <a:off x="0" y="0"/>
            <a:ext cx="9144000" cy="100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Cachette Git</a:t>
            </a:r>
            <a:endParaRPr/>
          </a:p>
        </p:txBody>
      </p:sp>
      <p:sp>
        <p:nvSpPr>
          <p:cNvPr id="532" name="Google Shape;532;p47"/>
          <p:cNvSpPr txBox="1"/>
          <p:nvPr>
            <p:ph idx="1" type="body"/>
          </p:nvPr>
        </p:nvSpPr>
        <p:spPr>
          <a:xfrm>
            <a:off x="100" y="1009200"/>
            <a:ext cx="9144000" cy="36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Si vous avez des fichiers non préparés et que vous souhaitez effectuer le paiement vers une autre branche, vous devez enregistrer vos modifications :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 git cachette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Pour récupérer les modifications enregistrées sur cette branche :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 git cachette pop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Vous pouvez voir la liste de cache actuelle :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/>
              <a:t> liste de cachette git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/>
          <p:nvPr>
            <p:ph type="title"/>
          </p:nvPr>
        </p:nvSpPr>
        <p:spPr>
          <a:xfrm>
            <a:off x="311700" y="1091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Quelques conseils utiles</a:t>
            </a:r>
            <a:endParaRPr/>
          </a:p>
        </p:txBody>
      </p:sp>
      <p:sp>
        <p:nvSpPr>
          <p:cNvPr id="538" name="Google Shape;538;p48"/>
          <p:cNvSpPr txBox="1"/>
          <p:nvPr>
            <p:ph idx="1" type="body"/>
          </p:nvPr>
        </p:nvSpPr>
        <p:spPr>
          <a:xfrm>
            <a:off x="311700" y="758725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Ne vous engagez jamais sur le maître, créez toujours une nouvelle branche en premier.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Rendez les messages de validation informatifs, pas comme : "nouveaux changements", donnez une courte description comme : "changement de make_node() pour être plus lisible"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Avant de commencer à implémenter une nouvelle fonctionnalité, récupérez et récupérez toujours les modifications dans la branche distante, souvent appelée branche en amont.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Si vous souhaitez annuler les modifications locales non validées, utilisez :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git reset --hard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Si vous souhaitez accéder à un commit spécifique :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git checkout {sha1-code}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Sélectionnez un commit et appliquez-le à la branche active :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0000"/>
                </a:solidFill>
              </a:rPr>
              <a:t>    git cherry-pick {sha1-code}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t-cheat-sheet-large01.png" id="543" name="Google Shape;5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800" y="152400"/>
            <a:ext cx="342167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Références:</a:t>
            </a:r>
            <a:endParaRPr/>
          </a:p>
        </p:txBody>
      </p:sp>
      <p:sp>
        <p:nvSpPr>
          <p:cNvPr id="549" name="Google Shape;549;p5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https://sites.google.com/a/lisa.iro.umontreal.ca/lisainfo/getting-started/welcome/tutorials-kick-off-meeting/tutorials-2015/git_github_tutorial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https://learngitbranching.js.org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http://git-school.github.io/visualizing-git/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https://git-scm.com/docs/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http://rogerdudler.github.io/git-guide/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https://www.slideshare.net/anuragupadhaya/git-101-for-beginners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https://github.com/jlord/git-it-electron#what-to-install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