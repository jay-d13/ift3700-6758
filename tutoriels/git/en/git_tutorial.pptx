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embeddedFontLst>
    <p:embeddedFont>
      <p:font typeface="Old Standard TT"/>
      <p:regular r:id="rId37"/>
      <p:bold r:id="rId38"/>
      <p: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OldStandardTT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OldStandardTT-italic.fntdata"/><Relationship Id="rId16" Type="http://schemas.openxmlformats.org/officeDocument/2006/relationships/slide" Target="slides/slide12.xml"/><Relationship Id="rId38" Type="http://schemas.openxmlformats.org/officeDocument/2006/relationships/font" Target="fonts/OldStandardTT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 repo on github, show the license and clone it.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AUTOLAYOUT_1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3"/>
            <a:ext cx="91440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ctrTitle"/>
          </p:nvPr>
        </p:nvSpPr>
        <p:spPr>
          <a:xfrm>
            <a:off x="3868225" y="1416600"/>
            <a:ext cx="44826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AUTOLAYOUT_7">
    <p:bg>
      <p:bgPr>
        <a:solidFill>
          <a:srgbClr val="37474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0" y="0"/>
            <a:ext cx="4568400" cy="5143500"/>
          </a:xfrm>
          <a:prstGeom prst="rect">
            <a:avLst/>
          </a:pr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6795047" y="584570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6795047" y="4415195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5"/>
          <p:cNvCxnSpPr/>
          <p:nvPr/>
        </p:nvCxnSpPr>
        <p:spPr>
          <a:xfrm>
            <a:off x="4895600" y="656926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5"/>
          <p:cNvCxnSpPr/>
          <p:nvPr/>
        </p:nvCxnSpPr>
        <p:spPr>
          <a:xfrm>
            <a:off x="4895600" y="4487700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AUTOLAYOUT_16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0" y="0"/>
            <a:ext cx="4583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3750" y="554850"/>
            <a:ext cx="3855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947374" y="554850"/>
            <a:ext cx="3855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AUTOLAYOUT_1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2530550" y="1194000"/>
            <a:ext cx="6303300" cy="113400"/>
          </a:xfrm>
          <a:prstGeom prst="rect">
            <a:avLst/>
          </a:prstGeom>
          <a:solidFill>
            <a:srgbClr val="FFFFFF">
              <a:alpha val="3725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307875" y="1194000"/>
            <a:ext cx="2024100" cy="11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07875" y="1444550"/>
            <a:ext cx="2024100" cy="29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2530550" y="1444550"/>
            <a:ext cx="63033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AUTOLAYOUT_9">
    <p:bg>
      <p:bgPr>
        <a:solidFill>
          <a:srgbClr val="37474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0" y="0"/>
            <a:ext cx="4568400" cy="5143500"/>
          </a:xfrm>
          <a:prstGeom prst="rect">
            <a:avLst/>
          </a:pr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795047" y="584570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795047" y="4415195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8"/>
          <p:cNvCxnSpPr/>
          <p:nvPr/>
        </p:nvCxnSpPr>
        <p:spPr>
          <a:xfrm>
            <a:off x="4895600" y="656926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8"/>
          <p:cNvCxnSpPr/>
          <p:nvPr/>
        </p:nvCxnSpPr>
        <p:spPr>
          <a:xfrm>
            <a:off x="4895600" y="4487700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8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AUTOLAYOUT_18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0" y="4665575"/>
            <a:ext cx="9144000" cy="47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349300" y="334525"/>
            <a:ext cx="7407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49300" y="1147425"/>
            <a:ext cx="7407000" cy="3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15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5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b="0" i="0" sz="18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xkcd.com/1597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sites.google.com/a/lisa.iro.umontreal.ca/lisainfo/getting-started/welcome/tutorials-kick-off-meeting/tutorials-2015/git_github_tutorial" TargetMode="External"/><Relationship Id="rId4" Type="http://schemas.openxmlformats.org/officeDocument/2006/relationships/hyperlink" Target="https://learngitbranching.js.org" TargetMode="External"/><Relationship Id="rId9" Type="http://schemas.openxmlformats.org/officeDocument/2006/relationships/hyperlink" Target="https://github.com/jlord/git-it-electron#what-to-install" TargetMode="External"/><Relationship Id="rId5" Type="http://schemas.openxmlformats.org/officeDocument/2006/relationships/hyperlink" Target="http://git-school.github.io/visualizing-git/" TargetMode="External"/><Relationship Id="rId6" Type="http://schemas.openxmlformats.org/officeDocument/2006/relationships/hyperlink" Target="https://git-scm.com/docs/" TargetMode="External"/><Relationship Id="rId7" Type="http://schemas.openxmlformats.org/officeDocument/2006/relationships/hyperlink" Target="http://rogerdudler.github.io/git-guide/" TargetMode="External"/><Relationship Id="rId8" Type="http://schemas.openxmlformats.org/officeDocument/2006/relationships/hyperlink" Target="https://www.slideshare.net/anuragupadhaya/git-101-for-beginn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A Tutorial on Git and Github</a:t>
            </a:r>
            <a:endParaRPr/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By Reyhane Askari and Arnaud Bergeron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250" y="1"/>
            <a:ext cx="3433749" cy="17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2262025" y="83500"/>
            <a:ext cx="3716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Table of contents: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2916275" y="1294575"/>
            <a:ext cx="5881200" cy="29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Version control systems and git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Git Basics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Branch Management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Git Merge, Update and Rebase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Git Conflicts and How to Resolve them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Interaction with Remote Repos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Git Stash 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Some Useful Tips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b="0" i="0" lang="en" sz="14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Git cheat sheet</a:t>
            </a:r>
            <a:endParaRPr b="0" i="0" sz="1400" u="none" cap="none" strike="noStrike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36475" y="407400"/>
            <a:ext cx="3435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400"/>
              <a:t>Version Control System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4750" y="57150"/>
            <a:ext cx="3345587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5585938" y="482937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https://xkcd.com/1597/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466725" y="3462350"/>
            <a:ext cx="838200" cy="395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1"/>
          <p:cNvSpPr txBox="1"/>
          <p:nvPr>
            <p:ph idx="4294967295" type="body"/>
          </p:nvPr>
        </p:nvSpPr>
        <p:spPr>
          <a:xfrm>
            <a:off x="322375" y="1179175"/>
            <a:ext cx="3463500" cy="3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b="1" lang="en" sz="1800">
                <a:solidFill>
                  <a:schemeClr val="lt2"/>
                </a:solidFill>
              </a:rPr>
              <a:t>Manage multiple versions of your source code.</a:t>
            </a:r>
            <a:endParaRPr b="1"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b="1" lang="en" sz="1800">
                <a:solidFill>
                  <a:schemeClr val="lt2"/>
                </a:solidFill>
              </a:rPr>
              <a:t>Great way to work as a team where you work concurrently.</a:t>
            </a:r>
            <a:endParaRPr b="1"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800"/>
              <a:buChar char="●"/>
            </a:pPr>
            <a:r>
              <a:rPr b="1" lang="en" sz="1800">
                <a:solidFill>
                  <a:schemeClr val="lt2"/>
                </a:solidFill>
              </a:rPr>
              <a:t>Go back and forth between the versions of your code.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245850" y="167050"/>
            <a:ext cx="20259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Git Basics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702625" y="1145400"/>
            <a:ext cx="41313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clone /url/to/repository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config user.name &lt;username&gt;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config user.email &lt;email&gt;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git add &lt;filename&gt;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●"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git diff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 &lt;filename&gt; -p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Remote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Staging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Working Copy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Local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30" name="Google Shape;130;p22"/>
          <p:cNvCxnSpPr>
            <a:stCxn id="129" idx="1"/>
            <a:endCxn id="127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31" name="Google Shape;131;p22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2" name="Google Shape;132;p22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4" name="Google Shape;134;p22"/>
          <p:cNvCxnSpPr>
            <a:stCxn id="129" idx="3"/>
            <a:endCxn id="128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" name="Google Shape;135;p22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6" name="Google Shape;136;p22"/>
          <p:cNvCxnSpPr>
            <a:stCxn id="126" idx="1"/>
            <a:endCxn id="129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7" name="Google Shape;137;p22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8" name="Google Shape;138;p22"/>
          <p:cNvCxnSpPr>
            <a:stCxn id="126" idx="3"/>
            <a:endCxn id="128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22"/>
          <p:cNvSpPr txBox="1"/>
          <p:nvPr/>
        </p:nvSpPr>
        <p:spPr>
          <a:xfrm>
            <a:off x="3127838" y="2110600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Pull/clone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0" name="Google Shape;140;p22"/>
          <p:cNvCxnSpPr>
            <a:stCxn id="126" idx="2"/>
            <a:endCxn id="129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22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4891175" y="11454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"Commit message"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log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push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pull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1245850" y="167050"/>
            <a:ext cx="20259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Git Basics</a:t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Remote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Staging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Working Copy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Local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52" name="Google Shape;152;p23"/>
          <p:cNvCxnSpPr>
            <a:stCxn id="151" idx="1"/>
            <a:endCxn id="149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54" name="Google Shape;154;p23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6" name="Google Shape;156;p23"/>
          <p:cNvCxnSpPr>
            <a:stCxn id="151" idx="3"/>
            <a:endCxn id="150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23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8" name="Google Shape;158;p23"/>
          <p:cNvCxnSpPr>
            <a:stCxn id="148" idx="1"/>
            <a:endCxn id="151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59" name="Google Shape;159;p23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0" name="Google Shape;160;p23"/>
          <p:cNvCxnSpPr>
            <a:stCxn id="148" idx="3"/>
            <a:endCxn id="150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23"/>
          <p:cNvSpPr txBox="1"/>
          <p:nvPr/>
        </p:nvSpPr>
        <p:spPr>
          <a:xfrm>
            <a:off x="3127838" y="2110600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Pull/clone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2" name="Google Shape;162;p23"/>
          <p:cNvCxnSpPr>
            <a:stCxn id="148" idx="2"/>
            <a:endCxn id="151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23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/>
              <a:t>The full project code and history is called a </a:t>
            </a:r>
            <a:r>
              <a:rPr lang="en" sz="1800">
                <a:solidFill>
                  <a:schemeClr val="accent5"/>
                </a:solidFill>
              </a:rPr>
              <a:t>repository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/>
              <a:t>A </a:t>
            </a:r>
            <a:r>
              <a:rPr lang="en" sz="1800">
                <a:solidFill>
                  <a:schemeClr val="accent5"/>
                </a:solidFill>
              </a:rPr>
              <a:t>commit</a:t>
            </a:r>
            <a:r>
              <a:rPr lang="en" sz="1800"/>
              <a:t> is a snapshot of your code at different stages of the project.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/>
              <a:t>Also, a </a:t>
            </a:r>
            <a:r>
              <a:rPr lang="en" sz="1800">
                <a:solidFill>
                  <a:schemeClr val="accent3"/>
                </a:solidFill>
              </a:rPr>
              <a:t>branch</a:t>
            </a:r>
            <a:r>
              <a:rPr lang="en" sz="1800"/>
              <a:t> is a pointer to a commit that you can change.</a:t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24"/>
          <p:cNvCxnSpPr>
            <a:stCxn id="170" idx="6"/>
            <a:endCxn id="171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4" name="Google Shape;174;p24"/>
          <p:cNvCxnSpPr>
            <a:stCxn id="171" idx="6"/>
            <a:endCxn id="172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5" name="Google Shape;175;p24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24"/>
          <p:cNvCxnSpPr>
            <a:stCxn id="175" idx="2"/>
            <a:endCxn id="172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/>
              <a:t>Initial State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25"/>
          <p:cNvCxnSpPr>
            <a:stCxn id="183" idx="6"/>
            <a:endCxn id="184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7" name="Google Shape;187;p25"/>
          <p:cNvCxnSpPr>
            <a:stCxn id="184" idx="6"/>
            <a:endCxn id="185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8" name="Google Shape;188;p25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25"/>
          <p:cNvCxnSpPr>
            <a:stCxn id="188" idx="2"/>
            <a:endCxn id="185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Create a new branch: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branch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"/>
          <p:cNvCxnSpPr>
            <a:stCxn id="196" idx="6"/>
            <a:endCxn id="197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0" name="Google Shape;200;p26"/>
          <p:cNvCxnSpPr>
            <a:stCxn id="197" idx="6"/>
            <a:endCxn id="198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1" name="Google Shape;201;p26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26"/>
          <p:cNvCxnSpPr>
            <a:stCxn id="201" idx="2"/>
            <a:endCxn id="198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26"/>
          <p:cNvSpPr txBox="1"/>
          <p:nvPr/>
        </p:nvSpPr>
        <p:spPr>
          <a:xfrm>
            <a:off x="3333775" y="3097950"/>
            <a:ext cx="10227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new_branch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26"/>
          <p:cNvCxnSpPr>
            <a:stCxn id="203" idx="0"/>
            <a:endCxn id="198" idx="4"/>
          </p:cNvCxnSpPr>
          <p:nvPr/>
        </p:nvCxnSpPr>
        <p:spPr>
          <a:xfrm flipH="1" rot="10800000">
            <a:off x="3845125" y="2676150"/>
            <a:ext cx="263400" cy="42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Create a new branch: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branch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Move between branches: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27"/>
          <p:cNvCxnSpPr>
            <a:stCxn id="211" idx="6"/>
            <a:endCxn id="212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5" name="Google Shape;215;p27"/>
          <p:cNvCxnSpPr>
            <a:stCxn id="212" idx="6"/>
            <a:endCxn id="213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6" name="Google Shape;216;p27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7"/>
          <p:cNvCxnSpPr>
            <a:stCxn id="216" idx="2"/>
            <a:endCxn id="213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27"/>
          <p:cNvSpPr txBox="1"/>
          <p:nvPr/>
        </p:nvSpPr>
        <p:spPr>
          <a:xfrm>
            <a:off x="3333775" y="3097950"/>
            <a:ext cx="10227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new_branch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7"/>
          <p:cNvCxnSpPr>
            <a:stCxn id="218" idx="0"/>
            <a:endCxn id="213" idx="4"/>
          </p:cNvCxnSpPr>
          <p:nvPr/>
        </p:nvCxnSpPr>
        <p:spPr>
          <a:xfrm flipH="1" rot="10800000">
            <a:off x="3845125" y="2676150"/>
            <a:ext cx="263400" cy="42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Create a new branch: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branch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Move between branches: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a new branch and check it out: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8"/>
          <p:cNvCxnSpPr>
            <a:stCxn id="226" idx="6"/>
            <a:endCxn id="227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0" name="Google Shape;230;p28"/>
          <p:cNvCxnSpPr>
            <a:stCxn id="227" idx="6"/>
            <a:endCxn id="228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1" name="Google Shape;231;p28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28"/>
          <p:cNvCxnSpPr>
            <a:stCxn id="231" idx="2"/>
            <a:endCxn id="228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28"/>
          <p:cNvSpPr txBox="1"/>
          <p:nvPr/>
        </p:nvSpPr>
        <p:spPr>
          <a:xfrm>
            <a:off x="3333775" y="3097950"/>
            <a:ext cx="10227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new_branch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28"/>
          <p:cNvCxnSpPr>
            <a:stCxn id="233" idx="0"/>
            <a:endCxn id="228" idx="4"/>
          </p:cNvCxnSpPr>
          <p:nvPr/>
        </p:nvCxnSpPr>
        <p:spPr>
          <a:xfrm flipH="1" rot="10800000">
            <a:off x="3845125" y="2676150"/>
            <a:ext cx="263400" cy="42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Create a new branch: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branch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Move between branches: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Create a new branch and check it out: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Delete a branch: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branch -d new_branch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29"/>
          <p:cNvCxnSpPr>
            <a:stCxn id="241" idx="6"/>
            <a:endCxn id="242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5" name="Google Shape;245;p29"/>
          <p:cNvCxnSpPr>
            <a:stCxn id="242" idx="6"/>
            <a:endCxn id="243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6" name="Google Shape;246;p29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9"/>
          <p:cNvCxnSpPr>
            <a:stCxn id="246" idx="2"/>
            <a:endCxn id="243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30"/>
          <p:cNvCxnSpPr>
            <a:stCxn id="254" idx="6"/>
            <a:endCxn id="255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8" name="Google Shape;258;p30"/>
          <p:cNvCxnSpPr>
            <a:stCxn id="255" idx="6"/>
            <a:endCxn id="256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9" name="Google Shape;259;p30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30"/>
          <p:cNvCxnSpPr>
            <a:stCxn id="259" idx="2"/>
            <a:endCxn id="256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30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30"/>
          <p:cNvCxnSpPr>
            <a:stCxn id="261" idx="0"/>
            <a:endCxn id="256" idx="4"/>
          </p:cNvCxnSpPr>
          <p:nvPr/>
        </p:nvCxnSpPr>
        <p:spPr>
          <a:xfrm flipH="1" rot="10800000">
            <a:off x="1816875" y="2676000"/>
            <a:ext cx="3285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Add some code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“Cool feature”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31"/>
          <p:cNvCxnSpPr>
            <a:stCxn id="269" idx="6"/>
            <a:endCxn id="270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3" name="Google Shape;273;p31"/>
          <p:cNvCxnSpPr>
            <a:stCxn id="270" idx="6"/>
            <a:endCxn id="271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4" name="Google Shape;274;p31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31"/>
          <p:cNvCxnSpPr>
            <a:stCxn id="274" idx="2"/>
            <a:endCxn id="271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" name="Google Shape;276;p31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31"/>
          <p:cNvCxnSpPr>
            <a:stCxn id="276" idx="0"/>
            <a:endCxn id="278" idx="4"/>
          </p:cNvCxnSpPr>
          <p:nvPr/>
        </p:nvCxnSpPr>
        <p:spPr>
          <a:xfrm flipH="1" rot="10800000">
            <a:off x="1816875" y="2676000"/>
            <a:ext cx="10614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31"/>
          <p:cNvSpPr/>
          <p:nvPr/>
        </p:nvSpPr>
        <p:spPr>
          <a:xfrm>
            <a:off x="2739550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1"/>
          <p:cNvCxnSpPr>
            <a:stCxn id="271" idx="6"/>
            <a:endCxn id="278" idx="2"/>
          </p:cNvCxnSpPr>
          <p:nvPr/>
        </p:nvCxnSpPr>
        <p:spPr>
          <a:xfrm>
            <a:off x="22840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Add some code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“Cool feature”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master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2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32"/>
          <p:cNvCxnSpPr>
            <a:stCxn id="286" idx="6"/>
            <a:endCxn id="287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0" name="Google Shape;290;p32"/>
          <p:cNvCxnSpPr>
            <a:stCxn id="287" idx="6"/>
            <a:endCxn id="288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1" name="Google Shape;291;p32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32"/>
          <p:cNvCxnSpPr>
            <a:stCxn id="291" idx="2"/>
            <a:endCxn id="288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32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32"/>
          <p:cNvCxnSpPr>
            <a:stCxn id="293" idx="0"/>
            <a:endCxn id="295" idx="4"/>
          </p:cNvCxnSpPr>
          <p:nvPr/>
        </p:nvCxnSpPr>
        <p:spPr>
          <a:xfrm flipH="1" rot="10800000">
            <a:off x="1816875" y="2676000"/>
            <a:ext cx="10614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" name="Google Shape;295;p32"/>
          <p:cNvSpPr/>
          <p:nvPr/>
        </p:nvSpPr>
        <p:spPr>
          <a:xfrm>
            <a:off x="2739550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32"/>
          <p:cNvCxnSpPr>
            <a:stCxn id="288" idx="6"/>
            <a:endCxn id="295" idx="2"/>
          </p:cNvCxnSpPr>
          <p:nvPr/>
        </p:nvCxnSpPr>
        <p:spPr>
          <a:xfrm>
            <a:off x="22840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302" name="Google Shape;302;p33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Add some code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“Cool feature”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master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feature_2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33"/>
          <p:cNvCxnSpPr>
            <a:stCxn id="303" idx="6"/>
            <a:endCxn id="304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p33"/>
          <p:cNvCxnSpPr>
            <a:stCxn id="304" idx="6"/>
            <a:endCxn id="305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8" name="Google Shape;308;p33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33"/>
          <p:cNvCxnSpPr>
            <a:stCxn id="308" idx="2"/>
            <a:endCxn id="305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33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33"/>
          <p:cNvCxnSpPr>
            <a:stCxn id="310" idx="0"/>
            <a:endCxn id="312" idx="4"/>
          </p:cNvCxnSpPr>
          <p:nvPr/>
        </p:nvCxnSpPr>
        <p:spPr>
          <a:xfrm flipH="1" rot="10800000">
            <a:off x="1816875" y="2676000"/>
            <a:ext cx="10614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33"/>
          <p:cNvSpPr/>
          <p:nvPr/>
        </p:nvSpPr>
        <p:spPr>
          <a:xfrm>
            <a:off x="2739550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33"/>
          <p:cNvCxnSpPr>
            <a:stCxn id="305" idx="6"/>
            <a:endCxn id="312" idx="2"/>
          </p:cNvCxnSpPr>
          <p:nvPr/>
        </p:nvCxnSpPr>
        <p:spPr>
          <a:xfrm>
            <a:off x="22840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4" name="Google Shape;314;p33"/>
          <p:cNvSpPr txBox="1"/>
          <p:nvPr/>
        </p:nvSpPr>
        <p:spPr>
          <a:xfrm>
            <a:off x="2475250" y="1730700"/>
            <a:ext cx="8058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feature_2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33"/>
          <p:cNvCxnSpPr>
            <a:stCxn id="314" idx="2"/>
            <a:endCxn id="305" idx="0"/>
          </p:cNvCxnSpPr>
          <p:nvPr/>
        </p:nvCxnSpPr>
        <p:spPr>
          <a:xfrm flipH="1">
            <a:off x="2145550" y="1961100"/>
            <a:ext cx="732600" cy="43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Branch Management</a:t>
            </a:r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Add some code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“Cool feature”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master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feature_2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Add some more code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“Second feature”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34"/>
          <p:cNvCxnSpPr>
            <a:stCxn id="322" idx="6"/>
            <a:endCxn id="323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6" name="Google Shape;326;p34"/>
          <p:cNvCxnSpPr>
            <a:stCxn id="323" idx="6"/>
            <a:endCxn id="324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7" name="Google Shape;327;p34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34"/>
          <p:cNvCxnSpPr>
            <a:stCxn id="327" idx="2"/>
            <a:endCxn id="324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p34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34"/>
          <p:cNvCxnSpPr>
            <a:stCxn id="329" idx="0"/>
            <a:endCxn id="331" idx="4"/>
          </p:cNvCxnSpPr>
          <p:nvPr/>
        </p:nvCxnSpPr>
        <p:spPr>
          <a:xfrm flipH="1" rot="10800000">
            <a:off x="1816875" y="2953200"/>
            <a:ext cx="1037400" cy="6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34"/>
          <p:cNvSpPr/>
          <p:nvPr/>
        </p:nvSpPr>
        <p:spPr>
          <a:xfrm>
            <a:off x="2715725" y="26760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34"/>
          <p:cNvCxnSpPr>
            <a:stCxn id="324" idx="6"/>
            <a:endCxn id="331" idx="2"/>
          </p:cNvCxnSpPr>
          <p:nvPr/>
        </p:nvCxnSpPr>
        <p:spPr>
          <a:xfrm>
            <a:off x="2284038" y="2537400"/>
            <a:ext cx="431700" cy="277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3" name="Google Shape;333;p34"/>
          <p:cNvSpPr txBox="1"/>
          <p:nvPr/>
        </p:nvSpPr>
        <p:spPr>
          <a:xfrm>
            <a:off x="2475250" y="1730700"/>
            <a:ext cx="8058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feature_2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34"/>
          <p:cNvCxnSpPr>
            <a:stCxn id="333" idx="2"/>
            <a:endCxn id="335" idx="0"/>
          </p:cNvCxnSpPr>
          <p:nvPr/>
        </p:nvCxnSpPr>
        <p:spPr>
          <a:xfrm flipH="1">
            <a:off x="2854450" y="1961100"/>
            <a:ext cx="23700" cy="160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34"/>
          <p:cNvSpPr/>
          <p:nvPr/>
        </p:nvSpPr>
        <p:spPr>
          <a:xfrm>
            <a:off x="2715725" y="21216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34"/>
          <p:cNvCxnSpPr>
            <a:stCxn id="324" idx="6"/>
            <a:endCxn id="335" idx="2"/>
          </p:cNvCxnSpPr>
          <p:nvPr/>
        </p:nvCxnSpPr>
        <p:spPr>
          <a:xfrm flipH="1" rot="10800000">
            <a:off x="2284038" y="2260200"/>
            <a:ext cx="431700" cy="277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Merge</a:t>
            </a:r>
            <a:endParaRPr/>
          </a:p>
        </p:txBody>
      </p:sp>
      <p:sp>
        <p:nvSpPr>
          <p:cNvPr id="342" name="Google Shape;342;p35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You’ve just made some changes but someone else also did.  What to do?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5"/>
          <p:cNvCxnSpPr>
            <a:stCxn id="343" idx="6"/>
            <a:endCxn id="344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7" name="Google Shape;347;p35"/>
          <p:cNvCxnSpPr>
            <a:stCxn id="344" idx="6"/>
            <a:endCxn id="345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8" name="Google Shape;348;p35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35"/>
          <p:cNvCxnSpPr>
            <a:stCxn id="348" idx="2"/>
            <a:endCxn id="350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35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35"/>
          <p:cNvCxnSpPr>
            <a:stCxn id="351" idx="0"/>
            <a:endCxn id="353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35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5"/>
          <p:cNvCxnSpPr>
            <a:stCxn id="345" idx="6"/>
            <a:endCxn id="353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0" name="Google Shape;350;p35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35"/>
          <p:cNvCxnSpPr>
            <a:stCxn id="345" idx="6"/>
            <a:endCxn id="350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Merge</a:t>
            </a:r>
            <a:endParaRPr/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You’ve just made some changes but someone else also did.  What to do?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merge master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2" name="Google Shape;362;p36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36"/>
          <p:cNvCxnSpPr>
            <a:stCxn id="362" idx="6"/>
            <a:endCxn id="363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6" name="Google Shape;366;p36"/>
          <p:cNvCxnSpPr>
            <a:stCxn id="363" idx="6"/>
            <a:endCxn id="364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7" name="Google Shape;367;p36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36"/>
          <p:cNvCxnSpPr>
            <a:stCxn id="367" idx="2"/>
            <a:endCxn id="369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36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36"/>
          <p:cNvCxnSpPr>
            <a:stCxn id="370" idx="0"/>
            <a:endCxn id="372" idx="4"/>
          </p:cNvCxnSpPr>
          <p:nvPr/>
        </p:nvCxnSpPr>
        <p:spPr>
          <a:xfrm flipH="1" rot="10800000">
            <a:off x="2840825" y="3276750"/>
            <a:ext cx="6801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36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36"/>
          <p:cNvCxnSpPr>
            <a:stCxn id="364" idx="6"/>
            <a:endCxn id="373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9" name="Google Shape;369;p36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36"/>
          <p:cNvCxnSpPr>
            <a:stCxn id="364" idx="6"/>
            <a:endCxn id="369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2" name="Google Shape;372;p36"/>
          <p:cNvSpPr/>
          <p:nvPr/>
        </p:nvSpPr>
        <p:spPr>
          <a:xfrm>
            <a:off x="3382450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36"/>
          <p:cNvCxnSpPr>
            <a:stCxn id="373" idx="6"/>
            <a:endCxn id="372" idx="2"/>
          </p:cNvCxnSpPr>
          <p:nvPr/>
        </p:nvCxnSpPr>
        <p:spPr>
          <a:xfrm>
            <a:off x="3050075" y="3138000"/>
            <a:ext cx="332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7" name="Google Shape;377;p36"/>
          <p:cNvCxnSpPr>
            <a:stCxn id="369" idx="6"/>
            <a:endCxn id="372" idx="0"/>
          </p:cNvCxnSpPr>
          <p:nvPr/>
        </p:nvCxnSpPr>
        <p:spPr>
          <a:xfrm>
            <a:off x="3092925" y="2537400"/>
            <a:ext cx="428100" cy="462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Merge</a:t>
            </a:r>
            <a:endParaRPr/>
          </a:p>
        </p:txBody>
      </p:sp>
      <p:sp>
        <p:nvSpPr>
          <p:cNvPr id="383" name="Google Shape;383;p37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You’ve just made some changes but someone else also did.  What to do?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master</a:t>
            </a:r>
            <a:endParaRPr/>
          </a:p>
        </p:txBody>
      </p:sp>
      <p:sp>
        <p:nvSpPr>
          <p:cNvPr id="384" name="Google Shape;384;p37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7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37"/>
          <p:cNvCxnSpPr>
            <a:stCxn id="384" idx="6"/>
            <a:endCxn id="385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88" name="Google Shape;388;p37"/>
          <p:cNvCxnSpPr>
            <a:stCxn id="385" idx="6"/>
            <a:endCxn id="386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9" name="Google Shape;389;p37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37"/>
          <p:cNvCxnSpPr>
            <a:stCxn id="389" idx="2"/>
            <a:endCxn id="391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2" name="Google Shape;392;p37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37"/>
          <p:cNvCxnSpPr>
            <a:stCxn id="392" idx="0"/>
            <a:endCxn id="394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37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37"/>
          <p:cNvCxnSpPr>
            <a:stCxn id="386" idx="6"/>
            <a:endCxn id="394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1" name="Google Shape;391;p37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37"/>
          <p:cNvCxnSpPr>
            <a:stCxn id="386" idx="6"/>
            <a:endCxn id="391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Merge</a:t>
            </a:r>
            <a:endParaRPr/>
          </a:p>
        </p:txBody>
      </p:sp>
      <p:sp>
        <p:nvSpPr>
          <p:cNvPr id="402" name="Google Shape;402;p38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You’ve just made some changes but someone else also did.  What to do?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master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merge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38"/>
          <p:cNvCxnSpPr>
            <a:stCxn id="403" idx="6"/>
            <a:endCxn id="404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7" name="Google Shape;407;p38"/>
          <p:cNvCxnSpPr>
            <a:stCxn id="404" idx="6"/>
            <a:endCxn id="405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08" name="Google Shape;408;p38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38"/>
          <p:cNvCxnSpPr>
            <a:stCxn id="408" idx="2"/>
            <a:endCxn id="410" idx="0"/>
          </p:cNvCxnSpPr>
          <p:nvPr/>
        </p:nvCxnSpPr>
        <p:spPr>
          <a:xfrm>
            <a:off x="2689725" y="1891800"/>
            <a:ext cx="1045500" cy="50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38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38"/>
          <p:cNvCxnSpPr>
            <a:stCxn id="411" idx="0"/>
            <a:endCxn id="413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3" name="Google Shape;413;p38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8"/>
          <p:cNvCxnSpPr>
            <a:stCxn id="405" idx="6"/>
            <a:endCxn id="413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5" name="Google Shape;415;p38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38"/>
          <p:cNvCxnSpPr>
            <a:stCxn id="405" idx="6"/>
            <a:endCxn id="415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0" name="Google Shape;410;p38"/>
          <p:cNvSpPr/>
          <p:nvPr/>
        </p:nvSpPr>
        <p:spPr>
          <a:xfrm>
            <a:off x="35966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38"/>
          <p:cNvCxnSpPr>
            <a:stCxn id="413" idx="6"/>
            <a:endCxn id="410" idx="4"/>
          </p:cNvCxnSpPr>
          <p:nvPr/>
        </p:nvCxnSpPr>
        <p:spPr>
          <a:xfrm flipH="1" rot="10800000">
            <a:off x="3050075" y="2676000"/>
            <a:ext cx="685200" cy="462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8" name="Google Shape;418;p38"/>
          <p:cNvCxnSpPr>
            <a:stCxn id="415" idx="6"/>
            <a:endCxn id="410" idx="2"/>
          </p:cNvCxnSpPr>
          <p:nvPr/>
        </p:nvCxnSpPr>
        <p:spPr>
          <a:xfrm>
            <a:off x="3092925" y="2537400"/>
            <a:ext cx="503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Rebase</a:t>
            </a:r>
            <a:endParaRPr/>
          </a:p>
        </p:txBody>
      </p:sp>
      <p:sp>
        <p:nvSpPr>
          <p:cNvPr id="424" name="Google Shape;424;p39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You’ve just made some changes but someone else also did.  What to do?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5" name="Google Shape;425;p39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9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39"/>
          <p:cNvCxnSpPr>
            <a:stCxn id="425" idx="6"/>
            <a:endCxn id="426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9" name="Google Shape;429;p39"/>
          <p:cNvCxnSpPr>
            <a:stCxn id="426" idx="6"/>
            <a:endCxn id="427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0" name="Google Shape;430;p39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39"/>
          <p:cNvCxnSpPr>
            <a:stCxn id="430" idx="2"/>
            <a:endCxn id="432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3" name="Google Shape;433;p39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39"/>
          <p:cNvCxnSpPr>
            <a:stCxn id="433" idx="0"/>
            <a:endCxn id="435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5" name="Google Shape;435;p39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39"/>
          <p:cNvCxnSpPr>
            <a:stCxn id="427" idx="6"/>
            <a:endCxn id="435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2" name="Google Shape;432;p39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39"/>
          <p:cNvCxnSpPr>
            <a:stCxn id="427" idx="6"/>
            <a:endCxn id="432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Rebase</a:t>
            </a:r>
            <a:endParaRPr/>
          </a:p>
        </p:txBody>
      </p:sp>
      <p:sp>
        <p:nvSpPr>
          <p:cNvPr id="443" name="Google Shape;443;p40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You’ve just made some changes but someone else also did.  What to do?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rebase master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40"/>
          <p:cNvCxnSpPr>
            <a:stCxn id="444" idx="6"/>
            <a:endCxn id="445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8" name="Google Shape;448;p40"/>
          <p:cNvCxnSpPr>
            <a:stCxn id="445" idx="6"/>
            <a:endCxn id="446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9" name="Google Shape;449;p40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40"/>
          <p:cNvCxnSpPr>
            <a:stCxn id="449" idx="2"/>
            <a:endCxn id="451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40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40"/>
          <p:cNvCxnSpPr>
            <a:stCxn id="452" idx="0"/>
            <a:endCxn id="454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4" name="Google Shape;454;p40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40"/>
          <p:cNvCxnSpPr>
            <a:stCxn id="451" idx="4"/>
            <a:endCxn id="454" idx="0"/>
          </p:cNvCxnSpPr>
          <p:nvPr/>
        </p:nvCxnSpPr>
        <p:spPr>
          <a:xfrm flipH="1">
            <a:off x="2911425" y="2676000"/>
            <a:ext cx="42900" cy="323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1" name="Google Shape;451;p40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40"/>
          <p:cNvCxnSpPr>
            <a:stCxn id="446" idx="6"/>
            <a:endCxn id="451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/>
          <p:nvPr>
            <p:ph idx="1" type="body"/>
          </p:nvPr>
        </p:nvSpPr>
        <p:spPr>
          <a:xfrm>
            <a:off x="413450" y="1444550"/>
            <a:ext cx="84204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Find which files have conflicts using: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sz="1600"/>
          </a:p>
        </p:txBody>
      </p:sp>
      <p:pic>
        <p:nvPicPr>
          <p:cNvPr id="462" name="Google Shape;4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325" y="2574775"/>
            <a:ext cx="67627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 txBox="1"/>
          <p:nvPr>
            <p:ph type="title"/>
          </p:nvPr>
        </p:nvSpPr>
        <p:spPr>
          <a:xfrm>
            <a:off x="307875" y="134675"/>
            <a:ext cx="8420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3000"/>
              <a:t>How to Resolve </a:t>
            </a:r>
            <a:r>
              <a:rPr b="0" lang="en" sz="3000">
                <a:solidFill>
                  <a:schemeClr val="lt1"/>
                </a:solidFill>
              </a:rPr>
              <a:t>Git Conflicts</a:t>
            </a:r>
            <a:r>
              <a:rPr b="0" lang="en" sz="3000"/>
              <a:t>?</a:t>
            </a:r>
            <a:endParaRPr b="0" sz="3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>
            <p:ph idx="1" type="body"/>
          </p:nvPr>
        </p:nvSpPr>
        <p:spPr>
          <a:xfrm>
            <a:off x="413450" y="1444550"/>
            <a:ext cx="84204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Go to that file and find the conflict and choose the line that you want to keep.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sz="1600"/>
          </a:p>
        </p:txBody>
      </p:sp>
      <p:pic>
        <p:nvPicPr>
          <p:cNvPr id="469" name="Google Shape;46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25" y="2460449"/>
            <a:ext cx="8652799" cy="1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2"/>
          <p:cNvSpPr txBox="1"/>
          <p:nvPr>
            <p:ph type="title"/>
          </p:nvPr>
        </p:nvSpPr>
        <p:spPr>
          <a:xfrm>
            <a:off x="307875" y="134675"/>
            <a:ext cx="8420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3000"/>
              <a:t>How to Resolve </a:t>
            </a:r>
            <a:r>
              <a:rPr b="0" lang="en" sz="3000">
                <a:solidFill>
                  <a:schemeClr val="lt1"/>
                </a:solidFill>
              </a:rPr>
              <a:t>Git Conflicts</a:t>
            </a:r>
            <a:r>
              <a:rPr b="0" lang="en" sz="3000"/>
              <a:t>?</a:t>
            </a:r>
            <a:endParaRPr b="0"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3"/>
          <p:cNvSpPr txBox="1"/>
          <p:nvPr>
            <p:ph type="title"/>
          </p:nvPr>
        </p:nvSpPr>
        <p:spPr>
          <a:xfrm>
            <a:off x="307875" y="134675"/>
            <a:ext cx="8420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3000"/>
              <a:t>How to Resolve </a:t>
            </a:r>
            <a:r>
              <a:rPr b="0" lang="en" sz="3000">
                <a:solidFill>
                  <a:schemeClr val="lt1"/>
                </a:solidFill>
              </a:rPr>
              <a:t>Git Conflicts</a:t>
            </a:r>
            <a:r>
              <a:rPr b="0" lang="en" sz="3000"/>
              <a:t>?</a:t>
            </a:r>
            <a:endParaRPr b="0" sz="3000"/>
          </a:p>
        </p:txBody>
      </p:sp>
      <p:sp>
        <p:nvSpPr>
          <p:cNvPr id="476" name="Google Shape;476;p43"/>
          <p:cNvSpPr txBox="1"/>
          <p:nvPr>
            <p:ph idx="1" type="body"/>
          </p:nvPr>
        </p:nvSpPr>
        <p:spPr>
          <a:xfrm>
            <a:off x="413450" y="1444550"/>
            <a:ext cx="8420400" cy="28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Resolve all the conflicts and add them: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git add path/to/files/with/conflicts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Then commit your changes: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Continue to rebase or merge: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git rebase --continue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git merge --continue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Or abort the rebase/merge in case you want to stop applying the changes: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git rebase --abort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○"/>
            </a:pPr>
            <a:r>
              <a:rPr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git merge --abort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>
            <p:ph type="title"/>
          </p:nvPr>
        </p:nvSpPr>
        <p:spPr>
          <a:xfrm>
            <a:off x="680100" y="176350"/>
            <a:ext cx="30732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Git Update</a:t>
            </a:r>
            <a:endParaRPr/>
          </a:p>
        </p:txBody>
      </p:sp>
      <p:sp>
        <p:nvSpPr>
          <p:cNvPr id="482" name="Google Shape;482;p44"/>
          <p:cNvSpPr txBox="1"/>
          <p:nvPr>
            <p:ph idx="1" type="body"/>
          </p:nvPr>
        </p:nvSpPr>
        <p:spPr>
          <a:xfrm>
            <a:off x="4891175" y="1450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Fetch the changes from a repository but do not merge them: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6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git fetch repo/branch</a:t>
            </a:r>
            <a:endParaRPr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Update local repository to the newest commit:</a:t>
            </a:r>
            <a:endParaRPr>
              <a:solidFill>
                <a:schemeClr val="accen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git pull repo/branch</a:t>
            </a:r>
            <a:endParaRPr sz="16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483" name="Google Shape;483;p44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Remote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4" name="Google Shape;484;p44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Staging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5" name="Google Shape;485;p44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Working Copy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6" name="Google Shape;486;p44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Local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487" name="Google Shape;487;p44"/>
          <p:cNvCxnSpPr>
            <a:stCxn id="486" idx="1"/>
            <a:endCxn id="484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88" name="Google Shape;488;p44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89" name="Google Shape;489;p44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0" name="Google Shape;490;p44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1" name="Google Shape;491;p44"/>
          <p:cNvCxnSpPr>
            <a:stCxn id="486" idx="3"/>
            <a:endCxn id="485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2" name="Google Shape;492;p44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3" name="Google Shape;493;p44"/>
          <p:cNvCxnSpPr>
            <a:stCxn id="483" idx="1"/>
            <a:endCxn id="486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94" name="Google Shape;494;p44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5" name="Google Shape;495;p44"/>
          <p:cNvCxnSpPr>
            <a:stCxn id="483" idx="3"/>
            <a:endCxn id="485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6" name="Google Shape;496;p44"/>
          <p:cNvSpPr txBox="1"/>
          <p:nvPr/>
        </p:nvSpPr>
        <p:spPr>
          <a:xfrm>
            <a:off x="3184113" y="2111125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Pull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7" name="Google Shape;497;p44"/>
          <p:cNvCxnSpPr>
            <a:stCxn id="483" idx="2"/>
            <a:endCxn id="486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8" name="Google Shape;498;p44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 txBox="1"/>
          <p:nvPr>
            <p:ph type="title"/>
          </p:nvPr>
        </p:nvSpPr>
        <p:spPr>
          <a:xfrm>
            <a:off x="680100" y="176350"/>
            <a:ext cx="30732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Interaction with remote repos</a:t>
            </a:r>
            <a:endParaRPr/>
          </a:p>
        </p:txBody>
      </p:sp>
      <p:sp>
        <p:nvSpPr>
          <p:cNvPr id="504" name="Google Shape;504;p45"/>
          <p:cNvSpPr txBox="1"/>
          <p:nvPr>
            <p:ph idx="1" type="body"/>
          </p:nvPr>
        </p:nvSpPr>
        <p:spPr>
          <a:xfrm>
            <a:off x="4891175" y="12216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See your remote repos: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     git remote -v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Add a remote repository: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     git remote add [name] [url]</a:t>
            </a:r>
            <a:endParaRPr sz="13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Send the changes from a local repo to a remote repo: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	   git push repo/branch</a:t>
            </a:r>
            <a:endParaRPr sz="13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" sz="1300">
                <a:solidFill>
                  <a:schemeClr val="accent1"/>
                </a:solidFill>
              </a:rPr>
              <a:t>Push and  force the local changes to the remote: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	   git push -f repo/branch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505" name="Google Shape;505;p45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Remote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Staging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7" name="Google Shape;507;p45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Working Copy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8" name="Google Shape;508;p45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Local Repository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509" name="Google Shape;509;p45"/>
          <p:cNvCxnSpPr>
            <a:stCxn id="508" idx="1"/>
            <a:endCxn id="506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10" name="Google Shape;510;p45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11" name="Google Shape;511;p45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2" name="Google Shape;512;p45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3" name="Google Shape;513;p45"/>
          <p:cNvCxnSpPr>
            <a:stCxn id="508" idx="3"/>
            <a:endCxn id="507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4" name="Google Shape;514;p45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5" name="Google Shape;515;p45"/>
          <p:cNvCxnSpPr>
            <a:stCxn id="505" idx="1"/>
            <a:endCxn id="508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16" name="Google Shape;516;p45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7" name="Google Shape;517;p45"/>
          <p:cNvCxnSpPr>
            <a:stCxn id="505" idx="3"/>
            <a:endCxn id="507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8" name="Google Shape;518;p45"/>
          <p:cNvSpPr txBox="1"/>
          <p:nvPr/>
        </p:nvSpPr>
        <p:spPr>
          <a:xfrm>
            <a:off x="3184113" y="2111125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Pull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9" name="Google Shape;519;p45"/>
          <p:cNvCxnSpPr>
            <a:stCxn id="505" idx="2"/>
            <a:endCxn id="508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45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"/>
          <p:cNvSpPr txBox="1"/>
          <p:nvPr>
            <p:ph type="title"/>
          </p:nvPr>
        </p:nvSpPr>
        <p:spPr>
          <a:xfrm>
            <a:off x="0" y="-148000"/>
            <a:ext cx="9144000" cy="11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Workflows for contributing to other repos</a:t>
            </a:r>
            <a:endParaRPr/>
          </a:p>
        </p:txBody>
      </p:sp>
      <p:sp>
        <p:nvSpPr>
          <p:cNvPr id="526" name="Google Shape;526;p46"/>
          <p:cNvSpPr txBox="1"/>
          <p:nvPr>
            <p:ph idx="1" type="body"/>
          </p:nvPr>
        </p:nvSpPr>
        <p:spPr>
          <a:xfrm>
            <a:off x="100" y="1009200"/>
            <a:ext cx="9144000" cy="36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800"/>
          </a:p>
          <a:p>
            <a:pPr indent="-342900" lvl="0" marL="13716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Fork the repo to contribute to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Checkout your forked repo</a:t>
            </a:r>
            <a:endParaRPr sz="1800"/>
          </a:p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Add a remote pointing to the repo to contribute to</a:t>
            </a:r>
            <a:endParaRPr sz="1800"/>
          </a:p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a pull request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/>
          <p:nvPr>
            <p:ph type="title"/>
          </p:nvPr>
        </p:nvSpPr>
        <p:spPr>
          <a:xfrm>
            <a:off x="0" y="0"/>
            <a:ext cx="9144000" cy="100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Git Stash</a:t>
            </a:r>
            <a:endParaRPr/>
          </a:p>
        </p:txBody>
      </p:sp>
      <p:sp>
        <p:nvSpPr>
          <p:cNvPr id="532" name="Google Shape;532;p47"/>
          <p:cNvSpPr txBox="1"/>
          <p:nvPr>
            <p:ph idx="1" type="body"/>
          </p:nvPr>
        </p:nvSpPr>
        <p:spPr>
          <a:xfrm>
            <a:off x="100" y="1009200"/>
            <a:ext cx="9144000" cy="36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If you have unstaged files, and you want to checkout to another branch, you need to save your changes: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git stash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 retrieve the saved changes on that branch: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git stash pop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can see the current stash list: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git stash list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"/>
          <p:cNvSpPr txBox="1"/>
          <p:nvPr>
            <p:ph type="title"/>
          </p:nvPr>
        </p:nvSpPr>
        <p:spPr>
          <a:xfrm>
            <a:off x="311700" y="1091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Some Useful Tips</a:t>
            </a:r>
            <a:endParaRPr/>
          </a:p>
        </p:txBody>
      </p:sp>
      <p:sp>
        <p:nvSpPr>
          <p:cNvPr id="538" name="Google Shape;538;p48"/>
          <p:cNvSpPr txBox="1"/>
          <p:nvPr>
            <p:ph idx="1" type="body"/>
          </p:nvPr>
        </p:nvSpPr>
        <p:spPr>
          <a:xfrm>
            <a:off x="311700" y="758725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Never ever commit to the master, always create a new branch first.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Make the commit messages informative not like: "</a:t>
            </a:r>
            <a:r>
              <a:rPr i="1" lang="en" sz="1400">
                <a:solidFill>
                  <a:srgbClr val="000000"/>
                </a:solidFill>
              </a:rPr>
              <a:t>new changes</a:t>
            </a:r>
            <a:r>
              <a:rPr lang="en" sz="1400">
                <a:solidFill>
                  <a:srgbClr val="000000"/>
                </a:solidFill>
              </a:rPr>
              <a:t>", give a short description like: "</a:t>
            </a:r>
            <a:r>
              <a:rPr i="1" lang="en" sz="1400">
                <a:solidFill>
                  <a:srgbClr val="000000"/>
                </a:solidFill>
              </a:rPr>
              <a:t>changed make_node() to be more readable</a:t>
            </a:r>
            <a:r>
              <a:rPr lang="en" sz="1400">
                <a:solidFill>
                  <a:srgbClr val="000000"/>
                </a:solidFill>
              </a:rPr>
              <a:t>"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Before starting to implement a new feature, always fetch and pull the changes in the remote branch which is often called the upstream.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If you want to revert uncommitted local changes use:</a:t>
            </a:r>
            <a:r>
              <a:rPr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reset --hard</a:t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If you want to go to a specific commit: 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{sha1-code} </a:t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Select one commit and apply it to the active branch: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git cherry-pick 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{sha1-code}</a:t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t-cheat-sheet-large01.png" id="543" name="Google Shape;54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800" y="152400"/>
            <a:ext cx="342167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References:</a:t>
            </a:r>
            <a:endParaRPr/>
          </a:p>
        </p:txBody>
      </p:sp>
      <p:sp>
        <p:nvSpPr>
          <p:cNvPr id="549" name="Google Shape;549;p5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https://sites.google.com/a/lisa.iro.umontreal.ca/lisainfo/getting-started/welcome/tutorials-kick-off-meeting/tutorials-2015/git_github_tutorial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https://learngitbranching.js.org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http://git-school.github.io/visualizing-git/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https://git-scm.com/docs/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http://rogerdudler.github.io/git-guide/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https://www.slideshare.net/anuragupadhaya/git-101-for-beginners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https://github.com/jlord/git-it-electron#what-to-install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